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74fdfac70e4bc5" /><Relationship Type="http://schemas.openxmlformats.org/officeDocument/2006/relationships/extended-properties" Target="/docProps/app.xml" Id="R46f7c78057e04923" /><Relationship Type="http://schemas.openxmlformats.org/officeDocument/2006/relationships/officeDocument" Target="/ppt/presentation.xml" Id="Rc0ac1a64807246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00d5af32d4162"/>
  </p:sldMasterIdLst>
  <p:notesMasterIdLst>
    <p:notesMasterId xmlns:r="http://schemas.openxmlformats.org/officeDocument/2006/relationships" r:id="R3e03ef4ce36a4ad3"/>
  </p:notesMasterIdLst>
  <p:sldIdLst>
    <p:sldId xmlns:r="http://schemas.openxmlformats.org/officeDocument/2006/relationships" id="256" r:id="R04bd16e0484448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e92be3a8a4723" /><Relationship Type="http://schemas.openxmlformats.org/officeDocument/2006/relationships/slideMaster" Target="/ppt/slideMasters/slideMaster1.xml" Id="R1b100d5af32d4162" /><Relationship Type="http://schemas.openxmlformats.org/officeDocument/2006/relationships/notesMaster" Target="/ppt/notesMasters/notesMaster1.xml" Id="R3e03ef4ce36a4ad3" /><Relationship Type="http://schemas.openxmlformats.org/officeDocument/2006/relationships/presProps" Target="/ppt/presProps.xml" Id="Rcd612a5a590444f7" /><Relationship Type="http://schemas.openxmlformats.org/officeDocument/2006/relationships/tableStyles" Target="/ppt/tableStyles.xml" Id="R2561e575c83241cd" /><Relationship Type="http://schemas.openxmlformats.org/officeDocument/2006/relationships/slide" Target="/ppt/slides/slide1.xml" Id="R04bd16e04844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2226841e0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b412f8a4b04e06" /><Relationship Type="http://schemas.openxmlformats.org/officeDocument/2006/relationships/notesMaster" Target="/ppt/notesMasters/notesMaster1.xml" Id="Raf72c1df37c1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8649bc7e4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39c30b1594dbd" /><Relationship Type="http://schemas.openxmlformats.org/officeDocument/2006/relationships/slideLayout" Target="/ppt/slideLayouts/slideLayout1.xml" Id="Rd8f75cbd0d8148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75cbd0d8148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18db16abc4993" /><Relationship Type="http://schemas.openxmlformats.org/officeDocument/2006/relationships/notesSlide" Target="/ppt/notesSlides/notesSlide1.xml" Id="Rd9da6bfb3d8946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00189E2-93DC-4EBA-AAFF-CFDBAA55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13 / 趋势展望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FA90FE07-FF80-4D7F-8EA3-CA52286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EDC6B762-37DF-4468-9C54-04701AD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7E1B9E-5912-41E4-8C65-74E0051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从检索拼凑，到知识编译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E4CC0F-F9B3-4643-94C2-4051C36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把 LLM 的理解能力前置，让知识在摄入时开始沉淀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AF2E6-56CA-4D9B-AF9F-430A2A0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13 / 20</a:t>
            </a:r>
          </a:p>
        </p:txBody>
      </p:sp>
      <p:sp>
        <p:nvSpPr>
          <p:cNvPr id="7" name="retrieve-card">
            <a:extLst xmlns:a="http://schemas.openxmlformats.org/drawingml/2006/main">
              <a:ext uri="{FF2B5EF4-FFF2-40B4-BE49-F238E27FC236}">
                <a16:creationId xmlns:a16="http://schemas.microsoft.com/office/drawing/2014/main" id="{7A69F335-A7A9-4C92-85E6-2299D14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retrieve-card-accent">
            <a:extLst xmlns:a="http://schemas.openxmlformats.org/drawingml/2006/main">
              <a:ext uri="{FF2B5EF4-FFF2-40B4-BE49-F238E27FC236}">
                <a16:creationId xmlns:a16="http://schemas.microsoft.com/office/drawing/2014/main" id="{354DDF02-8C69-45F2-BA0A-CDC650C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9" name="retrieve-card-title">
            <a:extLst xmlns:a="http://schemas.openxmlformats.org/drawingml/2006/main">
              <a:ext uri="{FF2B5EF4-FFF2-40B4-BE49-F238E27FC236}">
                <a16:creationId xmlns:a16="http://schemas.microsoft.com/office/drawing/2014/main" id="{EB0A9C40-919F-4673-BEEC-97902E2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检索 - 拼凑</a:t>
            </a:r>
          </a:p>
        </p:txBody>
      </p:sp>
      <p:sp>
        <p:nvSpPr>
          <p:cNvPr id="10" name="retrieve-card-detail">
            <a:extLst xmlns:a="http://schemas.openxmlformats.org/drawingml/2006/main">
              <a:ext uri="{FF2B5EF4-FFF2-40B4-BE49-F238E27FC236}">
                <a16:creationId xmlns:a16="http://schemas.microsoft.com/office/drawing/2014/main" id="{79BBD72E-FB8E-4FDF-B8E7-9C03911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快速找到 100 篇论文里的相关片段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但很难自动形成连贯框架</a:t>
            </a:r>
          </a:p>
        </p:txBody>
      </p:sp>
      <p:sp>
        <p:nvSpPr>
          <p:cNvPr id="11" name="shift-card">
            <a:extLst xmlns:a="http://schemas.openxmlformats.org/drawingml/2006/main">
              <a:ext uri="{FF2B5EF4-FFF2-40B4-BE49-F238E27FC236}">
                <a16:creationId xmlns:a16="http://schemas.microsoft.com/office/drawing/2014/main" id="{464A680D-EDC0-475F-A96D-4D5F3B6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shift-card-accent">
            <a:extLst xmlns:a="http://schemas.openxmlformats.org/drawingml/2006/main">
              <a:ext uri="{FF2B5EF4-FFF2-40B4-BE49-F238E27FC236}">
                <a16:creationId xmlns:a16="http://schemas.microsoft.com/office/drawing/2014/main" id="{7FDCD8F0-6483-4EC9-99F6-4555408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hift-card-title">
            <a:extLst xmlns:a="http://schemas.openxmlformats.org/drawingml/2006/main">
              <a:ext uri="{FF2B5EF4-FFF2-40B4-BE49-F238E27FC236}">
                <a16:creationId xmlns:a16="http://schemas.microsoft.com/office/drawing/2014/main" id="{8C43491C-904B-4269-A58E-6AE158D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理解成本前置</a:t>
            </a:r>
          </a:p>
        </p:txBody>
      </p:sp>
      <p:sp>
        <p:nvSpPr>
          <p:cNvPr id="14" name="shift-card-detail">
            <a:extLst xmlns:a="http://schemas.openxmlformats.org/drawingml/2006/main">
              <a:ext uri="{FF2B5EF4-FFF2-40B4-BE49-F238E27FC236}">
                <a16:creationId xmlns:a16="http://schemas.microsoft.com/office/drawing/2014/main" id="{6A392869-D5B1-42D7-B3D6-AC2B55DA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24175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从“每次查询时重新理解”</a:t>
            </a:r>
          </a:p>
          <a:p xmlns:a="http://schemas.openxmlformats.org/drawingml/2006/main">
            <a:pPr algn="l"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转移到“内容摄入时先编译”</a:t>
            </a:r>
          </a:p>
        </p:txBody>
      </p:sp>
      <p:sp>
        <p:nvSpPr>
          <p:cNvPr id="15" name="compile-card">
            <a:extLst xmlns:a="http://schemas.openxmlformats.org/drawingml/2006/main">
              <a:ext uri="{FF2B5EF4-FFF2-40B4-BE49-F238E27FC236}">
                <a16:creationId xmlns:a16="http://schemas.microsoft.com/office/drawing/2014/main" id="{8816E289-6778-425A-83C4-DE31BF50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compile-card-accent">
            <a:extLst xmlns:a="http://schemas.openxmlformats.org/drawingml/2006/main">
              <a:ext uri="{FF2B5EF4-FFF2-40B4-BE49-F238E27FC236}">
                <a16:creationId xmlns:a16="http://schemas.microsoft.com/office/drawing/2014/main" id="{9ABCD915-15E1-406C-A653-E060AB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compile-card-title">
            <a:extLst xmlns:a="http://schemas.openxmlformats.org/drawingml/2006/main">
              <a:ext uri="{FF2B5EF4-FFF2-40B4-BE49-F238E27FC236}">
                <a16:creationId xmlns:a16="http://schemas.microsoft.com/office/drawing/2014/main" id="{3B5B3872-102D-4B37-AA63-B3FC1F4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907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16"/>
                </a:solidFill>
              </a:defRPr>
            </a:pPr>
            <a:r>
              <a:rPr sz="1800" b="1">
                <a:solidFill>
                  <a:srgbClr val="101816"/>
                </a:solidFill>
              </a:rPr>
              <a:t>知识复利</a:t>
            </a:r>
          </a:p>
        </p:txBody>
      </p:sp>
      <p:sp>
        <p:nvSpPr>
          <p:cNvPr id="18" name="compile-card-detail">
            <a:extLst xmlns:a="http://schemas.openxmlformats.org/drawingml/2006/main">
              <a:ext uri="{FF2B5EF4-FFF2-40B4-BE49-F238E27FC236}">
                <a16:creationId xmlns:a16="http://schemas.microsoft.com/office/drawing/2014/main" id="{ECACA2A2-14D9-41F9-B4F5-9F9AC8D9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2647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A45"/>
                </a:solidFill>
              </a:defRPr>
            </a:pPr>
            <a:r>
              <a:rPr sz="1275" b="0">
                <a:solidFill>
                  <a:srgbClr val="3D4A45"/>
                </a:solidFill>
              </a:rPr>
              <a:t>每多摄入一份材料，知识不是塞进数据库，而是编织进一张增长的网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3333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3333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1" name="n-1">
            <a:extLst xmlns:a="http://schemas.openxmlformats.org/drawingml/2006/main">
              <a:ext uri="{FF2B5EF4-FFF2-40B4-BE49-F238E27FC236}">
                <a16:creationId xmlns:a16="http://schemas.microsoft.com/office/drawing/2014/main" id="{1A24F7FD-B5CB-43EC-B0FA-F9508EB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n-2">
            <a:extLst xmlns:a="http://schemas.openxmlformats.org/drawingml/2006/main">
              <a:ext uri="{FF2B5EF4-FFF2-40B4-BE49-F238E27FC236}">
                <a16:creationId xmlns:a16="http://schemas.microsoft.com/office/drawing/2014/main" id="{C295B14C-1A0B-42B2-9CA9-E1DABA2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n-3">
            <a:extLst xmlns:a="http://schemas.openxmlformats.org/drawingml/2006/main">
              <a:ext uri="{FF2B5EF4-FFF2-40B4-BE49-F238E27FC236}">
                <a16:creationId xmlns:a16="http://schemas.microsoft.com/office/drawing/2014/main" id="{532F7E6E-6760-44D8-8293-8C30D01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n-4">
            <a:extLst xmlns:a="http://schemas.openxmlformats.org/drawingml/2006/main">
              <a:ext uri="{FF2B5EF4-FFF2-40B4-BE49-F238E27FC236}">
                <a16:creationId xmlns:a16="http://schemas.microsoft.com/office/drawing/2014/main" id="{09647936-32FA-4B92-ADF5-259D52A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24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5B3"/>
          </a:solidFill>
          <a:ln xmlns:a="http://schemas.openxmlformats.org/drawingml/2006/main" w="1714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59" name=""/>
          <p:cNvCxnSpPr>
            <a:stCxn xmlns:a="http://schemas.openxmlformats.org/drawingml/2006/main" id="21" idx="7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72798" y="3914775"/>
            <a:ext cx="390327" cy="13315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22" idx="5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104589" y="4056214"/>
            <a:ext cx="325088" cy="869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22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963150" y="4114800"/>
            <a:ext cx="104775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21" idx="5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72798" y="4276923"/>
            <a:ext cx="567158" cy="30045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23" idx="3"/>
            <a:endCxn xmlns:a="http://schemas.openxmlformats.org/drawingml/2006/main" id="24" idx="7"/>
          </p:cNvCxnSpPr>
          <p:nvPr/>
        </p:nvCxnSpPr>
        <p:spPr>
          <a:xfrm xmlns:a="http://schemas.openxmlformats.org/drawingml/2006/main" flipH="1">
            <a:off x="10195894" y="4372173"/>
            <a:ext cx="233783" cy="20520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7AFA6"/>
            </a:solidFill>
            <a:prstDash val="solid"/>
          </a:ln>
        </p:spPr>
      </p:cxnSp>
      <p:sp>
        <p:nvSpPr>
          <p:cNvPr id="30" name="quote-box">
            <a:extLst xmlns:a="http://schemas.openxmlformats.org/drawingml/2006/main">
              <a:ext uri="{FF2B5EF4-FFF2-40B4-BE49-F238E27FC236}">
                <a16:creationId xmlns:a16="http://schemas.microsoft.com/office/drawing/2014/main" id="{F62CAE3B-9BB4-4E24-B3D4-861DB6F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1" name="quote-text">
            <a:extLst xmlns:a="http://schemas.openxmlformats.org/drawingml/2006/main">
              <a:ext uri="{FF2B5EF4-FFF2-40B4-BE49-F238E27FC236}">
                <a16:creationId xmlns:a16="http://schemas.microsoft.com/office/drawing/2014/main" id="{DBED66AE-7F5E-45E3-8FBE-3902A78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815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快速翻书和深度理解之间，始终隔着一道鸿沟。</a:t>
            </a:r>
          </a:p>
        </p:txBody>
      </p:sp>
      <p:sp>
        <p:nvSpPr>
          <p:cNvPr id="3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6003AFD1-E58E-4B5D-ABFE-8D9A9165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EA79748F-112B-4AE0-AC21-58DDB60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3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3C72F45-DEE5-41D1-A8B3-91B084E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代表的是一种“编译”思路：不是等到提问时再临时拼接资料，而是在素材进入时就完成理解、关联和结构化沉淀。</a:t>
            </a:r>
          </a:p>
        </p:txBody>
      </p:sp>
    </p:spTree>
    <p:extLst>
      <p:ext uri="{BB962C8B-B14F-4D97-AF65-F5344CB8AC3E}">
        <p14:creationId xmlns:p14="http://schemas.microsoft.com/office/powerpoint/2010/main" val="2144676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2026-06-22T18:05:55.8070000Z</dcterms:created>
  <dcterms:modified xsi:type="dcterms:W3CDTF">2026-06-22T18:05:55.8070000Z</dcterms:modified>
</coreProperties>
</file>