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2e1f64ee9941c0" /><Relationship Type="http://schemas.openxmlformats.org/officeDocument/2006/relationships/extended-properties" Target="/docProps/app.xml" Id="R6cb5d84d8a7a4942" /><Relationship Type="http://schemas.openxmlformats.org/officeDocument/2006/relationships/officeDocument" Target="/ppt/presentation.xml" Id="R540f792c9b3b43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c0b1461f7541d5"/>
  </p:sldMasterIdLst>
  <p:notesMasterIdLst>
    <p:notesMasterId xmlns:r="http://schemas.openxmlformats.org/officeDocument/2006/relationships" r:id="R83f9f8fed09f429f"/>
  </p:notesMasterIdLst>
  <p:sldIdLst>
    <p:sldId xmlns:r="http://schemas.openxmlformats.org/officeDocument/2006/relationships" id="256" r:id="R2ade39bc03eb41f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23b7d58de547f1" /><Relationship Type="http://schemas.openxmlformats.org/officeDocument/2006/relationships/slideMaster" Target="/ppt/slideMasters/slideMaster1.xml" Id="R1fc0b1461f7541d5" /><Relationship Type="http://schemas.openxmlformats.org/officeDocument/2006/relationships/notesMaster" Target="/ppt/notesMasters/notesMaster1.xml" Id="R83f9f8fed09f429f" /><Relationship Type="http://schemas.openxmlformats.org/officeDocument/2006/relationships/presProps" Target="/ppt/presProps.xml" Id="Rbc92c5b1d2c7426c" /><Relationship Type="http://schemas.openxmlformats.org/officeDocument/2006/relationships/tableStyles" Target="/ppt/tableStyles.xml" Id="R2353133f13f445d7" /><Relationship Type="http://schemas.openxmlformats.org/officeDocument/2006/relationships/slide" Target="/ppt/slides/slide1.xml" Id="R2ade39bc03eb41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a2c2321cc364a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d1811697a74eaa" /><Relationship Type="http://schemas.openxmlformats.org/officeDocument/2006/relationships/notesMaster" Target="/ppt/notesMasters/notesMaster1.xml" Id="R89e55aca3bb04a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43aa01ff7b40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59e79b1a8745a4" /><Relationship Type="http://schemas.openxmlformats.org/officeDocument/2006/relationships/slideLayout" Target="/ppt/slideLayouts/slideLayout1.xml" Id="R714e457b125941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4e457b125941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c4507fe3cb44b4" /><Relationship Type="http://schemas.openxmlformats.org/officeDocument/2006/relationships/notesSlide" Target="/ppt/notesSlides/notesSlide1.xml" Id="R55e54305375846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9A61D16-3512-404F-A322-1B6C873F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19 / 总结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86FFE73C-C63F-420E-BA8F-0D9AC811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77BED940-C320-4E44-818F-0108F551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7EC757-F82C-4751-822C-C22677A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1816"/>
                </a:solidFill>
              </a:defRPr>
            </a:pPr>
            <a:r>
              <a:rPr sz="3000" b="1">
                <a:solidFill>
                  <a:srgbClr val="101816"/>
                </a:solidFill>
              </a:rPr>
              <a:t>总结：从知识访问，到知识积累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B62F7950-7ABD-48D0-BE5B-9DC6B655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LLM Wiki 的价值，不是替代检索，而是让知识持续沉淀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208EA2-8B2B-4D5C-9E80-CE3480B1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19 / 20</a:t>
            </a:r>
          </a:p>
        </p:txBody>
      </p:sp>
      <p:sp>
        <p:nvSpPr>
          <p:cNvPr id="7" name="summary-rag">
            <a:extLst xmlns:a="http://schemas.openxmlformats.org/drawingml/2006/main">
              <a:ext uri="{FF2B5EF4-FFF2-40B4-BE49-F238E27FC236}">
                <a16:creationId xmlns:a16="http://schemas.microsoft.com/office/drawing/2014/main" id="{8D04E336-309C-4CBA-96E6-89D6D183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summary-rag-accent">
            <a:extLst xmlns:a="http://schemas.openxmlformats.org/drawingml/2006/main">
              <a:ext uri="{FF2B5EF4-FFF2-40B4-BE49-F238E27FC236}">
                <a16:creationId xmlns:a16="http://schemas.microsoft.com/office/drawing/2014/main" id="{D9E0DBFD-A57E-445A-BA4C-08822F5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9" name="summary-rag-title">
            <a:extLst xmlns:a="http://schemas.openxmlformats.org/drawingml/2006/main">
              <a:ext uri="{FF2B5EF4-FFF2-40B4-BE49-F238E27FC236}">
                <a16:creationId xmlns:a16="http://schemas.microsoft.com/office/drawing/2014/main" id="{352BE538-376E-42A5-A8DF-85EB0E74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1. RAG 解决访问</a:t>
            </a:r>
          </a:p>
        </p:txBody>
      </p:sp>
      <p:sp>
        <p:nvSpPr>
          <p:cNvPr id="10" name="summary-rag-detail">
            <a:extLst xmlns:a="http://schemas.openxmlformats.org/drawingml/2006/main">
              <a:ext uri="{FF2B5EF4-FFF2-40B4-BE49-F238E27FC236}">
                <a16:creationId xmlns:a16="http://schemas.microsoft.com/office/drawing/2014/main" id="{B91E48FA-D493-43BA-9385-8A14749D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让模型在回答前拿到外部资料，适合快速检索最新信息和私有文档。</a:t>
            </a:r>
          </a:p>
        </p:txBody>
      </p:sp>
      <p:sp>
        <p:nvSpPr>
          <p:cNvPr id="11" name="summary-wiki">
            <a:extLst xmlns:a="http://schemas.openxmlformats.org/drawingml/2006/main">
              <a:ext uri="{FF2B5EF4-FFF2-40B4-BE49-F238E27FC236}">
                <a16:creationId xmlns:a16="http://schemas.microsoft.com/office/drawing/2014/main" id="{19ED494C-DC9E-4C59-A12E-5DE5924A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2" name="summary-wiki-accent">
            <a:extLst xmlns:a="http://schemas.openxmlformats.org/drawingml/2006/main">
              <a:ext uri="{FF2B5EF4-FFF2-40B4-BE49-F238E27FC236}">
                <a16:creationId xmlns:a16="http://schemas.microsoft.com/office/drawing/2014/main" id="{AF422F77-4477-44AF-A967-26265E0C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3" name="summary-wiki-title">
            <a:extLst xmlns:a="http://schemas.openxmlformats.org/drawingml/2006/main">
              <a:ext uri="{FF2B5EF4-FFF2-40B4-BE49-F238E27FC236}">
                <a16:creationId xmlns:a16="http://schemas.microsoft.com/office/drawing/2014/main" id="{00D19E8C-AA3E-4969-827E-61057206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2. LLM Wiki 解决积累</a:t>
            </a:r>
          </a:p>
        </p:txBody>
      </p:sp>
      <p:sp>
        <p:nvSpPr>
          <p:cNvPr id="14" name="summary-wiki-detail">
            <a:extLst xmlns:a="http://schemas.openxmlformats.org/drawingml/2006/main">
              <a:ext uri="{FF2B5EF4-FFF2-40B4-BE49-F238E27FC236}">
                <a16:creationId xmlns:a16="http://schemas.microsoft.com/office/drawing/2014/main" id="{23022143-C1EA-41CA-B774-A09F376B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把资料编译成结构化、相互链接、可演化的 Markdown Wiki。</a:t>
            </a:r>
          </a:p>
        </p:txBody>
      </p:sp>
      <p:sp>
        <p:nvSpPr>
          <p:cNvPr id="15" name="summary-obsidian">
            <a:extLst xmlns:a="http://schemas.openxmlformats.org/drawingml/2006/main">
              <a:ext uri="{FF2B5EF4-FFF2-40B4-BE49-F238E27FC236}">
                <a16:creationId xmlns:a16="http://schemas.microsoft.com/office/drawing/2014/main" id="{B0F42A27-82DC-4FC4-81CB-DDE9329C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38375"/>
            <a:ext cx="2857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16" name="summary-obsidian-accent">
            <a:extLst xmlns:a="http://schemas.openxmlformats.org/drawingml/2006/main">
              <a:ext uri="{FF2B5EF4-FFF2-40B4-BE49-F238E27FC236}">
                <a16:creationId xmlns:a16="http://schemas.microsoft.com/office/drawing/2014/main" id="{5B8C007E-7272-4BCA-89AC-B65E24E3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38375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17" name="summary-obsidian-title">
            <a:extLst xmlns:a="http://schemas.openxmlformats.org/drawingml/2006/main">
              <a:ext uri="{FF2B5EF4-FFF2-40B4-BE49-F238E27FC236}">
                <a16:creationId xmlns:a16="http://schemas.microsoft.com/office/drawing/2014/main" id="{38D78FEE-65F1-40DD-93CC-1E519067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409825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3. Obsidian 承载协作</a:t>
            </a:r>
          </a:p>
        </p:txBody>
      </p:sp>
      <p:sp>
        <p:nvSpPr>
          <p:cNvPr id="18" name="summary-obsidian-detail">
            <a:extLst xmlns:a="http://schemas.openxmlformats.org/drawingml/2006/main">
              <a:ext uri="{FF2B5EF4-FFF2-40B4-BE49-F238E27FC236}">
                <a16:creationId xmlns:a16="http://schemas.microsoft.com/office/drawing/2014/main" id="{B3C4D8AD-C764-4AC9-A067-2DDC9539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809875"/>
            <a:ext cx="25146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人负责审阅和方向，LLM 负责维护、链接、更新和校验。</a:t>
            </a:r>
          </a:p>
        </p:txBody>
      </p:sp>
      <p:cxnSp>
        <p:nvCxnSpPr>
          <p:cNvPr id="45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762375" y="309562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46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524750" y="3095625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21" name="summary-key-message">
            <a:extLst xmlns:a="http://schemas.openxmlformats.org/drawingml/2006/main">
              <a:ext uri="{FF2B5EF4-FFF2-40B4-BE49-F238E27FC236}">
                <a16:creationId xmlns:a16="http://schemas.microsoft.com/office/drawing/2014/main" id="{4BA0E24C-2F79-4763-B485-ECF0514D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29125"/>
            <a:ext cx="733425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8DD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2" name="summary-key-accent">
            <a:extLst xmlns:a="http://schemas.openxmlformats.org/drawingml/2006/main">
              <a:ext uri="{FF2B5EF4-FFF2-40B4-BE49-F238E27FC236}">
                <a16:creationId xmlns:a16="http://schemas.microsoft.com/office/drawing/2014/main" id="{5F0B5F22-179E-448A-87BB-5437BB12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429125"/>
            <a:ext cx="733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23" name="summary-key-text">
            <a:extLst xmlns:a="http://schemas.openxmlformats.org/drawingml/2006/main">
              <a:ext uri="{FF2B5EF4-FFF2-40B4-BE49-F238E27FC236}">
                <a16:creationId xmlns:a16="http://schemas.microsoft.com/office/drawing/2014/main" id="{B98E4D39-C1A5-4CD9-820B-AE0DDA1F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57725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01816"/>
                </a:solidFill>
              </a:defRPr>
            </a:pPr>
            <a:r>
              <a:rPr sz="1650" b="1">
                <a:solidFill>
                  <a:srgbClr val="101816"/>
                </a:solidFill>
              </a:rPr>
              <a:t>真正的目标：不是保存更多资料，而是让资料变成可复用、可演进的知识。</a:t>
            </a:r>
          </a:p>
        </p:txBody>
      </p:sp>
      <p:sp>
        <p:nvSpPr>
          <p:cNvPr id="24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4714DBA0-DF31-4970-9A29-A6D2E4A0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5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65EEA884-FA3D-47D1-AD2B-6DC82947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26" name="bottom-note">
            <a:extLst xmlns:a="http://schemas.openxmlformats.org/drawingml/2006/main">
              <a:ext uri="{FF2B5EF4-FFF2-40B4-BE49-F238E27FC236}">
                <a16:creationId xmlns:a16="http://schemas.microsoft.com/office/drawing/2014/main" id="{87AC7AE1-1B3D-4295-8E93-24921C51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912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这套分享可以归结为一句话：RAG 让我们更容易访问知识，而 LLM Wiki 让知识开始积累。Obsidian 则提供了一个人和 LLM 都能协作的本地知识工作台。</a:t>
            </a:r>
          </a:p>
        </p:txBody>
      </p:sp>
    </p:spTree>
    <p:extLst>
      <p:ext uri="{BB962C8B-B14F-4D97-AF65-F5344CB8AC3E}">
        <p14:creationId xmlns:p14="http://schemas.microsoft.com/office/powerpoint/2010/main" val="15433516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2026-06-22T18:13:21.3760000Z</dcterms:created>
  <dcterms:modified xsi:type="dcterms:W3CDTF">2026-06-22T18:13:21.3760000Z</dcterms:modified>
</coreProperties>
</file>