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c8c378b86414981" /><Relationship Type="http://schemas.openxmlformats.org/officeDocument/2006/relationships/extended-properties" Target="/docProps/app.xml" Id="R57f9d6e2c96a47e0" /><Relationship Type="http://schemas.openxmlformats.org/officeDocument/2006/relationships/officeDocument" Target="/ppt/presentation.xml" Id="R4797b81c347c4d3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67a931c1bcf4bc3"/>
  </p:sldMasterIdLst>
  <p:notesMasterIdLst>
    <p:notesMasterId xmlns:r="http://schemas.openxmlformats.org/officeDocument/2006/relationships" r:id="R0fe3d128d2d14d26"/>
  </p:notesMasterIdLst>
  <p:sldIdLst>
    <p:sldId xmlns:r="http://schemas.openxmlformats.org/officeDocument/2006/relationships" id="256" r:id="Rddf83903f157469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4d78db680c64913" /><Relationship Type="http://schemas.openxmlformats.org/officeDocument/2006/relationships/slideMaster" Target="/ppt/slideMasters/slideMaster1.xml" Id="R367a931c1bcf4bc3" /><Relationship Type="http://schemas.openxmlformats.org/officeDocument/2006/relationships/notesMaster" Target="/ppt/notesMasters/notesMaster1.xml" Id="R0fe3d128d2d14d26" /><Relationship Type="http://schemas.openxmlformats.org/officeDocument/2006/relationships/presProps" Target="/ppt/presProps.xml" Id="R4ae34cd3e8cc4b83" /><Relationship Type="http://schemas.openxmlformats.org/officeDocument/2006/relationships/tableStyles" Target="/ppt/tableStyles.xml" Id="R0e4071a6494b4637" /><Relationship Type="http://schemas.openxmlformats.org/officeDocument/2006/relationships/slide" Target="/ppt/slides/slide1.xml" Id="Rddf83903f157469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b51c77c15434fb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cdd084fa141401e" /><Relationship Type="http://schemas.openxmlformats.org/officeDocument/2006/relationships/notesMaster" Target="/ppt/notesMasters/notesMaster1.xml" Id="Rea5fd333f4774f0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02b3c7b97649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e0432b362034f0c" /><Relationship Type="http://schemas.openxmlformats.org/officeDocument/2006/relationships/slideLayout" Target="/ppt/slideLayouts/slideLayout1.xml" Id="R30dd0f0712164c5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0dd0f0712164c5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38a231a62b44c1" /><Relationship Type="http://schemas.openxmlformats.org/officeDocument/2006/relationships/notesSlide" Target="/ppt/notesSlides/notesSlide1.xml" Id="R7451ecab29da40b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3B3C6DA-9131-493E-8C2E-D258963E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333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14 / 技术融合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27FE77EB-1401-40F8-9704-275E2EE49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342900"/>
            <a:ext cx="2952750" cy="-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F7F19681-A3F1-4750-AD3F-2F275B99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"/>
            <a:ext cx="4381500" cy="-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9902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833DB6C-4C93-4E7A-B05B-7EF74D54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16"/>
                </a:solidFill>
              </a:defRPr>
            </a:pPr>
            <a:r>
              <a:rPr sz="3000" b="1">
                <a:solidFill>
                  <a:srgbClr val="101816"/>
                </a:solidFill>
              </a:rPr>
              <a:t>技术融合方向：不是替代，而是组合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423BC22A-184E-4399-A026-5CCC0AA08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D4A45"/>
                </a:solidFill>
              </a:defRPr>
            </a:pPr>
            <a:r>
              <a:rPr sz="1725" b="1">
                <a:solidFill>
                  <a:srgbClr val="3D4A45"/>
                </a:solidFill>
              </a:rPr>
              <a:t>RAG 提供广度，LLM Wiki 负责沉淀，多模态扩展知识边界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C9035F1-A9A1-4EFC-90D5-7D0277FF9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14 / 20</a:t>
            </a:r>
          </a:p>
        </p:txBody>
      </p:sp>
      <p:sp>
        <p:nvSpPr>
          <p:cNvPr id="7" name="rag-layer">
            <a:extLst xmlns:a="http://schemas.openxmlformats.org/drawingml/2006/main">
              <a:ext uri="{FF2B5EF4-FFF2-40B4-BE49-F238E27FC236}">
                <a16:creationId xmlns:a16="http://schemas.microsoft.com/office/drawing/2014/main" id="{1B27AC46-93F1-4F97-8437-313C84557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33625"/>
            <a:ext cx="2428875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8" name="rag-layer-accent">
            <a:extLst xmlns:a="http://schemas.openxmlformats.org/drawingml/2006/main">
              <a:ext uri="{FF2B5EF4-FFF2-40B4-BE49-F238E27FC236}">
                <a16:creationId xmlns:a16="http://schemas.microsoft.com/office/drawing/2014/main" id="{E8EA3E55-A24A-4E34-888B-00654D13C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33625"/>
            <a:ext cx="2428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9" name="rag-layer-title">
            <a:extLst xmlns:a="http://schemas.openxmlformats.org/drawingml/2006/main">
              <a:ext uri="{FF2B5EF4-FFF2-40B4-BE49-F238E27FC236}">
                <a16:creationId xmlns:a16="http://schemas.microsoft.com/office/drawing/2014/main" id="{4D7E3A6A-B60A-43DA-A5E2-E3F40B7E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86025"/>
            <a:ext cx="2124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16"/>
                </a:solidFill>
              </a:defRPr>
            </a:pPr>
            <a:r>
              <a:rPr sz="1875" b="1">
                <a:solidFill>
                  <a:srgbClr val="101816"/>
                </a:solidFill>
              </a:rPr>
              <a:t>RAG</a:t>
            </a:r>
          </a:p>
        </p:txBody>
      </p:sp>
      <p:sp>
        <p:nvSpPr>
          <p:cNvPr id="10" name="rag-layer-detail">
            <a:extLst xmlns:a="http://schemas.openxmlformats.org/drawingml/2006/main">
              <a:ext uri="{FF2B5EF4-FFF2-40B4-BE49-F238E27FC236}">
                <a16:creationId xmlns:a16="http://schemas.microsoft.com/office/drawing/2014/main" id="{726B40A3-6CEA-440B-98E7-2EA368A3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28925"/>
            <a:ext cx="21240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面向海量材料的快速检索</a:t>
            </a:r>
          </a:p>
          <a:p xmlns:a="http://schemas.openxmlformats.org/drawingml/2006/main">
            <a:pPr algn="l"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适合广度与低延迟访问</a:t>
            </a:r>
          </a:p>
        </p:txBody>
      </p:sp>
      <p:sp>
        <p:nvSpPr>
          <p:cNvPr id="11" name="wiki-layer">
            <a:extLst xmlns:a="http://schemas.openxmlformats.org/drawingml/2006/main">
              <a:ext uri="{FF2B5EF4-FFF2-40B4-BE49-F238E27FC236}">
                <a16:creationId xmlns:a16="http://schemas.microsoft.com/office/drawing/2014/main" id="{F3877B95-3489-41A0-9194-0103D2FB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95500"/>
            <a:ext cx="2714625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2" name="wiki-layer-accent">
            <a:extLst xmlns:a="http://schemas.openxmlformats.org/drawingml/2006/main">
              <a:ext uri="{FF2B5EF4-FFF2-40B4-BE49-F238E27FC236}">
                <a16:creationId xmlns:a16="http://schemas.microsoft.com/office/drawing/2014/main" id="{C3334169-D858-4619-A41E-836DD6968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95500"/>
            <a:ext cx="2714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13" name="wiki-layer-title">
            <a:extLst xmlns:a="http://schemas.openxmlformats.org/drawingml/2006/main">
              <a:ext uri="{FF2B5EF4-FFF2-40B4-BE49-F238E27FC236}">
                <a16:creationId xmlns:a16="http://schemas.microsoft.com/office/drawing/2014/main" id="{EEA8B6B6-76CE-4B26-BE76-FCD44B284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247900"/>
            <a:ext cx="2409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16"/>
                </a:solidFill>
              </a:defRPr>
            </a:pPr>
            <a:r>
              <a:rPr sz="1875" b="1">
                <a:solidFill>
                  <a:srgbClr val="101816"/>
                </a:solidFill>
              </a:rPr>
              <a:t>LLM Wiki</a:t>
            </a:r>
          </a:p>
        </p:txBody>
      </p:sp>
      <p:sp>
        <p:nvSpPr>
          <p:cNvPr id="14" name="wiki-layer-detail">
            <a:extLst xmlns:a="http://schemas.openxmlformats.org/drawingml/2006/main">
              <a:ext uri="{FF2B5EF4-FFF2-40B4-BE49-F238E27FC236}">
                <a16:creationId xmlns:a16="http://schemas.microsoft.com/office/drawing/2014/main" id="{01E5F170-F938-42E7-90C9-3CD9B30BE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590800"/>
            <a:ext cx="240982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把高价值材料编译成结构化知识网络</a:t>
            </a:r>
          </a:p>
          <a:p xmlns:a="http://schemas.openxmlformats.org/drawingml/2006/main">
            <a:pPr algn="l"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适合长期理解和复用</a:t>
            </a:r>
          </a:p>
        </p:txBody>
      </p:sp>
      <p:sp>
        <p:nvSpPr>
          <p:cNvPr id="15" name="agent-layer">
            <a:extLst xmlns:a="http://schemas.openxmlformats.org/drawingml/2006/main">
              <a:ext uri="{FF2B5EF4-FFF2-40B4-BE49-F238E27FC236}">
                <a16:creationId xmlns:a16="http://schemas.microsoft.com/office/drawing/2014/main" id="{0DCFEAA6-8A88-4AA2-A34C-8496313E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333625"/>
            <a:ext cx="2428875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6" name="agent-layer-accent">
            <a:extLst xmlns:a="http://schemas.openxmlformats.org/drawingml/2006/main">
              <a:ext uri="{FF2B5EF4-FFF2-40B4-BE49-F238E27FC236}">
                <a16:creationId xmlns:a16="http://schemas.microsoft.com/office/drawing/2014/main" id="{02448BA7-B42E-4171-B72A-2ECBAE5D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333625"/>
            <a:ext cx="2428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17" name="agent-layer-title">
            <a:extLst xmlns:a="http://schemas.openxmlformats.org/drawingml/2006/main">
              <a:ext uri="{FF2B5EF4-FFF2-40B4-BE49-F238E27FC236}">
                <a16:creationId xmlns:a16="http://schemas.microsoft.com/office/drawing/2014/main" id="{C76EE6A0-EE12-43D3-BFFD-90761F9A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486025"/>
            <a:ext cx="2124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16"/>
                </a:solidFill>
              </a:defRPr>
            </a:pPr>
            <a:r>
              <a:rPr sz="1875" b="1">
                <a:solidFill>
                  <a:srgbClr val="101816"/>
                </a:solidFill>
              </a:rPr>
              <a:t>Agent</a:t>
            </a:r>
          </a:p>
        </p:txBody>
      </p:sp>
      <p:sp>
        <p:nvSpPr>
          <p:cNvPr id="18" name="agent-layer-detail">
            <a:extLst xmlns:a="http://schemas.openxmlformats.org/drawingml/2006/main">
              <a:ext uri="{FF2B5EF4-FFF2-40B4-BE49-F238E27FC236}">
                <a16:creationId xmlns:a16="http://schemas.microsoft.com/office/drawing/2014/main" id="{B6E7A0A2-A95A-4393-BD65-41D408E5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828925"/>
            <a:ext cx="21240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基于 Wiki 长期记忆执行任务</a:t>
            </a:r>
          </a:p>
          <a:p xmlns:a="http://schemas.openxmlformats.org/drawingml/2006/main">
            <a:pPr algn="l"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把知识用于行动和决策</a:t>
            </a:r>
          </a:p>
        </p:txBody>
      </p:sp>
      <p:cxnSp>
        <p:nvCxnSpPr>
          <p:cNvPr id="50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476625" y="3048000"/>
            <a:ext cx="12858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51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7477125" y="3048000"/>
            <a:ext cx="12858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21" name="multimodal-box">
            <a:extLst xmlns:a="http://schemas.openxmlformats.org/drawingml/2006/main">
              <a:ext uri="{FF2B5EF4-FFF2-40B4-BE49-F238E27FC236}">
                <a16:creationId xmlns:a16="http://schemas.microsoft.com/office/drawing/2014/main" id="{23F9C55C-DB07-448A-8664-5B94F57C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333875"/>
            <a:ext cx="7429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FF8DD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2" name="multimodal-accent">
            <a:extLst xmlns:a="http://schemas.openxmlformats.org/drawingml/2006/main">
              <a:ext uri="{FF2B5EF4-FFF2-40B4-BE49-F238E27FC236}">
                <a16:creationId xmlns:a16="http://schemas.microsoft.com/office/drawing/2014/main" id="{B9FB0023-F992-4370-A163-631A2BE7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333875"/>
            <a:ext cx="742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23" name="multimodal-title">
            <a:extLst xmlns:a="http://schemas.openxmlformats.org/drawingml/2006/main">
              <a:ext uri="{FF2B5EF4-FFF2-40B4-BE49-F238E27FC236}">
                <a16:creationId xmlns:a16="http://schemas.microsoft.com/office/drawing/2014/main" id="{8AB767A2-17B3-4F29-8F87-0247C633A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5910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16"/>
                </a:solidFill>
              </a:defRPr>
            </a:pPr>
            <a:r>
              <a:rPr sz="1500" b="1">
                <a:solidFill>
                  <a:srgbClr val="101816"/>
                </a:solidFill>
              </a:rPr>
              <a:t>多模态 LLM Wiki</a:t>
            </a:r>
          </a:p>
        </p:txBody>
      </p:sp>
      <p:sp>
        <p:nvSpPr>
          <p:cNvPr id="24" name="multimodal-body">
            <a:extLst xmlns:a="http://schemas.openxmlformats.org/drawingml/2006/main">
              <a:ext uri="{FF2B5EF4-FFF2-40B4-BE49-F238E27FC236}">
                <a16:creationId xmlns:a16="http://schemas.microsoft.com/office/drawing/2014/main" id="{270121A1-FB78-4E60-83E2-56E215C5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61010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从纯文本走向图片、视频字幕、音频转写、会议记录等多模态知识的统一编译。</a:t>
            </a:r>
          </a:p>
        </p:txBody>
      </p:sp>
      <p:sp>
        <p:nvSpPr>
          <p:cNvPr id="25" name="modality-0">
            <a:extLst xmlns:a="http://schemas.openxmlformats.org/drawingml/2006/main">
              <a:ext uri="{FF2B5EF4-FFF2-40B4-BE49-F238E27FC236}">
                <a16:creationId xmlns:a16="http://schemas.microsoft.com/office/drawing/2014/main" id="{FEF1B37D-339E-4277-8914-638E0DEB0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953000"/>
            <a:ext cx="7239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77A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文本</a:t>
            </a:r>
          </a:p>
        </p:txBody>
      </p:sp>
      <p:sp>
        <p:nvSpPr>
          <p:cNvPr id="26" name="modality-1">
            <a:extLst xmlns:a="http://schemas.openxmlformats.org/drawingml/2006/main">
              <a:ext uri="{FF2B5EF4-FFF2-40B4-BE49-F238E27FC236}">
                <a16:creationId xmlns:a16="http://schemas.microsoft.com/office/drawing/2014/main" id="{CA55C685-7990-48FD-B682-B1DEF8654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953000"/>
            <a:ext cx="7239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9525">
            <a:solidFill>
              <a:srgbClr val="77A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图片</a:t>
            </a:r>
          </a:p>
        </p:txBody>
      </p:sp>
      <p:sp>
        <p:nvSpPr>
          <p:cNvPr id="27" name="modality-2">
            <a:extLst xmlns:a="http://schemas.openxmlformats.org/drawingml/2006/main">
              <a:ext uri="{FF2B5EF4-FFF2-40B4-BE49-F238E27FC236}">
                <a16:creationId xmlns:a16="http://schemas.microsoft.com/office/drawing/2014/main" id="{55DE2787-380E-4C29-ADC4-6339CE2E8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953000"/>
            <a:ext cx="7239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77A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视频</a:t>
            </a:r>
          </a:p>
        </p:txBody>
      </p:sp>
      <p:sp>
        <p:nvSpPr>
          <p:cNvPr id="28" name="modality-3">
            <a:extLst xmlns:a="http://schemas.openxmlformats.org/drawingml/2006/main">
              <a:ext uri="{FF2B5EF4-FFF2-40B4-BE49-F238E27FC236}">
                <a16:creationId xmlns:a16="http://schemas.microsoft.com/office/drawing/2014/main" id="{BF7347BD-6439-4A7D-9BBB-8600B772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953000"/>
            <a:ext cx="7239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9525">
            <a:solidFill>
              <a:srgbClr val="77A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音频</a:t>
            </a:r>
          </a:p>
        </p:txBody>
      </p:sp>
      <p:sp>
        <p:nvSpPr>
          <p:cNvPr id="29" name="bottom-note-box">
            <a:extLst xmlns:a="http://schemas.openxmlformats.org/drawingml/2006/main">
              <a:ext uri="{FF2B5EF4-FFF2-40B4-BE49-F238E27FC236}">
                <a16:creationId xmlns:a16="http://schemas.microsoft.com/office/drawing/2014/main" id="{90A7DD58-52E2-4FAE-BEB3-6AA411569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8858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30" name="bottom-note-accent">
            <a:extLst xmlns:a="http://schemas.openxmlformats.org/drawingml/2006/main">
              <a:ext uri="{FF2B5EF4-FFF2-40B4-BE49-F238E27FC236}">
                <a16:creationId xmlns:a16="http://schemas.microsoft.com/office/drawing/2014/main" id="{D08DC481-BCB4-4BAC-A083-E28E0D5F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885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0F766E"/>
            </a:solidFill>
            <a:prstDash val="solid"/>
          </a:ln>
        </p:spPr>
      </p:sp>
      <p:sp>
        <p:nvSpPr>
          <p:cNvPr id="31" name="bottom-note">
            <a:extLst xmlns:a="http://schemas.openxmlformats.org/drawingml/2006/main">
              <a:ext uri="{FF2B5EF4-FFF2-40B4-BE49-F238E27FC236}">
                <a16:creationId xmlns:a16="http://schemas.microsoft.com/office/drawing/2014/main" id="{730E420A-C6CA-4138-B6FA-8EC40490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91200"/>
            <a:ext cx="847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LLM Wiki 并不是 RAG 的替代品。更现实的方向是组合：RAG 负责从海量资料中提供广度，LLM Wiki 负责把高价值内容沉淀成长期知识。</a:t>
            </a:r>
          </a:p>
        </p:txBody>
      </p:sp>
    </p:spTree>
    <p:extLst>
      <p:ext uri="{BB962C8B-B14F-4D97-AF65-F5344CB8AC3E}">
        <p14:creationId xmlns:p14="http://schemas.microsoft.com/office/powerpoint/2010/main" val="1407712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2026-06-22T18:05:56.0880000Z</dcterms:created>
  <dcterms:modified xsi:type="dcterms:W3CDTF">2026-06-22T18:05:56.0880000Z</dcterms:modified>
</coreProperties>
</file>