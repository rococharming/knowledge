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b6df7ac3a248a7" /><Relationship Type="http://schemas.openxmlformats.org/officeDocument/2006/relationships/extended-properties" Target="/docProps/app.xml" Id="R2fe40df54d2746ff" /><Relationship Type="http://schemas.openxmlformats.org/officeDocument/2006/relationships/officeDocument" Target="/ppt/presentation.xml" Id="Rec3680d8b5984e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4f4ec99e664406"/>
  </p:sldMasterIdLst>
  <p:notesMasterIdLst>
    <p:notesMasterId xmlns:r="http://schemas.openxmlformats.org/officeDocument/2006/relationships" r:id="R8edf9b71a6424343"/>
  </p:notesMasterIdLst>
  <p:sldIdLst>
    <p:sldId xmlns:r="http://schemas.openxmlformats.org/officeDocument/2006/relationships" id="256" r:id="R4168e578d9a743c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9689f72144499c" /><Relationship Type="http://schemas.openxmlformats.org/officeDocument/2006/relationships/slideMaster" Target="/ppt/slideMasters/slideMaster1.xml" Id="Re64f4ec99e664406" /><Relationship Type="http://schemas.openxmlformats.org/officeDocument/2006/relationships/notesMaster" Target="/ppt/notesMasters/notesMaster1.xml" Id="R8edf9b71a6424343" /><Relationship Type="http://schemas.openxmlformats.org/officeDocument/2006/relationships/presProps" Target="/ppt/presProps.xml" Id="Rd420d35ce6904afc" /><Relationship Type="http://schemas.openxmlformats.org/officeDocument/2006/relationships/tableStyles" Target="/ppt/tableStyles.xml" Id="Rbff0b17bc3634138" /><Relationship Type="http://schemas.openxmlformats.org/officeDocument/2006/relationships/slide" Target="/ppt/slides/slide1.xml" Id="R4168e578d9a743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741002dd4047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13f75b90e74592" /><Relationship Type="http://schemas.openxmlformats.org/officeDocument/2006/relationships/notesMaster" Target="/ppt/notesMasters/notesMaster1.xml" Id="Rac63967f57694d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c5009ba624f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6138f93b414243" /><Relationship Type="http://schemas.openxmlformats.org/officeDocument/2006/relationships/slideLayout" Target="/ppt/slideLayouts/slideLayout1.xml" Id="R82d78a3ad26343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d78a3ad26343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22eb93bb24fe4" /><Relationship Type="http://schemas.openxmlformats.org/officeDocument/2006/relationships/notesSlide" Target="/ppt/notesSlides/notesSlide1.xml" Id="R1fc63a0ceb7c4f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2EFEB40-5B9D-40C6-8F34-57956391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05 / RAG 的天花板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EF028285-1C56-4032-BFC7-9C8757E5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AD57205F-0398-4B18-AE81-4BA2645A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1FE589-0B6B-4A9F-8A31-D27F7E17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RAG 优化了访问能力，但缺少知识积累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1D2B544-16C9-47C3-A864-BD69E1F4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检索更准、关联更强、策略更聪明，但知识仍在查询时临时组织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671107-6D49-4F31-B9EE-D2EABBD6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05 / 20</a:t>
            </a:r>
          </a:p>
        </p:txBody>
      </p:sp>
      <p:sp>
        <p:nvSpPr>
          <p:cNvPr id="7" name="rag-opt">
            <a:extLst xmlns:a="http://schemas.openxmlformats.org/drawingml/2006/main">
              <a:ext uri="{FF2B5EF4-FFF2-40B4-BE49-F238E27FC236}">
                <a16:creationId xmlns:a16="http://schemas.microsoft.com/office/drawing/2014/main" id="{8532A3A8-709A-4331-AB93-CADA5D8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rag-opt-accent">
            <a:extLst xmlns:a="http://schemas.openxmlformats.org/drawingml/2006/main">
              <a:ext uri="{FF2B5EF4-FFF2-40B4-BE49-F238E27FC236}">
                <a16:creationId xmlns:a16="http://schemas.microsoft.com/office/drawing/2014/main" id="{0FAD22FE-88F4-4D78-9CBD-5B022F26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rag-opt-title">
            <a:extLst xmlns:a="http://schemas.openxmlformats.org/drawingml/2006/main">
              <a:ext uri="{FF2B5EF4-FFF2-40B4-BE49-F238E27FC236}">
                <a16:creationId xmlns:a16="http://schemas.microsoft.com/office/drawing/2014/main" id="{D3107556-E565-46FA-B8A7-611FB05B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传统 RAG</a:t>
            </a:r>
          </a:p>
        </p:txBody>
      </p:sp>
      <p:sp>
        <p:nvSpPr>
          <p:cNvPr id="10" name="rag-opt-detail">
            <a:extLst xmlns:a="http://schemas.openxmlformats.org/drawingml/2006/main">
              <a:ext uri="{FF2B5EF4-FFF2-40B4-BE49-F238E27FC236}">
                <a16:creationId xmlns:a16="http://schemas.microsoft.com/office/drawing/2014/main" id="{0824979A-CDC9-4D68-94DE-74B8C95B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优化检索质量</a:t>
            </a:r>
          </a:p>
        </p:txBody>
      </p:sp>
      <p:sp>
        <p:nvSpPr>
          <p:cNvPr id="11" name="graph-opt">
            <a:extLst xmlns:a="http://schemas.openxmlformats.org/drawingml/2006/main">
              <a:ext uri="{FF2B5EF4-FFF2-40B4-BE49-F238E27FC236}">
                <a16:creationId xmlns:a16="http://schemas.microsoft.com/office/drawing/2014/main" id="{C47B241E-1607-412B-BE57-1B0F722B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669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graph-opt-accent">
            <a:extLst xmlns:a="http://schemas.openxmlformats.org/drawingml/2006/main">
              <a:ext uri="{FF2B5EF4-FFF2-40B4-BE49-F238E27FC236}">
                <a16:creationId xmlns:a16="http://schemas.microsoft.com/office/drawing/2014/main" id="{086CAED6-4814-4233-BC27-076BCBE7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66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3" name="graph-opt-title">
            <a:extLst xmlns:a="http://schemas.openxmlformats.org/drawingml/2006/main">
              <a:ext uri="{FF2B5EF4-FFF2-40B4-BE49-F238E27FC236}">
                <a16:creationId xmlns:a16="http://schemas.microsoft.com/office/drawing/2014/main" id="{4BB5D12A-7595-4C60-945F-7CA1E545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193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GraphRAG</a:t>
            </a:r>
          </a:p>
        </p:txBody>
      </p:sp>
      <p:sp>
        <p:nvSpPr>
          <p:cNvPr id="14" name="graph-opt-detail">
            <a:extLst xmlns:a="http://schemas.openxmlformats.org/drawingml/2006/main">
              <a:ext uri="{FF2B5EF4-FFF2-40B4-BE49-F238E27FC236}">
                <a16:creationId xmlns:a16="http://schemas.microsoft.com/office/drawing/2014/main" id="{5A903CD1-90FB-43A0-9D9E-6DAA9A0A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241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增强知识关联</a:t>
            </a:r>
          </a:p>
        </p:txBody>
      </p:sp>
      <p:sp>
        <p:nvSpPr>
          <p:cNvPr id="15" name="agentic-opt">
            <a:extLst xmlns:a="http://schemas.openxmlformats.org/drawingml/2006/main">
              <a:ext uri="{FF2B5EF4-FFF2-40B4-BE49-F238E27FC236}">
                <a16:creationId xmlns:a16="http://schemas.microsoft.com/office/drawing/2014/main" id="{FEA1BC79-51C2-4913-811E-D0A4677E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agentic-opt-accent">
            <a:extLst xmlns:a="http://schemas.openxmlformats.org/drawingml/2006/main">
              <a:ext uri="{FF2B5EF4-FFF2-40B4-BE49-F238E27FC236}">
                <a16:creationId xmlns:a16="http://schemas.microsoft.com/office/drawing/2014/main" id="{1714B8D3-BED6-4160-95F7-9F98CCB3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agentic-opt-title">
            <a:extLst xmlns:a="http://schemas.openxmlformats.org/drawingml/2006/main">
              <a:ext uri="{FF2B5EF4-FFF2-40B4-BE49-F238E27FC236}">
                <a16:creationId xmlns:a16="http://schemas.microsoft.com/office/drawing/2014/main" id="{67C4213A-090F-417F-815E-40B54690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193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Agentic RAG</a:t>
            </a:r>
          </a:p>
        </p:txBody>
      </p:sp>
      <p:sp>
        <p:nvSpPr>
          <p:cNvPr id="18" name="agentic-opt-detail">
            <a:extLst xmlns:a="http://schemas.openxmlformats.org/drawingml/2006/main">
              <a:ext uri="{FF2B5EF4-FFF2-40B4-BE49-F238E27FC236}">
                <a16:creationId xmlns:a16="http://schemas.microsoft.com/office/drawing/2014/main" id="{5BE0F8C0-D7D7-4E84-8157-85A6915B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241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改进检索策略</a:t>
            </a:r>
          </a:p>
        </p:txBody>
      </p:sp>
      <p:cxnSp>
        <p:nvCxnSpPr>
          <p:cNvPr id="5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28900" y="28003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876800" y="28003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1" name="temporary-use">
            <a:extLst xmlns:a="http://schemas.openxmlformats.org/drawingml/2006/main">
              <a:ext uri="{FF2B5EF4-FFF2-40B4-BE49-F238E27FC236}">
                <a16:creationId xmlns:a16="http://schemas.microsoft.com/office/drawing/2014/main" id="{337962B2-5168-4D04-AC03-237F8404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005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temporary-use-accent">
            <a:extLst xmlns:a="http://schemas.openxmlformats.org/drawingml/2006/main">
              <a:ext uri="{FF2B5EF4-FFF2-40B4-BE49-F238E27FC236}">
                <a16:creationId xmlns:a16="http://schemas.microsoft.com/office/drawing/2014/main" id="{6AFC5BCC-E391-4696-A8BD-E58BB348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005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5D45"/>
            </a:solidFill>
            <a:prstDash val="solid"/>
          </a:ln>
        </p:spPr>
      </p:sp>
      <p:sp>
        <p:nvSpPr>
          <p:cNvPr id="23" name="temporary-use-title">
            <a:extLst xmlns:a="http://schemas.openxmlformats.org/drawingml/2006/main">
              <a:ext uri="{FF2B5EF4-FFF2-40B4-BE49-F238E27FC236}">
                <a16:creationId xmlns:a16="http://schemas.microsoft.com/office/drawing/2014/main" id="{8A20AA6E-7A6B-43EF-9D41-1FCA7191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529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共同问题</a:t>
            </a:r>
          </a:p>
        </p:txBody>
      </p:sp>
      <p:sp>
        <p:nvSpPr>
          <p:cNvPr id="24" name="temporary-use-detail">
            <a:extLst xmlns:a="http://schemas.openxmlformats.org/drawingml/2006/main">
              <a:ext uri="{FF2B5EF4-FFF2-40B4-BE49-F238E27FC236}">
                <a16:creationId xmlns:a16="http://schemas.microsoft.com/office/drawing/2014/main" id="{B5604D31-EA61-4742-93C2-B89B6CB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577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直到用户提问时，知识才被临时检索和组织。</a:t>
            </a:r>
          </a:p>
        </p:txBody>
      </p:sp>
      <p:cxnSp>
        <p:nvCxnSpPr>
          <p:cNvPr id="65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4972050" y="3333750"/>
            <a:ext cx="124777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75D45"/>
            </a:solidFill>
            <a:prstDash val="dash"/>
            <a:tailEnd type="arrow" w="sm" len="sm"/>
          </a:ln>
        </p:spPr>
      </p:cxnSp>
      <p:sp>
        <p:nvSpPr>
          <p:cNvPr id="26" name="karpathy-pain-box">
            <a:extLst xmlns:a="http://schemas.openxmlformats.org/drawingml/2006/main">
              <a:ext uri="{FF2B5EF4-FFF2-40B4-BE49-F238E27FC236}">
                <a16:creationId xmlns:a16="http://schemas.microsoft.com/office/drawing/2014/main" id="{345B2244-831E-47F7-BEC6-A9260F8F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47875"/>
            <a:ext cx="3238500" cy="2876550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pain-accent">
            <a:extLst xmlns:a="http://schemas.openxmlformats.org/drawingml/2006/main">
              <a:ext uri="{FF2B5EF4-FFF2-40B4-BE49-F238E27FC236}">
                <a16:creationId xmlns:a16="http://schemas.microsoft.com/office/drawing/2014/main" id="{B2AB3634-163D-4E97-8DA1-2342AC0F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478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8" name="pain-title">
            <a:extLst xmlns:a="http://schemas.openxmlformats.org/drawingml/2006/main">
              <a:ext uri="{FF2B5EF4-FFF2-40B4-BE49-F238E27FC236}">
                <a16:creationId xmlns:a16="http://schemas.microsoft.com/office/drawing/2014/main" id="{5F6FF562-4B21-4DA0-953B-84D271D5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16"/>
                </a:solidFill>
              </a:defRPr>
            </a:pPr>
            <a:r>
              <a:rPr sz="1500" b="1">
                <a:solidFill>
                  <a:srgbClr val="101816"/>
                </a:solidFill>
              </a:rPr>
              <a:t>Karpathy 提到的痛点</a:t>
            </a:r>
          </a:p>
        </p:txBody>
      </p:sp>
      <p:sp>
        <p:nvSpPr>
          <p:cNvPr id="29" name="pain-dot-1">
            <a:extLst xmlns:a="http://schemas.openxmlformats.org/drawingml/2006/main">
              <a:ext uri="{FF2B5EF4-FFF2-40B4-BE49-F238E27FC236}">
                <a16:creationId xmlns:a16="http://schemas.microsoft.com/office/drawing/2014/main" id="{6F44C08D-DC70-4181-858A-E7AB93B5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24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in-1-title">
            <a:extLst xmlns:a="http://schemas.openxmlformats.org/drawingml/2006/main">
              <a:ext uri="{FF2B5EF4-FFF2-40B4-BE49-F238E27FC236}">
                <a16:creationId xmlns:a16="http://schemas.microsoft.com/office/drawing/2014/main" id="{B3EA7C33-BB26-4309-9C0F-995EE2EB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没有知识积累</a:t>
            </a:r>
          </a:p>
        </p:txBody>
      </p:sp>
      <p:sp>
        <p:nvSpPr>
          <p:cNvPr id="31" name="pain-1-detail">
            <a:extLst xmlns:a="http://schemas.openxmlformats.org/drawingml/2006/main">
              <a:ext uri="{FF2B5EF4-FFF2-40B4-BE49-F238E27FC236}">
                <a16:creationId xmlns:a16="http://schemas.microsoft.com/office/drawing/2014/main" id="{9B0D7B89-BAF3-446C-89BF-B0F5A749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每次查询都重新发现知识</a:t>
            </a:r>
          </a:p>
        </p:txBody>
      </p:sp>
      <p:sp>
        <p:nvSpPr>
          <p:cNvPr id="32" name="pain-dot-2">
            <a:extLst xmlns:a="http://schemas.openxmlformats.org/drawingml/2006/main">
              <a:ext uri="{FF2B5EF4-FFF2-40B4-BE49-F238E27FC236}">
                <a16:creationId xmlns:a16="http://schemas.microsoft.com/office/drawing/2014/main" id="{EEF98ACA-4970-4A9B-B0CD-2D08A177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14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in-2-title">
            <a:extLst xmlns:a="http://schemas.openxmlformats.org/drawingml/2006/main">
              <a:ext uri="{FF2B5EF4-FFF2-40B4-BE49-F238E27FC236}">
                <a16:creationId xmlns:a16="http://schemas.microsoft.com/office/drawing/2014/main" id="{8598AF0B-79B0-48A4-8871-081290A8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67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跨文档推理弱</a:t>
            </a:r>
          </a:p>
        </p:txBody>
      </p:sp>
      <p:sp>
        <p:nvSpPr>
          <p:cNvPr id="34" name="pain-2-detail">
            <a:extLst xmlns:a="http://schemas.openxmlformats.org/drawingml/2006/main">
              <a:ext uri="{FF2B5EF4-FFF2-40B4-BE49-F238E27FC236}">
                <a16:creationId xmlns:a16="http://schemas.microsoft.com/office/drawing/2014/main" id="{55749A13-FD7E-42EA-BA8A-4CE026B4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片段之间难以自然综合</a:t>
            </a:r>
          </a:p>
        </p:txBody>
      </p:sp>
      <p:sp>
        <p:nvSpPr>
          <p:cNvPr id="35" name="pain-dot-3">
            <a:extLst xmlns:a="http://schemas.openxmlformats.org/drawingml/2006/main">
              <a:ext uri="{FF2B5EF4-FFF2-40B4-BE49-F238E27FC236}">
                <a16:creationId xmlns:a16="http://schemas.microsoft.com/office/drawing/2014/main" id="{CD070437-F324-4637-8504-51155796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05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in-3-title">
            <a:extLst xmlns:a="http://schemas.openxmlformats.org/drawingml/2006/main">
              <a:ext uri="{FF2B5EF4-FFF2-40B4-BE49-F238E27FC236}">
                <a16:creationId xmlns:a16="http://schemas.microsoft.com/office/drawing/2014/main" id="{BD952EAB-1CDB-44CC-AF5F-03E35771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工程链路过重</a:t>
            </a:r>
          </a:p>
        </p:txBody>
      </p:sp>
      <p:sp>
        <p:nvSpPr>
          <p:cNvPr id="37" name="pain-3-detail">
            <a:extLst xmlns:a="http://schemas.openxmlformats.org/drawingml/2006/main">
              <a:ext uri="{FF2B5EF4-FFF2-40B4-BE49-F238E27FC236}">
                <a16:creationId xmlns:a16="http://schemas.microsoft.com/office/drawing/2014/main" id="{4B92B574-7C1B-46DF-9C9E-B88863D3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索引、检索、编排都更复杂</a:t>
            </a:r>
          </a:p>
        </p:txBody>
      </p:sp>
      <p:sp>
        <p:nvSpPr>
          <p:cNvPr id="38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DADFE8B5-A949-424B-B70C-966A48F0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9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01AE9E16-ACB3-45E0-88FE-52881019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40" name="bottom-note">
            <a:extLst xmlns:a="http://schemas.openxmlformats.org/drawingml/2006/main">
              <a:ext uri="{FF2B5EF4-FFF2-40B4-BE49-F238E27FC236}">
                <a16:creationId xmlns:a16="http://schemas.microsoft.com/office/drawing/2014/main" id="{883A4B97-D4FF-4DBC-A2B5-79FF1417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现有 RAG 技术主要提升的是知识访问能力，而不是完整的知识积累能力。LLM Wiki 关注的正是下一步：让大模型成为知识体系的持续构建者和维护者。</a:t>
            </a:r>
          </a:p>
        </p:txBody>
      </p:sp>
    </p:spTree>
    <p:extLst>
      <p:ext uri="{BB962C8B-B14F-4D97-AF65-F5344CB8AC3E}">
        <p14:creationId xmlns:p14="http://schemas.microsoft.com/office/powerpoint/2010/main" val="536318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2026-06-22T17:45:22.8520000Z</dcterms:created>
  <dcterms:modified xsi:type="dcterms:W3CDTF">2026-06-22T17:45:22.8520000Z</dcterms:modified>
</coreProperties>
</file>