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a6c52769dd4b63" /><Relationship Type="http://schemas.openxmlformats.org/officeDocument/2006/relationships/extended-properties" Target="/docProps/app.xml" Id="R0c5bc5447cda4011" /><Relationship Type="http://schemas.openxmlformats.org/officeDocument/2006/relationships/officeDocument" Target="/ppt/presentation.xml" Id="Rb4bb460b94594ae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24e334614c4bb2"/>
  </p:sldMasterIdLst>
  <p:notesMasterIdLst>
    <p:notesMasterId xmlns:r="http://schemas.openxmlformats.org/officeDocument/2006/relationships" r:id="R3ab40b76677a4491"/>
  </p:notesMasterIdLst>
  <p:sldIdLst>
    <p:sldId xmlns:r="http://schemas.openxmlformats.org/officeDocument/2006/relationships" id="256" r:id="R0cfc9919d577429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4ec3ebfb29a4bdc" /><Relationship Type="http://schemas.openxmlformats.org/officeDocument/2006/relationships/slideMaster" Target="/ppt/slideMasters/slideMaster1.xml" Id="R3424e334614c4bb2" /><Relationship Type="http://schemas.openxmlformats.org/officeDocument/2006/relationships/notesMaster" Target="/ppt/notesMasters/notesMaster1.xml" Id="R3ab40b76677a4491" /><Relationship Type="http://schemas.openxmlformats.org/officeDocument/2006/relationships/presProps" Target="/ppt/presProps.xml" Id="Rb71bafa6af2c450b" /><Relationship Type="http://schemas.openxmlformats.org/officeDocument/2006/relationships/tableStyles" Target="/ppt/tableStyles.xml" Id="R50ffcaab0b8e4cf8" /><Relationship Type="http://schemas.openxmlformats.org/officeDocument/2006/relationships/slide" Target="/ppt/slides/slide1.xml" Id="R0cfc9919d57742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a88c0695de4c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7f331d1df34d7e" /><Relationship Type="http://schemas.openxmlformats.org/officeDocument/2006/relationships/notesMaster" Target="/ppt/notesMasters/notesMaster1.xml" Id="R927549f0a78447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eb8d09acef490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7e64f60ca3445df" /><Relationship Type="http://schemas.openxmlformats.org/officeDocument/2006/relationships/slideLayout" Target="/ppt/slideLayouts/slideLayout1.xml" Id="R4515f43548724b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15f43548724b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ddfbbb2284ac1" /><Relationship Type="http://schemas.openxmlformats.org/officeDocument/2006/relationships/notesSlide" Target="/ppt/notesSlides/notesSlide1.xml" Id="R8300044e9a3b490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5B4DB64-A4ED-4811-8C35-D1CD2C24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10 / Web Clipper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3EE6737F-255C-468D-B855-337D8956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342900"/>
            <a:ext cx="2952750" cy="-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1D75D62E-4D6B-4F70-B6A0-8954BFB8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D576332-7D99-45CD-A643-96292979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1816"/>
                </a:solidFill>
              </a:defRPr>
            </a:pPr>
            <a:r>
              <a:rPr sz="2775" b="1">
                <a:solidFill>
                  <a:srgbClr val="101816"/>
                </a:solidFill>
              </a:rPr>
              <a:t>Obsidian Web Clipper：把网页变成 raw 素材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DD9DD93D-21C8-4373-8494-90A25991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从外部网页到本地 Markdown，让 LLM Wiki 有稳定的素材入口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720EF73-6B35-44B8-9EB3-A3E6B466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10 / 20</a:t>
            </a:r>
          </a:p>
        </p:txBody>
      </p:sp>
      <p:sp>
        <p:nvSpPr>
          <p:cNvPr id="7" name="browser-card">
            <a:extLst xmlns:a="http://schemas.openxmlformats.org/drawingml/2006/main">
              <a:ext uri="{FF2B5EF4-FFF2-40B4-BE49-F238E27FC236}">
                <a16:creationId xmlns:a16="http://schemas.microsoft.com/office/drawing/2014/main" id="{1BC97686-0420-4D7D-91E5-0B71694BB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38375"/>
            <a:ext cx="2190750" cy="2000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browser-card-top">
            <a:extLst xmlns:a="http://schemas.openxmlformats.org/drawingml/2006/main">
              <a:ext uri="{FF2B5EF4-FFF2-40B4-BE49-F238E27FC236}">
                <a16:creationId xmlns:a16="http://schemas.microsoft.com/office/drawing/2014/main" id="{14105C4B-F78C-450B-BF9E-854C4997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62225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7D0C2"/>
            </a:solidFill>
            <a:prstDash val="solid"/>
          </a:ln>
        </p:spPr>
      </p:sp>
      <p:sp>
        <p:nvSpPr>
          <p:cNvPr id="9" name="browser-card-dot-0">
            <a:extLst xmlns:a="http://schemas.openxmlformats.org/drawingml/2006/main">
              <a:ext uri="{FF2B5EF4-FFF2-40B4-BE49-F238E27FC236}">
                <a16:creationId xmlns:a16="http://schemas.microsoft.com/office/drawing/2014/main" id="{AA07E619-BAF1-4778-9D99-CC9D7724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62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90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rowser-card-dot-1">
            <a:extLst xmlns:a="http://schemas.openxmlformats.org/drawingml/2006/main">
              <a:ext uri="{FF2B5EF4-FFF2-40B4-BE49-F238E27FC236}">
                <a16:creationId xmlns:a16="http://schemas.microsoft.com/office/drawing/2014/main" id="{D58620A7-C4EE-44C0-B5C0-31D783C1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62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A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rowser-card-dot-2">
            <a:extLst xmlns:a="http://schemas.openxmlformats.org/drawingml/2006/main">
              <a:ext uri="{FF2B5EF4-FFF2-40B4-BE49-F238E27FC236}">
                <a16:creationId xmlns:a16="http://schemas.microsoft.com/office/drawing/2014/main" id="{AD321D03-BD1A-4804-9EF7-C4999367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362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A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rowser-card-title">
            <a:extLst xmlns:a="http://schemas.openxmlformats.org/drawingml/2006/main">
              <a:ext uri="{FF2B5EF4-FFF2-40B4-BE49-F238E27FC236}">
                <a16:creationId xmlns:a16="http://schemas.microsoft.com/office/drawing/2014/main" id="{585AAF01-5BF3-4E25-8DD8-59E09A89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52725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16"/>
                </a:solidFill>
              </a:defRPr>
            </a:pPr>
            <a:r>
              <a:rPr sz="1425" b="1">
                <a:solidFill>
                  <a:srgbClr val="101816"/>
                </a:solidFill>
              </a:rPr>
              <a:t>网页文章</a:t>
            </a:r>
          </a:p>
        </p:txBody>
      </p:sp>
      <p:sp>
        <p:nvSpPr>
          <p:cNvPr id="13" name="browser-card-line-1">
            <a:extLst xmlns:a="http://schemas.openxmlformats.org/drawingml/2006/main">
              <a:ext uri="{FF2B5EF4-FFF2-40B4-BE49-F238E27FC236}">
                <a16:creationId xmlns:a16="http://schemas.microsoft.com/office/drawing/2014/main" id="{55E8E87F-85E8-4EFE-8538-D3069DA59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90875"/>
            <a:ext cx="158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FC6B4"/>
            </a:solidFill>
            <a:prstDash val="solid"/>
          </a:ln>
        </p:spPr>
      </p:sp>
      <p:sp>
        <p:nvSpPr>
          <p:cNvPr id="14" name="browser-card-line-2">
            <a:extLst xmlns:a="http://schemas.openxmlformats.org/drawingml/2006/main">
              <a:ext uri="{FF2B5EF4-FFF2-40B4-BE49-F238E27FC236}">
                <a16:creationId xmlns:a16="http://schemas.microsoft.com/office/drawing/2014/main" id="{6E4842E6-CBBF-4064-A432-2AA47F6E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31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0C2"/>
            </a:solidFill>
            <a:prstDash val="solid"/>
          </a:ln>
        </p:spPr>
      </p:sp>
      <p:sp>
        <p:nvSpPr>
          <p:cNvPr id="15" name="browser-card-line-3">
            <a:extLst xmlns:a="http://schemas.openxmlformats.org/drawingml/2006/main">
              <a:ext uri="{FF2B5EF4-FFF2-40B4-BE49-F238E27FC236}">
                <a16:creationId xmlns:a16="http://schemas.microsoft.com/office/drawing/2014/main" id="{4915883A-7550-4620-8A1C-4F809395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62375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0C2"/>
            </a:solidFill>
            <a:prstDash val="solid"/>
          </a:ln>
        </p:spPr>
      </p:sp>
      <p:sp>
        <p:nvSpPr>
          <p:cNvPr id="16" name="clipper-card">
            <a:extLst xmlns:a="http://schemas.openxmlformats.org/drawingml/2006/main">
              <a:ext uri="{FF2B5EF4-FFF2-40B4-BE49-F238E27FC236}">
                <a16:creationId xmlns:a16="http://schemas.microsoft.com/office/drawing/2014/main" id="{FFE37A5C-200A-4FBA-81D6-A46F9FE9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2412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7" name="clipper-card-accent">
            <a:extLst xmlns:a="http://schemas.openxmlformats.org/drawingml/2006/main">
              <a:ext uri="{FF2B5EF4-FFF2-40B4-BE49-F238E27FC236}">
                <a16:creationId xmlns:a16="http://schemas.microsoft.com/office/drawing/2014/main" id="{2A514AD2-4FA9-49D3-BD5F-77ECDA41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24125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8" name="clipper-card-title">
            <a:extLst xmlns:a="http://schemas.openxmlformats.org/drawingml/2006/main">
              <a:ext uri="{FF2B5EF4-FFF2-40B4-BE49-F238E27FC236}">
                <a16:creationId xmlns:a16="http://schemas.microsoft.com/office/drawing/2014/main" id="{9EA941D1-76F4-481C-B22C-82B0A4F6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76525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Web Clipper</a:t>
            </a:r>
          </a:p>
        </p:txBody>
      </p:sp>
      <p:sp>
        <p:nvSpPr>
          <p:cNvPr id="19" name="clipper-card-detail">
            <a:extLst xmlns:a="http://schemas.openxmlformats.org/drawingml/2006/main">
              <a:ext uri="{FF2B5EF4-FFF2-40B4-BE49-F238E27FC236}">
                <a16:creationId xmlns:a16="http://schemas.microsoft.com/office/drawing/2014/main" id="{1A38C4A2-FBEF-49D8-B57E-38B4CA0A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81325"/>
            <a:ext cx="15049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正文 / 元数据 / 高亮</a:t>
            </a:r>
          </a:p>
          <a:p xmlns:a="http://schemas.openxmlformats.org/drawingml/2006/main">
            <a:pPr algn="l"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阅读器模式清理干扰</a:t>
            </a:r>
          </a:p>
        </p:txBody>
      </p:sp>
      <p:sp>
        <p:nvSpPr>
          <p:cNvPr id="20" name="markdown-file">
            <a:extLst xmlns:a="http://schemas.openxmlformats.org/drawingml/2006/main">
              <a:ext uri="{FF2B5EF4-FFF2-40B4-BE49-F238E27FC236}">
                <a16:creationId xmlns:a16="http://schemas.microsoft.com/office/drawing/2014/main" id="{75134F67-BE27-41FA-8170-6B77B556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86000"/>
            <a:ext cx="1809750" cy="20955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1" name="markdown-file-label">
            <a:extLst xmlns:a="http://schemas.openxmlformats.org/drawingml/2006/main">
              <a:ext uri="{FF2B5EF4-FFF2-40B4-BE49-F238E27FC236}">
                <a16:creationId xmlns:a16="http://schemas.microsoft.com/office/drawing/2014/main" id="{55327B62-67A9-4179-AE3A-23699B91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574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.md</a:t>
            </a:r>
          </a:p>
        </p:txBody>
      </p:sp>
      <p:sp>
        <p:nvSpPr>
          <p:cNvPr id="22" name="markdown-file-body">
            <a:extLst xmlns:a="http://schemas.openxmlformats.org/drawingml/2006/main">
              <a:ext uri="{FF2B5EF4-FFF2-40B4-BE49-F238E27FC236}">
                <a16:creationId xmlns:a16="http://schemas.microsoft.com/office/drawing/2014/main" id="{E7879D0D-54CA-4B3A-AE21-B0E4E12A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38450"/>
            <a:ext cx="14668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title: {{title}}</a:t>
            </a:r>
          </a:p>
          <a:p xmlns:a="http://schemas.openxmlformats.org/drawingml/2006/main">
            <a:pPr algn="l"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url: {{url}}</a:t>
            </a:r>
          </a:p>
          <a:p xmlns:a="http://schemas.openxmlformats.org/drawingml/2006/main">
            <a:pPr algn="l"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author: {{author}}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{{content}}</a:t>
            </a:r>
          </a:p>
        </p:txBody>
      </p:sp>
      <p:sp>
        <p:nvSpPr>
          <p:cNvPr id="23" name="raw-card">
            <a:extLst xmlns:a="http://schemas.openxmlformats.org/drawingml/2006/main">
              <a:ext uri="{FF2B5EF4-FFF2-40B4-BE49-F238E27FC236}">
                <a16:creationId xmlns:a16="http://schemas.microsoft.com/office/drawing/2014/main" id="{074F2B13-6815-4D50-9723-98A9C46F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62250"/>
            <a:ext cx="1524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4" name="raw-card-accent">
            <a:extLst xmlns:a="http://schemas.openxmlformats.org/drawingml/2006/main">
              <a:ext uri="{FF2B5EF4-FFF2-40B4-BE49-F238E27FC236}">
                <a16:creationId xmlns:a16="http://schemas.microsoft.com/office/drawing/2014/main" id="{205AB862-AF96-42F9-962B-9025056C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6225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25" name="raw-card-title">
            <a:extLst xmlns:a="http://schemas.openxmlformats.org/drawingml/2006/main">
              <a:ext uri="{FF2B5EF4-FFF2-40B4-BE49-F238E27FC236}">
                <a16:creationId xmlns:a16="http://schemas.microsoft.com/office/drawing/2014/main" id="{7BD405E2-5129-46D0-9FC1-48914AC3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9146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raw/</a:t>
            </a:r>
          </a:p>
        </p:txBody>
      </p:sp>
      <p:sp>
        <p:nvSpPr>
          <p:cNvPr id="26" name="raw-card-detail">
            <a:extLst xmlns:a="http://schemas.openxmlformats.org/drawingml/2006/main">
              <a:ext uri="{FF2B5EF4-FFF2-40B4-BE49-F238E27FC236}">
                <a16:creationId xmlns:a16="http://schemas.microsoft.com/office/drawing/2014/main" id="{43D9A1FD-E3CE-4F89-AEA1-AA0F77C9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21945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网页内容以 Markdown 形式保存到本地知识库</a:t>
            </a:r>
          </a:p>
        </p:txBody>
      </p:sp>
      <p:cxnSp>
        <p:nvCxnSpPr>
          <p:cNvPr id="71" name=""/>
          <p:cNvCxnSpPr>
            <a:stCxn xmlns:a="http://schemas.openxmlformats.org/drawingml/2006/main" id="7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3048000" y="32385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72" name=""/>
          <p:cNvCxnSpPr>
            <a:stCxn xmlns:a="http://schemas.openxmlformats.org/drawingml/2006/main" id="16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905500" y="3238500"/>
            <a:ext cx="1143000" cy="9525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73" name=""/>
          <p:cNvCxnSpPr>
            <a:stCxn xmlns:a="http://schemas.openxmlformats.org/drawingml/2006/main" id="20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8858250" y="33337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30" name="feature-0">
            <a:extLst xmlns:a="http://schemas.openxmlformats.org/drawingml/2006/main">
              <a:ext uri="{FF2B5EF4-FFF2-40B4-BE49-F238E27FC236}">
                <a16:creationId xmlns:a16="http://schemas.microsoft.com/office/drawing/2014/main" id="{EC1EC263-36DE-45BA-A3B6-E288B2C7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619625"/>
            <a:ext cx="2571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1" name="feature-0-accent">
            <a:extLst xmlns:a="http://schemas.openxmlformats.org/drawingml/2006/main">
              <a:ext uri="{FF2B5EF4-FFF2-40B4-BE49-F238E27FC236}">
                <a16:creationId xmlns:a16="http://schemas.microsoft.com/office/drawing/2014/main" id="{B8179003-F04B-4D9E-A8FE-703EC125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619625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2" name="feature-0-title">
            <a:extLst xmlns:a="http://schemas.openxmlformats.org/drawingml/2006/main">
              <a:ext uri="{FF2B5EF4-FFF2-40B4-BE49-F238E27FC236}">
                <a16:creationId xmlns:a16="http://schemas.microsoft.com/office/drawing/2014/main" id="{3609D545-2DD6-470B-A9D8-CF6D2349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772025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16"/>
                </a:solidFill>
              </a:defRPr>
            </a:pPr>
            <a:r>
              <a:rPr sz="1275" b="1">
                <a:solidFill>
                  <a:srgbClr val="101816"/>
                </a:solidFill>
              </a:rPr>
              <a:t>一键剪藏</a:t>
            </a:r>
          </a:p>
        </p:txBody>
      </p:sp>
      <p:sp>
        <p:nvSpPr>
          <p:cNvPr id="33" name="feature-0-detail">
            <a:extLst xmlns:a="http://schemas.openxmlformats.org/drawingml/2006/main">
              <a:ext uri="{FF2B5EF4-FFF2-40B4-BE49-F238E27FC236}">
                <a16:creationId xmlns:a16="http://schemas.microsoft.com/office/drawing/2014/main" id="{3EE344B7-3759-4A4F-BB9E-4304361E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5076825"/>
            <a:ext cx="22669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D4A45"/>
                </a:solidFill>
              </a:defRPr>
            </a:pPr>
            <a:r>
              <a:rPr sz="975" b="0">
                <a:solidFill>
                  <a:srgbClr val="3D4A45"/>
                </a:solidFill>
              </a:rPr>
              <a:t>正文和标题、作者、发布日期等元数据</a:t>
            </a:r>
          </a:p>
        </p:txBody>
      </p:sp>
      <p:sp>
        <p:nvSpPr>
          <p:cNvPr id="34" name="feature-1">
            <a:extLst xmlns:a="http://schemas.openxmlformats.org/drawingml/2006/main">
              <a:ext uri="{FF2B5EF4-FFF2-40B4-BE49-F238E27FC236}">
                <a16:creationId xmlns:a16="http://schemas.microsoft.com/office/drawing/2014/main" id="{E6CF76E7-790E-4C09-A53A-2E709D50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19625"/>
            <a:ext cx="2571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5" name="feature-1-accent">
            <a:extLst xmlns:a="http://schemas.openxmlformats.org/drawingml/2006/main">
              <a:ext uri="{FF2B5EF4-FFF2-40B4-BE49-F238E27FC236}">
                <a16:creationId xmlns:a16="http://schemas.microsoft.com/office/drawing/2014/main" id="{4D9BF4DF-B565-430E-8A99-52087D4F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19625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36" name="feature-1-title">
            <a:extLst xmlns:a="http://schemas.openxmlformats.org/drawingml/2006/main">
              <a:ext uri="{FF2B5EF4-FFF2-40B4-BE49-F238E27FC236}">
                <a16:creationId xmlns:a16="http://schemas.microsoft.com/office/drawing/2014/main" id="{A35615A7-7E4B-4BA0-84F6-8805EF4A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772025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16"/>
                </a:solidFill>
              </a:defRPr>
            </a:pPr>
            <a:r>
              <a:rPr sz="1275" b="1">
                <a:solidFill>
                  <a:srgbClr val="101816"/>
                </a:solidFill>
              </a:rPr>
              <a:t>高亮保存</a:t>
            </a:r>
          </a:p>
        </p:txBody>
      </p:sp>
      <p:sp>
        <p:nvSpPr>
          <p:cNvPr id="37" name="feature-1-detail">
            <a:extLst xmlns:a="http://schemas.openxmlformats.org/drawingml/2006/main">
              <a:ext uri="{FF2B5EF4-FFF2-40B4-BE49-F238E27FC236}">
                <a16:creationId xmlns:a16="http://schemas.microsoft.com/office/drawing/2014/main" id="{BEF1068E-B36A-4511-84DB-AC7AFB71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076825"/>
            <a:ext cx="22669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D4A45"/>
                </a:solidFill>
              </a:defRPr>
            </a:pPr>
            <a:r>
              <a:rPr sz="975" b="0">
                <a:solidFill>
                  <a:srgbClr val="3D4A45"/>
                </a:solidFill>
              </a:rPr>
              <a:t>保留关键段落或选中的页面元素</a:t>
            </a:r>
          </a:p>
        </p:txBody>
      </p:sp>
      <p:sp>
        <p:nvSpPr>
          <p:cNvPr id="38" name="feature-2">
            <a:extLst xmlns:a="http://schemas.openxmlformats.org/drawingml/2006/main">
              <a:ext uri="{FF2B5EF4-FFF2-40B4-BE49-F238E27FC236}">
                <a16:creationId xmlns:a16="http://schemas.microsoft.com/office/drawing/2014/main" id="{B09D4348-73DE-4882-AA29-57A56A8E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619625"/>
            <a:ext cx="2571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9" name="feature-2-accent">
            <a:extLst xmlns:a="http://schemas.openxmlformats.org/drawingml/2006/main">
              <a:ext uri="{FF2B5EF4-FFF2-40B4-BE49-F238E27FC236}">
                <a16:creationId xmlns:a16="http://schemas.microsoft.com/office/drawing/2014/main" id="{13EA3E50-EE30-447B-AEA0-3FA5E99E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619625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0" name="feature-2-title">
            <a:extLst xmlns:a="http://schemas.openxmlformats.org/drawingml/2006/main">
              <a:ext uri="{FF2B5EF4-FFF2-40B4-BE49-F238E27FC236}">
                <a16:creationId xmlns:a16="http://schemas.microsoft.com/office/drawing/2014/main" id="{C0470710-AD56-47CF-B3E7-423383A2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772025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16"/>
                </a:solidFill>
              </a:defRPr>
            </a:pPr>
            <a:r>
              <a:rPr sz="1275" b="1">
                <a:solidFill>
                  <a:srgbClr val="101816"/>
                </a:solidFill>
              </a:rPr>
              <a:t>隐私可控</a:t>
            </a:r>
          </a:p>
        </p:txBody>
      </p:sp>
      <p:sp>
        <p:nvSpPr>
          <p:cNvPr id="41" name="feature-2-detail">
            <a:extLst xmlns:a="http://schemas.openxmlformats.org/drawingml/2006/main">
              <a:ext uri="{FF2B5EF4-FFF2-40B4-BE49-F238E27FC236}">
                <a16:creationId xmlns:a16="http://schemas.microsoft.com/office/drawing/2014/main" id="{49056515-2767-4407-886B-2ACAC606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076825"/>
            <a:ext cx="22669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D4A45"/>
                </a:solidFill>
              </a:defRPr>
            </a:pPr>
            <a:r>
              <a:rPr sz="975" b="0">
                <a:solidFill>
                  <a:srgbClr val="3D4A45"/>
                </a:solidFill>
              </a:rPr>
              <a:t>内容进入本地 Vault，不依赖平台数据锁定</a:t>
            </a:r>
          </a:p>
        </p:txBody>
      </p:sp>
      <p:sp>
        <p:nvSpPr>
          <p:cNvPr id="42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64C2FC5B-C3A7-459F-9198-76F5FA4D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8858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43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100FB3CC-BE3F-4D48-A88F-44975C3D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885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44" name="bottom-note">
            <a:extLst xmlns:a="http://schemas.openxmlformats.org/drawingml/2006/main">
              <a:ext uri="{FF2B5EF4-FFF2-40B4-BE49-F238E27FC236}">
                <a16:creationId xmlns:a16="http://schemas.microsoft.com/office/drawing/2014/main" id="{E0017FA9-BFE7-4D17-A775-11420FF6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91200"/>
            <a:ext cx="847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Web Clipper 在 LLM Wiki 中更像原材料采集器：它把网页、元数据、高亮和选择内容整理成 Markdown，并放入 raw 层等待后续 Ingest。</a:t>
            </a:r>
          </a:p>
        </p:txBody>
      </p:sp>
    </p:spTree>
    <p:extLst>
      <p:ext uri="{BB962C8B-B14F-4D97-AF65-F5344CB8AC3E}">
        <p14:creationId xmlns:p14="http://schemas.microsoft.com/office/powerpoint/2010/main" val="7471999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2026-06-22T17:59:05.5040000Z</dcterms:created>
  <dcterms:modified xsi:type="dcterms:W3CDTF">2026-06-22T17:59:05.5040000Z</dcterms:modified>
</coreProperties>
</file>