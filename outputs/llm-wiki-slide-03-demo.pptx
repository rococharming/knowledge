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47175f62e44cd2" /><Relationship Type="http://schemas.openxmlformats.org/officeDocument/2006/relationships/extended-properties" Target="/docProps/app.xml" Id="R2532d2e0ea15478c" /><Relationship Type="http://schemas.openxmlformats.org/officeDocument/2006/relationships/officeDocument" Target="/ppt/presentation.xml" Id="R120241a12d1849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75ec7dee2e4ce5"/>
  </p:sldMasterIdLst>
  <p:notesMasterIdLst>
    <p:notesMasterId xmlns:r="http://schemas.openxmlformats.org/officeDocument/2006/relationships" r:id="Rcd6b177e96024510"/>
  </p:notesMasterIdLst>
  <p:sldIdLst>
    <p:sldId xmlns:r="http://schemas.openxmlformats.org/officeDocument/2006/relationships" id="256" r:id="R221242319aee423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c38a2eed644498" /><Relationship Type="http://schemas.openxmlformats.org/officeDocument/2006/relationships/slideMaster" Target="/ppt/slideMasters/slideMaster1.xml" Id="R1975ec7dee2e4ce5" /><Relationship Type="http://schemas.openxmlformats.org/officeDocument/2006/relationships/notesMaster" Target="/ppt/notesMasters/notesMaster1.xml" Id="Rcd6b177e96024510" /><Relationship Type="http://schemas.openxmlformats.org/officeDocument/2006/relationships/presProps" Target="/ppt/presProps.xml" Id="Re3065b3a85ab4b5f" /><Relationship Type="http://schemas.openxmlformats.org/officeDocument/2006/relationships/tableStyles" Target="/ppt/tableStyles.xml" Id="R4251267abda54f28" /><Relationship Type="http://schemas.openxmlformats.org/officeDocument/2006/relationships/slide" Target="/ppt/slides/slide1.xml" Id="R221242319aee42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1cc348a81c48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94222c28b9490d" /><Relationship Type="http://schemas.openxmlformats.org/officeDocument/2006/relationships/notesMaster" Target="/ppt/notesMasters/notesMaster1.xml" Id="R770f5663d53a4b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a6f1ec95f140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d4a22d7d54420c" /><Relationship Type="http://schemas.openxmlformats.org/officeDocument/2006/relationships/slideLayout" Target="/ppt/slideLayouts/slideLayout1.xml" Id="R0ed6220eb72d4f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d6220eb72d4f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ffb9d21a246cf" /><Relationship Type="http://schemas.openxmlformats.org/officeDocument/2006/relationships/notesSlide" Target="/ppt/notesSlides/notesSlide1.xml" Id="R41c00522df1541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FFA784C-AD8B-499E-8DEA-9900B019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03 / GraphRAG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DDF451D9-6486-40E3-927B-D24DE166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6D4F1CA3-845A-4DA7-BECB-2E2E1079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D7867B-DD5C-4961-A1EA-3D4CBF4C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GraphRAG：让知识片段之间有关系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474DF01-5F20-4230-A745-0628E5A8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从文本块相似度，走向实体、属性和关系的图结构</a:t>
            </a:r>
          </a:p>
        </p:txBody>
      </p:sp>
      <p:sp>
        <p:nvSpPr>
          <p:cNvPr id="6" name="left-label">
            <a:extLst xmlns:a="http://schemas.openxmlformats.org/drawingml/2006/main">
              <a:ext uri="{FF2B5EF4-FFF2-40B4-BE49-F238E27FC236}">
                <a16:creationId xmlns:a16="http://schemas.microsoft.com/office/drawing/2014/main" id="{872BA38F-B6C6-47B7-8481-F4BE2697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383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传统 RAG</a:t>
            </a:r>
          </a:p>
        </p:txBody>
      </p:sp>
      <p:sp>
        <p:nvSpPr>
          <p:cNvPr id="7" name="chunk-1">
            <a:extLst xmlns:a="http://schemas.openxmlformats.org/drawingml/2006/main">
              <a:ext uri="{FF2B5EF4-FFF2-40B4-BE49-F238E27FC236}">
                <a16:creationId xmlns:a16="http://schemas.microsoft.com/office/drawing/2014/main" id="{AD3D9CE9-76C5-4CEC-8308-4629D1C4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42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chunk-1-accent">
            <a:extLst xmlns:a="http://schemas.openxmlformats.org/drawingml/2006/main">
              <a:ext uri="{FF2B5EF4-FFF2-40B4-BE49-F238E27FC236}">
                <a16:creationId xmlns:a16="http://schemas.microsoft.com/office/drawing/2014/main" id="{51224B82-A7F4-4CE7-8FD4-C90A2232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9" name="chunk-1-title">
            <a:extLst xmlns:a="http://schemas.openxmlformats.org/drawingml/2006/main">
              <a:ext uri="{FF2B5EF4-FFF2-40B4-BE49-F238E27FC236}">
                <a16:creationId xmlns:a16="http://schemas.microsoft.com/office/drawing/2014/main" id="{9CBD3C79-70BF-4BDD-96E9-A8E10045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860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文本片段 A</a:t>
            </a:r>
          </a:p>
        </p:txBody>
      </p:sp>
      <p:sp>
        <p:nvSpPr>
          <p:cNvPr id="10" name="chunk-1-detail">
            <a:extLst xmlns:a="http://schemas.openxmlformats.org/drawingml/2006/main">
              <a:ext uri="{FF2B5EF4-FFF2-40B4-BE49-F238E27FC236}">
                <a16:creationId xmlns:a16="http://schemas.microsoft.com/office/drawing/2014/main" id="{A71BD927-5C68-47B3-81B9-C860DB36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提出者 / 背景</a:t>
            </a:r>
          </a:p>
        </p:txBody>
      </p:sp>
      <p:sp>
        <p:nvSpPr>
          <p:cNvPr id="11" name="chunk-2">
            <a:extLst xmlns:a="http://schemas.openxmlformats.org/drawingml/2006/main">
              <a:ext uri="{FF2B5EF4-FFF2-40B4-BE49-F238E27FC236}">
                <a16:creationId xmlns:a16="http://schemas.microsoft.com/office/drawing/2014/main" id="{7CB7A867-E131-4F7E-BDB9-F5D10E52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42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chunk-2-accent">
            <a:extLst xmlns:a="http://schemas.openxmlformats.org/drawingml/2006/main">
              <a:ext uri="{FF2B5EF4-FFF2-40B4-BE49-F238E27FC236}">
                <a16:creationId xmlns:a16="http://schemas.microsoft.com/office/drawing/2014/main" id="{7E647324-9C07-49DA-B246-105629BD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3" name="chunk-2-title">
            <a:extLst xmlns:a="http://schemas.openxmlformats.org/drawingml/2006/main">
              <a:ext uri="{FF2B5EF4-FFF2-40B4-BE49-F238E27FC236}">
                <a16:creationId xmlns:a16="http://schemas.microsoft.com/office/drawing/2014/main" id="{FBCD6CC6-83C9-482D-8815-F954CB05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337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文本片段 B</a:t>
            </a:r>
          </a:p>
        </p:txBody>
      </p:sp>
      <p:sp>
        <p:nvSpPr>
          <p:cNvPr id="14" name="chunk-2-detail">
            <a:extLst xmlns:a="http://schemas.openxmlformats.org/drawingml/2006/main">
              <a:ext uri="{FF2B5EF4-FFF2-40B4-BE49-F238E27FC236}">
                <a16:creationId xmlns:a16="http://schemas.microsoft.com/office/drawing/2014/main" id="{0CE7976E-8BB0-41E4-907E-C6462FAC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3857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核心方法</a:t>
            </a:r>
          </a:p>
        </p:txBody>
      </p:sp>
      <p:sp>
        <p:nvSpPr>
          <p:cNvPr id="15" name="chunk-3">
            <a:extLst xmlns:a="http://schemas.openxmlformats.org/drawingml/2006/main">
              <a:ext uri="{FF2B5EF4-FFF2-40B4-BE49-F238E27FC236}">
                <a16:creationId xmlns:a16="http://schemas.microsoft.com/office/drawing/2014/main" id="{17C93BB1-99A3-4A19-8C6A-0942DFA9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28875"/>
            <a:ext cx="142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chunk-3-accent">
            <a:extLst xmlns:a="http://schemas.openxmlformats.org/drawingml/2006/main">
              <a:ext uri="{FF2B5EF4-FFF2-40B4-BE49-F238E27FC236}">
                <a16:creationId xmlns:a16="http://schemas.microsoft.com/office/drawing/2014/main" id="{7C9F0618-4DE3-4D4A-A0ED-9D384074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288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chunk-3-title">
            <a:extLst xmlns:a="http://schemas.openxmlformats.org/drawingml/2006/main">
              <a:ext uri="{FF2B5EF4-FFF2-40B4-BE49-F238E27FC236}">
                <a16:creationId xmlns:a16="http://schemas.microsoft.com/office/drawing/2014/main" id="{662B7385-DB3E-41C0-B167-EBE4DE07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812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文本片段 C</a:t>
            </a:r>
          </a:p>
        </p:txBody>
      </p:sp>
      <p:sp>
        <p:nvSpPr>
          <p:cNvPr id="18" name="chunk-3-detail">
            <a:extLst xmlns:a="http://schemas.openxmlformats.org/drawingml/2006/main">
              <a:ext uri="{FF2B5EF4-FFF2-40B4-BE49-F238E27FC236}">
                <a16:creationId xmlns:a16="http://schemas.microsoft.com/office/drawing/2014/main" id="{F303B25B-7E71-4318-AB22-58E05EAF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8607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应用场景 / 局限</a:t>
            </a:r>
          </a:p>
        </p:txBody>
      </p:sp>
      <p:sp>
        <p:nvSpPr>
          <p:cNvPr id="19" name="fragment-dashed-1">
            <a:extLst xmlns:a="http://schemas.openxmlformats.org/drawingml/2006/main">
              <a:ext uri="{FF2B5EF4-FFF2-40B4-BE49-F238E27FC236}">
                <a16:creationId xmlns:a16="http://schemas.microsoft.com/office/drawing/2014/main" id="{8791945A-1DA6-4AC5-BE50-5CCEB872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0"/>
            <a:ext cx="9048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8B0A0"/>
            </a:solidFill>
            <a:prstDash val="dash"/>
          </a:ln>
        </p:spPr>
      </p:sp>
      <p:sp>
        <p:nvSpPr>
          <p:cNvPr id="20" name="fragment-dashed-2">
            <a:extLst xmlns:a="http://schemas.openxmlformats.org/drawingml/2006/main">
              <a:ext uri="{FF2B5EF4-FFF2-40B4-BE49-F238E27FC236}">
                <a16:creationId xmlns:a16="http://schemas.microsoft.com/office/drawing/2014/main" id="{E8AC832A-3143-4B53-8D98-0FE3BDF3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62375"/>
            <a:ext cx="952500" cy="-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8B0A0"/>
            </a:solidFill>
            <a:prstDash val="dash"/>
          </a:ln>
        </p:spPr>
      </p:sp>
      <p:sp>
        <p:nvSpPr>
          <p:cNvPr id="21" name="extractor">
            <a:extLst xmlns:a="http://schemas.openxmlformats.org/drawingml/2006/main">
              <a:ext uri="{FF2B5EF4-FFF2-40B4-BE49-F238E27FC236}">
                <a16:creationId xmlns:a16="http://schemas.microsoft.com/office/drawing/2014/main" id="{2AE61BA7-D31A-4CDA-A98C-293A4572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1714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extractor-accent">
            <a:extLst xmlns:a="http://schemas.openxmlformats.org/drawingml/2006/main">
              <a:ext uri="{FF2B5EF4-FFF2-40B4-BE49-F238E27FC236}">
                <a16:creationId xmlns:a16="http://schemas.microsoft.com/office/drawing/2014/main" id="{20355151-E345-46DF-9AEF-54A1753A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3" name="extractor-title">
            <a:extLst xmlns:a="http://schemas.openxmlformats.org/drawingml/2006/main">
              <a:ext uri="{FF2B5EF4-FFF2-40B4-BE49-F238E27FC236}">
                <a16:creationId xmlns:a16="http://schemas.microsoft.com/office/drawing/2014/main" id="{A4AB185A-4718-44B6-8AB9-F361A198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337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信息抽取</a:t>
            </a:r>
          </a:p>
        </p:txBody>
      </p:sp>
      <p:sp>
        <p:nvSpPr>
          <p:cNvPr id="24" name="extractor-detail">
            <a:extLst xmlns:a="http://schemas.openxmlformats.org/drawingml/2006/main">
              <a:ext uri="{FF2B5EF4-FFF2-40B4-BE49-F238E27FC236}">
                <a16:creationId xmlns:a16="http://schemas.microsoft.com/office/drawing/2014/main" id="{ACCFE4A3-7BEB-4B39-B6DD-1018CC9F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140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识别实体、属性、关系</a:t>
            </a:r>
          </a:p>
        </p:txBody>
      </p:sp>
      <p:cxnSp>
        <p:nvCxnSpPr>
          <p:cNvPr id="73" name=""/>
          <p:cNvCxnSpPr>
            <a:stCxn xmlns:a="http://schemas.openxmlformats.org/drawingml/2006/main" id="1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467100" y="2867025"/>
            <a:ext cx="83820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32EB4E00-C184-4240-B957-516DFE22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GraphRAG</a:t>
            </a:r>
          </a:p>
        </p:txBody>
      </p:sp>
      <p:sp>
        <p:nvSpPr>
          <p:cNvPr id="27" name="node-tech">
            <a:extLst xmlns:a="http://schemas.openxmlformats.org/drawingml/2006/main">
              <a:ext uri="{FF2B5EF4-FFF2-40B4-BE49-F238E27FC236}">
                <a16:creationId xmlns:a16="http://schemas.microsoft.com/office/drawing/2014/main" id="{19B4CA95-4D49-43F3-BB1C-DFDA164A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819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E5B3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某项技术</a:t>
            </a:r>
          </a:p>
        </p:txBody>
      </p:sp>
      <p:sp>
        <p:nvSpPr>
          <p:cNvPr id="28" name="node-author">
            <a:extLst xmlns:a="http://schemas.openxmlformats.org/drawingml/2006/main">
              <a:ext uri="{FF2B5EF4-FFF2-40B4-BE49-F238E27FC236}">
                <a16:creationId xmlns:a16="http://schemas.microsoft.com/office/drawing/2014/main" id="{D31D030A-28C8-4275-87B8-DFCC68DD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47900"/>
            <a:ext cx="742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提出者</a:t>
            </a:r>
          </a:p>
        </p:txBody>
      </p:sp>
      <p:sp>
        <p:nvSpPr>
          <p:cNvPr id="29" name="node-method">
            <a:extLst xmlns:a="http://schemas.openxmlformats.org/drawingml/2006/main">
              <a:ext uri="{FF2B5EF4-FFF2-40B4-BE49-F238E27FC236}">
                <a16:creationId xmlns:a16="http://schemas.microsoft.com/office/drawing/2014/main" id="{9CEE838B-8563-4698-9585-22FB6EAB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8191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核心方法</a:t>
            </a:r>
          </a:p>
        </p:txBody>
      </p:sp>
      <p:sp>
        <p:nvSpPr>
          <p:cNvPr id="30" name="node-app">
            <a:extLst xmlns:a="http://schemas.openxmlformats.org/drawingml/2006/main">
              <a:ext uri="{FF2B5EF4-FFF2-40B4-BE49-F238E27FC236}">
                <a16:creationId xmlns:a16="http://schemas.microsoft.com/office/drawing/2014/main" id="{F589D3A0-7B31-4CCA-8C17-E7E9A854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00500"/>
            <a:ext cx="8191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应用场景</a:t>
            </a:r>
          </a:p>
        </p:txBody>
      </p:sp>
      <p:sp>
        <p:nvSpPr>
          <p:cNvPr id="31" name="node-limit">
            <a:extLst xmlns:a="http://schemas.openxmlformats.org/drawingml/2006/main">
              <a:ext uri="{FF2B5EF4-FFF2-40B4-BE49-F238E27FC236}">
                <a16:creationId xmlns:a16="http://schemas.microsoft.com/office/drawing/2014/main" id="{55C7FD8D-48EF-463C-8C4E-AF7E838B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742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局限</a:t>
            </a:r>
          </a:p>
        </p:txBody>
      </p:sp>
      <p:sp>
        <p:nvSpPr>
          <p:cNvPr id="32" name="node-community">
            <a:extLst xmlns:a="http://schemas.openxmlformats.org/drawingml/2006/main">
              <a:ext uri="{FF2B5EF4-FFF2-40B4-BE49-F238E27FC236}">
                <a16:creationId xmlns:a16="http://schemas.microsoft.com/office/drawing/2014/main" id="{04826723-C33C-45C6-866F-096FC919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1104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图社区摘要</a:t>
            </a:r>
          </a:p>
        </p:txBody>
      </p:sp>
      <p:cxnSp>
        <p:nvCxnSpPr>
          <p:cNvPr id="81" name=""/>
          <p:cNvCxnSpPr>
            <a:stCxn xmlns:a="http://schemas.openxmlformats.org/drawingml/2006/main" id="28" idx="2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267575" y="2762250"/>
            <a:ext cx="542925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82" name=""/>
          <p:cNvCxnSpPr>
            <a:stCxn xmlns:a="http://schemas.openxmlformats.org/drawingml/2006/main" id="29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8629650" y="2495550"/>
            <a:ext cx="41910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83" name=""/>
          <p:cNvCxnSpPr>
            <a:stCxn xmlns:a="http://schemas.openxmlformats.org/drawingml/2006/main" id="30" idx="3"/>
            <a:endCxn xmlns:a="http://schemas.openxmlformats.org/drawingml/2006/main" id="27" idx="2"/>
          </p:cNvCxnSpPr>
          <p:nvPr/>
        </p:nvCxnSpPr>
        <p:spPr>
          <a:xfrm xmlns:a="http://schemas.openxmlformats.org/drawingml/2006/main" flipV="1">
            <a:off x="7658100" y="3505200"/>
            <a:ext cx="561975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84" name=""/>
          <p:cNvCxnSpPr>
            <a:stCxn xmlns:a="http://schemas.openxmlformats.org/drawingml/2006/main" id="31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 flipV="1">
            <a:off x="8629650" y="3228975"/>
            <a:ext cx="51435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85" name=""/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658100" y="4257675"/>
            <a:ext cx="43815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86" name=""/>
          <p:cNvCxnSpPr>
            <a:stCxn xmlns:a="http://schemas.openxmlformats.org/drawingml/2006/main" id="31" idx="2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9201150" y="4514850"/>
            <a:ext cx="314325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87" name=""/>
          <p:cNvCxnSpPr>
            <a:stCxn xmlns:a="http://schemas.openxmlformats.org/drawingml/2006/main" id="27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8220075" y="3505200"/>
            <a:ext cx="428625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88" name=""/>
          <p:cNvCxnSpPr>
            <a:stCxn xmlns:a="http://schemas.openxmlformats.org/drawingml/2006/main" id="21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V="1">
            <a:off x="6019800" y="2505075"/>
            <a:ext cx="87630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41" name="graphrag-summary-box">
            <a:extLst xmlns:a="http://schemas.openxmlformats.org/drawingml/2006/main">
              <a:ext uri="{FF2B5EF4-FFF2-40B4-BE49-F238E27FC236}">
                <a16:creationId xmlns:a16="http://schemas.microsoft.com/office/drawing/2014/main" id="{4BBAD7E1-F6D0-45DE-A7C6-611D2964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33625"/>
            <a:ext cx="1428750" cy="247650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" name="graphrag-summary-title">
            <a:extLst xmlns:a="http://schemas.openxmlformats.org/drawingml/2006/main">
              <a:ext uri="{FF2B5EF4-FFF2-40B4-BE49-F238E27FC236}">
                <a16:creationId xmlns:a16="http://schemas.microsoft.com/office/drawing/2014/main" id="{C2911C2D-B7AD-453E-86F8-564D506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5717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改进点</a:t>
            </a:r>
          </a:p>
        </p:txBody>
      </p:sp>
      <p:sp>
        <p:nvSpPr>
          <p:cNvPr id="43" name="graphrag-summary-body">
            <a:extLst xmlns:a="http://schemas.openxmlformats.org/drawingml/2006/main">
              <a:ext uri="{FF2B5EF4-FFF2-40B4-BE49-F238E27FC236}">
                <a16:creationId xmlns:a16="http://schemas.microsoft.com/office/drawing/2014/main" id="{5A954486-FF84-435A-91A0-D47D042A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990850"/>
            <a:ext cx="95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检索对象不再只是文本片段。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还可以是实体、关系、图社区和摘要。</a:t>
            </a:r>
          </a:p>
        </p:txBody>
      </p:sp>
      <p:sp>
        <p:nvSpPr>
          <p:cNvPr id="44" name="graphrag-summary-key">
            <a:extLst xmlns:a="http://schemas.openxmlformats.org/drawingml/2006/main">
              <a:ext uri="{FF2B5EF4-FFF2-40B4-BE49-F238E27FC236}">
                <a16:creationId xmlns:a16="http://schemas.microsoft.com/office/drawing/2014/main" id="{6E544621-E822-4218-9B1B-8D45BD85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481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解决：知识如何建立关联</a:t>
            </a:r>
          </a:p>
        </p:txBody>
      </p:sp>
      <p:sp>
        <p:nvSpPr>
          <p:cNvPr id="45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FF6BF87F-78AC-4E35-AA9A-0675B391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6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2FF3EA1A-FC8C-46AB-BD06-F4793F9D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47" name="bottom-note">
            <a:extLst xmlns:a="http://schemas.openxmlformats.org/drawingml/2006/main">
              <a:ext uri="{FF2B5EF4-FFF2-40B4-BE49-F238E27FC236}">
                <a16:creationId xmlns:a16="http://schemas.microsoft.com/office/drawing/2014/main" id="{9AAD47EC-B3A3-4D38-936B-09952B59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GraphRAG 的关键变化，是不再只把资料看成孤立文本块，而是抽取实体、属性和关系，把多篇文档里分散的信息连接成一张知识网络。</a:t>
            </a:r>
          </a:p>
        </p:txBody>
      </p:sp>
      <p:sp>
        <p:nvSpPr>
          <p:cNvPr id="4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45C8424-9722-42CB-A21B-9960D9EC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03 / 20</a:t>
            </a:r>
          </a:p>
        </p:txBody>
      </p:sp>
    </p:spTree>
    <p:extLst>
      <p:ext uri="{BB962C8B-B14F-4D97-AF65-F5344CB8AC3E}">
        <p14:creationId xmlns:p14="http://schemas.microsoft.com/office/powerpoint/2010/main" val="1721230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2026-06-22T17:37:20.4860000Z</dcterms:created>
  <dcterms:modified xsi:type="dcterms:W3CDTF">2026-06-22T17:37:20.4860000Z</dcterms:modified>
</coreProperties>
</file>