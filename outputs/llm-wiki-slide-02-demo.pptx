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8c42fdff994151" /><Relationship Type="http://schemas.openxmlformats.org/officeDocument/2006/relationships/extended-properties" Target="/docProps/app.xml" Id="Ra34e08a93ae04aad" /><Relationship Type="http://schemas.openxmlformats.org/officeDocument/2006/relationships/officeDocument" Target="/ppt/presentation.xml" Id="Rdde4cdfe4cca48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8acff3f5074bd4"/>
  </p:sldMasterIdLst>
  <p:notesMasterIdLst>
    <p:notesMasterId xmlns:r="http://schemas.openxmlformats.org/officeDocument/2006/relationships" r:id="Rda58b0121c534371"/>
  </p:notesMasterIdLst>
  <p:sldIdLst>
    <p:sldId xmlns:r="http://schemas.openxmlformats.org/officeDocument/2006/relationships" id="256" r:id="R0337fa8a9e7841d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db759739b04463" /><Relationship Type="http://schemas.openxmlformats.org/officeDocument/2006/relationships/slideMaster" Target="/ppt/slideMasters/slideMaster1.xml" Id="Reb8acff3f5074bd4" /><Relationship Type="http://schemas.openxmlformats.org/officeDocument/2006/relationships/notesMaster" Target="/ppt/notesMasters/notesMaster1.xml" Id="Rda58b0121c534371" /><Relationship Type="http://schemas.openxmlformats.org/officeDocument/2006/relationships/presProps" Target="/ppt/presProps.xml" Id="Rdfc92e88571e4eca" /><Relationship Type="http://schemas.openxmlformats.org/officeDocument/2006/relationships/tableStyles" Target="/ppt/tableStyles.xml" Id="R267af05f5cc4487f" /><Relationship Type="http://schemas.openxmlformats.org/officeDocument/2006/relationships/slide" Target="/ppt/slides/slide1.xml" Id="R0337fa8a9e7841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9cd78e37694d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95250" dist="39273" dir="4557825">
              <a:srgbClr val="000000">
                <a:alpha val="10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c7a7e8712d40e0" /><Relationship Type="http://schemas.openxmlformats.org/officeDocument/2006/relationships/notesMaster" Target="/ppt/notesMasters/notesMaster1.xml" Id="Rdbd4b7e598ed4f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2082e31ee54c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d19599ddcd497c" /><Relationship Type="http://schemas.openxmlformats.org/officeDocument/2006/relationships/slideLayout" Target="/ppt/slideLayouts/slideLayout1.xml" Id="R3ab655ae49d94f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b655ae49d94f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95250" dist="39273" dir="4557825">
              <a:srgbClr val="000000">
                <a:alpha val="10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2d2d227904dba" /><Relationship Type="http://schemas.openxmlformats.org/officeDocument/2006/relationships/notesSlide" Target="/ppt/notesSlides/notesSlide1.xml" Id="R491ac504111d4f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C01E265-35BE-4051-B29D-335B3412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02 / 传统 RAG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8A91F3B5-F562-4067-BBF8-E2AA99C4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42900"/>
            <a:ext cx="2952750" cy="-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C89AB521-EDDC-481A-BFB5-B5530BE7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05C60AF-A900-4C08-8490-7E6B6DF4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01816"/>
                </a:solidFill>
              </a:defRPr>
            </a:pPr>
            <a:r>
              <a:rPr sz="3225" b="1">
                <a:solidFill>
                  <a:srgbClr val="101816"/>
                </a:solidFill>
              </a:rPr>
              <a:t>传统 RAG 的工作原理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C92B9E31-692E-4346-A0AC-49A5E7A1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在模型生成答案之前，引入外部知识作为上下文</a:t>
            </a:r>
          </a:p>
        </p:txBody>
      </p:sp>
      <p:sp>
        <p:nvSpPr>
          <p:cNvPr id="6" name="stage-build-label">
            <a:extLst xmlns:a="http://schemas.openxmlformats.org/drawingml/2006/main">
              <a:ext uri="{FF2B5EF4-FFF2-40B4-BE49-F238E27FC236}">
                <a16:creationId xmlns:a16="http://schemas.microsoft.com/office/drawing/2014/main" id="{81D08FB6-FFCA-4B8B-85C5-24A5C6E5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811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知识库构建阶段</a:t>
            </a:r>
          </a:p>
        </p:txBody>
      </p:sp>
      <p:sp>
        <p:nvSpPr>
          <p:cNvPr id="7" name="source-doc-1">
            <a:extLst xmlns:a="http://schemas.openxmlformats.org/drawingml/2006/main">
              <a:ext uri="{FF2B5EF4-FFF2-40B4-BE49-F238E27FC236}">
                <a16:creationId xmlns:a16="http://schemas.microsoft.com/office/drawing/2014/main" id="{BC845EA1-38B8-4536-ACD6-170B5F80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0">
            <a:off x="666750" y="2238375"/>
            <a:ext cx="781050" cy="9715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source-doc-1-label">
            <a:extLst xmlns:a="http://schemas.openxmlformats.org/drawingml/2006/main">
              <a:ext uri="{FF2B5EF4-FFF2-40B4-BE49-F238E27FC236}">
                <a16:creationId xmlns:a16="http://schemas.microsoft.com/office/drawing/2014/main" id="{1365B931-8E12-4C6D-BD15-945D10F9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0">
            <a:off x="790575" y="2362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4A45"/>
                </a:solidFill>
              </a:defRPr>
            </a:pPr>
            <a:r>
              <a:rPr sz="1050" b="1">
                <a:solidFill>
                  <a:srgbClr val="3D4A45"/>
                </a:solidFill>
              </a:rPr>
              <a:t>论文</a:t>
            </a:r>
          </a:p>
        </p:txBody>
      </p:sp>
      <p:sp>
        <p:nvSpPr>
          <p:cNvPr id="9" name="source-doc-1-rule-1">
            <a:extLst xmlns:a="http://schemas.openxmlformats.org/drawingml/2006/main">
              <a:ext uri="{FF2B5EF4-FFF2-40B4-BE49-F238E27FC236}">
                <a16:creationId xmlns:a16="http://schemas.microsoft.com/office/drawing/2014/main" id="{A2D0B081-AEAC-4CF2-9DEA-9CFACC2F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14625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0AF"/>
            </a:solidFill>
            <a:prstDash val="solid"/>
          </a:ln>
        </p:spPr>
      </p:sp>
      <p:sp>
        <p:nvSpPr>
          <p:cNvPr id="10" name="source-doc-1-rule-2">
            <a:extLst xmlns:a="http://schemas.openxmlformats.org/drawingml/2006/main">
              <a:ext uri="{FF2B5EF4-FFF2-40B4-BE49-F238E27FC236}">
                <a16:creationId xmlns:a16="http://schemas.microsoft.com/office/drawing/2014/main" id="{48325431-B3A9-46E5-95B3-2E56DE51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0512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D1C3"/>
            </a:solidFill>
            <a:prstDash val="solid"/>
          </a:ln>
        </p:spPr>
      </p:sp>
      <p:sp>
        <p:nvSpPr>
          <p:cNvPr id="11" name="source-doc-2">
            <a:extLst xmlns:a="http://schemas.openxmlformats.org/drawingml/2006/main">
              <a:ext uri="{FF2B5EF4-FFF2-40B4-BE49-F238E27FC236}">
                <a16:creationId xmlns:a16="http://schemas.microsoft.com/office/drawing/2014/main" id="{6ED02FA6-76CB-4956-871B-8570B10D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40000">
            <a:off x="1285875" y="2457450"/>
            <a:ext cx="781050" cy="9715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source-doc-2-label">
            <a:extLst xmlns:a="http://schemas.openxmlformats.org/drawingml/2006/main">
              <a:ext uri="{FF2B5EF4-FFF2-40B4-BE49-F238E27FC236}">
                <a16:creationId xmlns:a16="http://schemas.microsoft.com/office/drawing/2014/main" id="{13411ADE-660E-469E-9013-85E6725B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40000">
            <a:off x="1409700" y="258127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4A45"/>
                </a:solidFill>
              </a:defRPr>
            </a:pPr>
            <a:r>
              <a:rPr sz="1050" b="1">
                <a:solidFill>
                  <a:srgbClr val="3D4A45"/>
                </a:solidFill>
              </a:rPr>
              <a:t>网页</a:t>
            </a:r>
          </a:p>
        </p:txBody>
      </p:sp>
      <p:sp>
        <p:nvSpPr>
          <p:cNvPr id="13" name="source-doc-2-rule-1">
            <a:extLst xmlns:a="http://schemas.openxmlformats.org/drawingml/2006/main">
              <a:ext uri="{FF2B5EF4-FFF2-40B4-BE49-F238E27FC236}">
                <a16:creationId xmlns:a16="http://schemas.microsoft.com/office/drawing/2014/main" id="{7C76825A-ADFF-47F9-A410-148D3461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337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0AF"/>
            </a:solidFill>
            <a:prstDash val="solid"/>
          </a:ln>
        </p:spPr>
      </p:sp>
      <p:sp>
        <p:nvSpPr>
          <p:cNvPr id="14" name="source-doc-2-rule-2">
            <a:extLst xmlns:a="http://schemas.openxmlformats.org/drawingml/2006/main">
              <a:ext uri="{FF2B5EF4-FFF2-40B4-BE49-F238E27FC236}">
                <a16:creationId xmlns:a16="http://schemas.microsoft.com/office/drawing/2014/main" id="{53B5C38B-D31A-49D3-81C0-A133D139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2420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D1C3"/>
            </a:solidFill>
            <a:prstDash val="solid"/>
          </a:ln>
        </p:spPr>
      </p:sp>
      <p:sp>
        <p:nvSpPr>
          <p:cNvPr id="15" name="source-doc-3">
            <a:extLst xmlns:a="http://schemas.openxmlformats.org/drawingml/2006/main">
              <a:ext uri="{FF2B5EF4-FFF2-40B4-BE49-F238E27FC236}">
                <a16:creationId xmlns:a16="http://schemas.microsoft.com/office/drawing/2014/main" id="{5A1A8CAF-0C30-43DE-9BD0-BA984F2B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1905000" y="2209800"/>
            <a:ext cx="781050" cy="9715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source-doc-3-label">
            <a:extLst xmlns:a="http://schemas.openxmlformats.org/drawingml/2006/main">
              <a:ext uri="{FF2B5EF4-FFF2-40B4-BE49-F238E27FC236}">
                <a16:creationId xmlns:a16="http://schemas.microsoft.com/office/drawing/2014/main" id="{BE3BB916-03A2-4DAA-9BBA-CB4DFF54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2028825" y="2333625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4A45"/>
                </a:solidFill>
              </a:defRPr>
            </a:pPr>
            <a:r>
              <a:rPr sz="1050" b="1">
                <a:solidFill>
                  <a:srgbClr val="3D4A45"/>
                </a:solidFill>
              </a:rPr>
              <a:t>资料</a:t>
            </a:r>
          </a:p>
        </p:txBody>
      </p:sp>
      <p:sp>
        <p:nvSpPr>
          <p:cNvPr id="17" name="source-doc-3-rule-1">
            <a:extLst xmlns:a="http://schemas.openxmlformats.org/drawingml/2006/main">
              <a:ext uri="{FF2B5EF4-FFF2-40B4-BE49-F238E27FC236}">
                <a16:creationId xmlns:a16="http://schemas.microsoft.com/office/drawing/2014/main" id="{828BA7E3-EDF1-43CD-939C-8C6D040F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6860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0AF"/>
            </a:solidFill>
            <a:prstDash val="solid"/>
          </a:ln>
        </p:spPr>
      </p:sp>
      <p:sp>
        <p:nvSpPr>
          <p:cNvPr id="18" name="source-doc-3-rule-2">
            <a:extLst xmlns:a="http://schemas.openxmlformats.org/drawingml/2006/main">
              <a:ext uri="{FF2B5EF4-FFF2-40B4-BE49-F238E27FC236}">
                <a16:creationId xmlns:a16="http://schemas.microsoft.com/office/drawing/2014/main" id="{8B675CCD-94BB-43AF-A407-D0ED6D6F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87655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D1C3"/>
            </a:solidFill>
            <a:prstDash val="solid"/>
          </a:ln>
        </p:spPr>
      </p:sp>
      <p:sp>
        <p:nvSpPr>
          <p:cNvPr id="19" name="chunk-card">
            <a:extLst xmlns:a="http://schemas.openxmlformats.org/drawingml/2006/main">
              <a:ext uri="{FF2B5EF4-FFF2-40B4-BE49-F238E27FC236}">
                <a16:creationId xmlns:a16="http://schemas.microsoft.com/office/drawing/2014/main" id="{992985FD-5B45-4B68-8BA0-ECC1B7F5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38375"/>
            <a:ext cx="12382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0" name="chunk-card-accent">
            <a:extLst xmlns:a="http://schemas.openxmlformats.org/drawingml/2006/main">
              <a:ext uri="{FF2B5EF4-FFF2-40B4-BE49-F238E27FC236}">
                <a16:creationId xmlns:a16="http://schemas.microsoft.com/office/drawing/2014/main" id="{9C8BF80F-908C-4D53-89F8-A0B7D931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38375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1" name="chunk-card-title">
            <a:extLst xmlns:a="http://schemas.openxmlformats.org/drawingml/2006/main">
              <a:ext uri="{FF2B5EF4-FFF2-40B4-BE49-F238E27FC236}">
                <a16:creationId xmlns:a16="http://schemas.microsoft.com/office/drawing/2014/main" id="{DF8ED458-6FA6-4B98-ACF2-C7818FB1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00300"/>
            <a:ext cx="93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文档切片</a:t>
            </a:r>
          </a:p>
        </p:txBody>
      </p:sp>
      <p:sp>
        <p:nvSpPr>
          <p:cNvPr id="22" name="chunk-card-detail">
            <a:extLst xmlns:a="http://schemas.openxmlformats.org/drawingml/2006/main">
              <a:ext uri="{FF2B5EF4-FFF2-40B4-BE49-F238E27FC236}">
                <a16:creationId xmlns:a16="http://schemas.microsoft.com/office/drawing/2014/main" id="{4A488CF1-3A48-475A-B03B-B011CB1A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14625"/>
            <a:ext cx="933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把原始文档切成多个文本片段</a:t>
            </a:r>
          </a:p>
        </p:txBody>
      </p:sp>
      <p:sp>
        <p:nvSpPr>
          <p:cNvPr id="23" name="embed-card">
            <a:extLst xmlns:a="http://schemas.openxmlformats.org/drawingml/2006/main">
              <a:ext uri="{FF2B5EF4-FFF2-40B4-BE49-F238E27FC236}">
                <a16:creationId xmlns:a16="http://schemas.microsoft.com/office/drawing/2014/main" id="{98257672-0F14-473D-97C2-2661E8E7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1381125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4" name="embed-card-accent">
            <a:extLst xmlns:a="http://schemas.openxmlformats.org/drawingml/2006/main">
              <a:ext uri="{FF2B5EF4-FFF2-40B4-BE49-F238E27FC236}">
                <a16:creationId xmlns:a16="http://schemas.microsoft.com/office/drawing/2014/main" id="{D0D9EAE8-85A5-486D-BC94-02CC562B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1381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5" name="embed-card-title">
            <a:extLst xmlns:a="http://schemas.openxmlformats.org/drawingml/2006/main">
              <a:ext uri="{FF2B5EF4-FFF2-40B4-BE49-F238E27FC236}">
                <a16:creationId xmlns:a16="http://schemas.microsoft.com/office/drawing/2014/main" id="{DCEA8004-8DE5-4073-92B2-D354FD36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00300"/>
            <a:ext cx="10763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向量化</a:t>
            </a:r>
          </a:p>
        </p:txBody>
      </p:sp>
      <p:sp>
        <p:nvSpPr>
          <p:cNvPr id="26" name="embed-card-detail">
            <a:extLst xmlns:a="http://schemas.openxmlformats.org/drawingml/2006/main">
              <a:ext uri="{FF2B5EF4-FFF2-40B4-BE49-F238E27FC236}">
                <a16:creationId xmlns:a16="http://schemas.microsoft.com/office/drawing/2014/main" id="{9DFFCA30-69AF-47C2-9BC7-A00285E8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714625"/>
            <a:ext cx="1076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用嵌入模型将文本片段转换为向量</a:t>
            </a:r>
          </a:p>
        </p:txBody>
      </p:sp>
      <p:sp>
        <p:nvSpPr>
          <p:cNvPr id="27" name="vector-db-card">
            <a:extLst xmlns:a="http://schemas.openxmlformats.org/drawingml/2006/main">
              <a:ext uri="{FF2B5EF4-FFF2-40B4-BE49-F238E27FC236}">
                <a16:creationId xmlns:a16="http://schemas.microsoft.com/office/drawing/2014/main" id="{F32772F6-46D9-4F3A-824B-30C40A82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38375"/>
            <a:ext cx="1524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8" name="vector-db-card-accent">
            <a:extLst xmlns:a="http://schemas.openxmlformats.org/drawingml/2006/main">
              <a:ext uri="{FF2B5EF4-FFF2-40B4-BE49-F238E27FC236}">
                <a16:creationId xmlns:a16="http://schemas.microsoft.com/office/drawing/2014/main" id="{7ACECB0F-46E2-444D-973E-A3157348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3837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9" name="vector-db-card-title">
            <a:extLst xmlns:a="http://schemas.openxmlformats.org/drawingml/2006/main">
              <a:ext uri="{FF2B5EF4-FFF2-40B4-BE49-F238E27FC236}">
                <a16:creationId xmlns:a16="http://schemas.microsoft.com/office/drawing/2014/main" id="{CA01EBAA-2F18-47ED-B632-8BF3FB69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0030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向量数据库</a:t>
            </a:r>
          </a:p>
        </p:txBody>
      </p:sp>
      <p:sp>
        <p:nvSpPr>
          <p:cNvPr id="30" name="vector-db-card-detail">
            <a:extLst xmlns:a="http://schemas.openxmlformats.org/drawingml/2006/main">
              <a:ext uri="{FF2B5EF4-FFF2-40B4-BE49-F238E27FC236}">
                <a16:creationId xmlns:a16="http://schemas.microsoft.com/office/drawing/2014/main" id="{820360EF-0A47-4E20-931B-E0926972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714625"/>
            <a:ext cx="121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存储向量与元数据，等待查询检索</a:t>
            </a:r>
          </a:p>
        </p:txBody>
      </p:sp>
      <p:cxnSp>
        <p:nvCxnSpPr>
          <p:cNvPr id="93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85515" y="2675137"/>
            <a:ext cx="457735" cy="49013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94" name=""/>
          <p:cNvCxnSpPr>
            <a:stCxn xmlns:a="http://schemas.openxmlformats.org/drawingml/2006/main" id="1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4381500" y="2724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95" name=""/>
          <p:cNvCxnSpPr>
            <a:stCxn xmlns:a="http://schemas.openxmlformats.org/drawingml/2006/main" id="23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6143625" y="2724150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34" name="stage-query-label">
            <a:extLst xmlns:a="http://schemas.openxmlformats.org/drawingml/2006/main">
              <a:ext uri="{FF2B5EF4-FFF2-40B4-BE49-F238E27FC236}">
                <a16:creationId xmlns:a16="http://schemas.microsoft.com/office/drawing/2014/main" id="{DB8D9E7E-D63D-4A49-BBE5-2B7194B0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查询阶段</a:t>
            </a:r>
          </a:p>
        </p:txBody>
      </p:sp>
      <p:sp>
        <p:nvSpPr>
          <p:cNvPr id="35" name="question-card">
            <a:extLst xmlns:a="http://schemas.openxmlformats.org/drawingml/2006/main">
              <a:ext uri="{FF2B5EF4-FFF2-40B4-BE49-F238E27FC236}">
                <a16:creationId xmlns:a16="http://schemas.microsoft.com/office/drawing/2014/main" id="{D11DA0A2-CA83-4AE7-9021-49630511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1428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6" name="question-card-accent">
            <a:extLst xmlns:a="http://schemas.openxmlformats.org/drawingml/2006/main">
              <a:ext uri="{FF2B5EF4-FFF2-40B4-BE49-F238E27FC236}">
                <a16:creationId xmlns:a16="http://schemas.microsoft.com/office/drawing/2014/main" id="{4261DC62-0FCF-4B6D-B32A-B59189DF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7" name="question-card-title">
            <a:extLst xmlns:a="http://schemas.openxmlformats.org/drawingml/2006/main">
              <a:ext uri="{FF2B5EF4-FFF2-40B4-BE49-F238E27FC236}">
                <a16:creationId xmlns:a16="http://schemas.microsoft.com/office/drawing/2014/main" id="{2EFE1772-4221-4B5B-A66C-97296AB6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用户问题</a:t>
            </a:r>
          </a:p>
        </p:txBody>
      </p:sp>
      <p:sp>
        <p:nvSpPr>
          <p:cNvPr id="38" name="question-card-detail">
            <a:extLst xmlns:a="http://schemas.openxmlformats.org/drawingml/2006/main">
              <a:ext uri="{FF2B5EF4-FFF2-40B4-BE49-F238E27FC236}">
                <a16:creationId xmlns:a16="http://schemas.microsoft.com/office/drawing/2014/main" id="{70B6F658-8D1D-48D5-B42C-EFD12049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38675"/>
            <a:ext cx="1123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问题也会被转换为查询向量</a:t>
            </a:r>
          </a:p>
        </p:txBody>
      </p:sp>
      <p:sp>
        <p:nvSpPr>
          <p:cNvPr id="39" name="retrieve-card">
            <a:extLst xmlns:a="http://schemas.openxmlformats.org/drawingml/2006/main">
              <a:ext uri="{FF2B5EF4-FFF2-40B4-BE49-F238E27FC236}">
                <a16:creationId xmlns:a16="http://schemas.microsoft.com/office/drawing/2014/main" id="{34D629DD-10C0-4060-901D-089821BF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162425"/>
            <a:ext cx="15240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0" name="retrieve-card-accent">
            <a:extLst xmlns:a="http://schemas.openxmlformats.org/drawingml/2006/main">
              <a:ext uri="{FF2B5EF4-FFF2-40B4-BE49-F238E27FC236}">
                <a16:creationId xmlns:a16="http://schemas.microsoft.com/office/drawing/2014/main" id="{13AA3CD8-436D-45DE-A0F9-CE12B3C1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16242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41" name="retrieve-card-title">
            <a:extLst xmlns:a="http://schemas.openxmlformats.org/drawingml/2006/main">
              <a:ext uri="{FF2B5EF4-FFF2-40B4-BE49-F238E27FC236}">
                <a16:creationId xmlns:a16="http://schemas.microsoft.com/office/drawing/2014/main" id="{25A723E2-2FA6-41EB-B697-B6DC7484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243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语义检索</a:t>
            </a:r>
          </a:p>
        </p:txBody>
      </p:sp>
      <p:sp>
        <p:nvSpPr>
          <p:cNvPr id="42" name="retrieve-card-detail">
            <a:extLst xmlns:a="http://schemas.openxmlformats.org/drawingml/2006/main">
              <a:ext uri="{FF2B5EF4-FFF2-40B4-BE49-F238E27FC236}">
                <a16:creationId xmlns:a16="http://schemas.microsoft.com/office/drawing/2014/main" id="{AC20757B-EC1E-439A-BF9E-2E157E79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从向量库中找出最相关的片段</a:t>
            </a:r>
          </a:p>
        </p:txBody>
      </p:sp>
      <p:sp>
        <p:nvSpPr>
          <p:cNvPr id="43" name="prompt-card">
            <a:extLst xmlns:a="http://schemas.openxmlformats.org/drawingml/2006/main">
              <a:ext uri="{FF2B5EF4-FFF2-40B4-BE49-F238E27FC236}">
                <a16:creationId xmlns:a16="http://schemas.microsoft.com/office/drawing/2014/main" id="{B366CE58-8148-4469-B954-E7D83058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162425"/>
            <a:ext cx="17145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4" name="prompt-card-accent">
            <a:extLst xmlns:a="http://schemas.openxmlformats.org/drawingml/2006/main">
              <a:ext uri="{FF2B5EF4-FFF2-40B4-BE49-F238E27FC236}">
                <a16:creationId xmlns:a16="http://schemas.microsoft.com/office/drawing/2014/main" id="{2CDA085F-2B62-4638-A840-1DBAF88A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162425"/>
            <a:ext cx="171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5" name="prompt-card-title">
            <a:extLst xmlns:a="http://schemas.openxmlformats.org/drawingml/2006/main">
              <a:ext uri="{FF2B5EF4-FFF2-40B4-BE49-F238E27FC236}">
                <a16:creationId xmlns:a16="http://schemas.microsoft.com/office/drawing/2014/main" id="{6566123B-A9F1-41AA-945C-59DD8A51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324350"/>
            <a:ext cx="1409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写入提示词</a:t>
            </a:r>
          </a:p>
        </p:txBody>
      </p:sp>
      <p:sp>
        <p:nvSpPr>
          <p:cNvPr id="46" name="prompt-card-detail">
            <a:extLst xmlns:a="http://schemas.openxmlformats.org/drawingml/2006/main">
              <a:ext uri="{FF2B5EF4-FFF2-40B4-BE49-F238E27FC236}">
                <a16:creationId xmlns:a16="http://schemas.microsoft.com/office/drawing/2014/main" id="{D3A8260D-20B6-4E3E-A4D2-12B5D303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38675"/>
            <a:ext cx="1409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把检索片段与用户问题一起放入上下文</a:t>
            </a:r>
          </a:p>
        </p:txBody>
      </p:sp>
      <p:sp>
        <p:nvSpPr>
          <p:cNvPr id="47" name="llm-card">
            <a:extLst xmlns:a="http://schemas.openxmlformats.org/drawingml/2006/main">
              <a:ext uri="{FF2B5EF4-FFF2-40B4-BE49-F238E27FC236}">
                <a16:creationId xmlns:a16="http://schemas.microsoft.com/office/drawing/2014/main" id="{C5AC2E4A-72C2-431D-99B4-77487B7D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62425"/>
            <a:ext cx="15240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48" name="llm-card-accent">
            <a:extLst xmlns:a="http://schemas.openxmlformats.org/drawingml/2006/main">
              <a:ext uri="{FF2B5EF4-FFF2-40B4-BE49-F238E27FC236}">
                <a16:creationId xmlns:a16="http://schemas.microsoft.com/office/drawing/2014/main" id="{2EDC5799-9814-4A68-B730-6145EE15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62425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9" name="llm-card-title">
            <a:extLst xmlns:a="http://schemas.openxmlformats.org/drawingml/2006/main">
              <a:ext uri="{FF2B5EF4-FFF2-40B4-BE49-F238E27FC236}">
                <a16:creationId xmlns:a16="http://schemas.microsoft.com/office/drawing/2014/main" id="{8B94ABAF-866D-439B-BD23-8DDEBE7A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243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LLM 生成</a:t>
            </a:r>
          </a:p>
        </p:txBody>
      </p:sp>
      <p:sp>
        <p:nvSpPr>
          <p:cNvPr id="50" name="llm-card-detail">
            <a:extLst xmlns:a="http://schemas.openxmlformats.org/drawingml/2006/main">
              <a:ext uri="{FF2B5EF4-FFF2-40B4-BE49-F238E27FC236}">
                <a16:creationId xmlns:a16="http://schemas.microsoft.com/office/drawing/2014/main" id="{E7A3DCF6-06A8-43DB-BC2E-3B0BBF69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38675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模型基于上下文生成最终答案</a:t>
            </a:r>
          </a:p>
        </p:txBody>
      </p:sp>
      <p:cxnSp>
        <p:nvCxnSpPr>
          <p:cNvPr id="113" name=""/>
          <p:cNvCxnSpPr>
            <a:stCxn xmlns:a="http://schemas.openxmlformats.org/drawingml/2006/main" id="35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2152650" y="46196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14" name=""/>
          <p:cNvCxnSpPr>
            <a:stCxn xmlns:a="http://schemas.openxmlformats.org/drawingml/2006/main" id="39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4400550" y="46196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15" name=""/>
          <p:cNvCxnSpPr>
            <a:stCxn xmlns:a="http://schemas.openxmlformats.org/drawingml/2006/main" id="43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6838950" y="46196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116" name=""/>
          <p:cNvCxnSpPr>
            <a:stCxn xmlns:a="http://schemas.openxmlformats.org/drawingml/2006/main" id="27" idx="2"/>
            <a:endCxn xmlns:a="http://schemas.openxmlformats.org/drawingml/2006/main" id="39" idx="0"/>
          </p:cNvCxnSpPr>
          <p:nvPr/>
        </p:nvCxnSpPr>
        <p:spPr>
          <a:xfrm xmlns:a="http://schemas.openxmlformats.org/drawingml/2006/main" flipH="1">
            <a:off x="3638550" y="3209925"/>
            <a:ext cx="3695700" cy="9525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77AFA6"/>
            </a:solidFill>
            <a:prstDash val="dash"/>
            <a:tailEnd type="arrow" w="sm" len="sm"/>
          </a:ln>
        </p:spPr>
      </p:cxnSp>
      <p:sp>
        <p:nvSpPr>
          <p:cNvPr id="55" name="rag-summary-box">
            <a:extLst xmlns:a="http://schemas.openxmlformats.org/drawingml/2006/main">
              <a:ext uri="{FF2B5EF4-FFF2-40B4-BE49-F238E27FC236}">
                <a16:creationId xmlns:a16="http://schemas.microsoft.com/office/drawing/2014/main" id="{94A890DC-A2C0-4A9E-90E4-CE2E6D56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47875"/>
            <a:ext cx="2152650" cy="2743200"/>
          </a:xfrm>
          <a:prstGeom xmlns:a="http://schemas.openxmlformats.org/drawingml/2006/main" prst="roundRect">
            <a:avLst>
              <a:gd name="adj" fmla="val 619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56" name="rag-summary-title">
            <a:extLst xmlns:a="http://schemas.openxmlformats.org/drawingml/2006/main">
              <a:ext uri="{FF2B5EF4-FFF2-40B4-BE49-F238E27FC236}">
                <a16:creationId xmlns:a16="http://schemas.microsoft.com/office/drawing/2014/main" id="{99ADD2DE-8EFE-4A91-A36B-D2B5944E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RAG 解决什么？</a:t>
            </a:r>
          </a:p>
        </p:txBody>
      </p:sp>
      <p:sp>
        <p:nvSpPr>
          <p:cNvPr id="57" name="rag-summary-body">
            <a:extLst xmlns:a="http://schemas.openxmlformats.org/drawingml/2006/main">
              <a:ext uri="{FF2B5EF4-FFF2-40B4-BE49-F238E27FC236}">
                <a16:creationId xmlns:a16="http://schemas.microsoft.com/office/drawing/2014/main" id="{47DBA297-8969-4F44-8318-B271C6F9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743200"/>
            <a:ext cx="16573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让模型在回答前，临时拿到最新资料或私有文档。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125" b="0">
                <a:solidFill>
                  <a:srgbClr val="3D4A45"/>
                </a:solidFill>
              </a:defRPr>
            </a:pPr>
            <a:r>
              <a:rPr sz="1125" b="0">
                <a:solidFill>
                  <a:srgbClr val="3D4A45"/>
                </a:solidFill>
              </a:rPr>
              <a:t>它不是把知识写进模型参数，而是把相关片段放进上下文。</a:t>
            </a:r>
          </a:p>
        </p:txBody>
      </p:sp>
      <p:sp>
        <p:nvSpPr>
          <p:cNvPr id="58" name="rag-summary-key">
            <a:extLst xmlns:a="http://schemas.openxmlformats.org/drawingml/2006/main">
              <a:ext uri="{FF2B5EF4-FFF2-40B4-BE49-F238E27FC236}">
                <a16:creationId xmlns:a16="http://schemas.microsoft.com/office/drawing/2014/main" id="{11839F8B-C940-46B8-A668-95DD63AD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09575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核心动作：检索 → 拼接 → 生成</a:t>
            </a:r>
          </a:p>
        </p:txBody>
      </p:sp>
      <p:sp>
        <p:nvSpPr>
          <p:cNvPr id="59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FD66957C-E710-4859-8969-EC52DD2D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60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379E1D38-D1A7-4E79-A5AD-DE73B457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61" name="bottom-note">
            <a:extLst xmlns:a="http://schemas.openxmlformats.org/drawingml/2006/main">
              <a:ext uri="{FF2B5EF4-FFF2-40B4-BE49-F238E27FC236}">
                <a16:creationId xmlns:a16="http://schemas.microsoft.com/office/drawing/2014/main" id="{0F7AB8A8-556A-4576-B29F-6BAA4DAC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721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提到构建 AI 知识库，一开始想到的往往就是 RAG。它的关键不是让模型真的学会这些资料，而是在回答前先检索相关片段，再把片段作为上下文交给大模型。</a:t>
            </a:r>
          </a:p>
        </p:txBody>
      </p:sp>
      <p:sp>
        <p:nvSpPr>
          <p:cNvPr id="6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D93984-E196-484F-B766-A380D64D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02 / 20</a:t>
            </a:r>
          </a:p>
        </p:txBody>
      </p:sp>
    </p:spTree>
    <p:extLst>
      <p:ext uri="{BB962C8B-B14F-4D97-AF65-F5344CB8AC3E}">
        <p14:creationId xmlns:p14="http://schemas.microsoft.com/office/powerpoint/2010/main" val="14460220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95250" dist="39273" dir="4557825">
              <a:srgbClr val="000000">
                <a:alpha val="10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2026-06-22T17:26:35.2160000Z</dcterms:created>
  <dcterms:modified xsi:type="dcterms:W3CDTF">2026-06-22T17:26:35.2160000Z</dcterms:modified>
</coreProperties>
</file>