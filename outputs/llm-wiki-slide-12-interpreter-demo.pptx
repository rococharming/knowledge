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ce1e72397456d" /><Relationship Type="http://schemas.openxmlformats.org/officeDocument/2006/relationships/extended-properties" Target="/docProps/app.xml" Id="R3b28becb377c40c7" /><Relationship Type="http://schemas.openxmlformats.org/officeDocument/2006/relationships/officeDocument" Target="/ppt/presentation.xml" Id="R5d7ac6ae8383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4cabdfd914185"/>
  </p:sldMasterIdLst>
  <p:notesMasterIdLst>
    <p:notesMasterId xmlns:r="http://schemas.openxmlformats.org/officeDocument/2006/relationships" r:id="R89084bc299524250"/>
  </p:notesMasterIdLst>
  <p:sldIdLst>
    <p:sldId xmlns:r="http://schemas.openxmlformats.org/officeDocument/2006/relationships" id="256" r:id="R6d9f3935ca714e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a13cc96724c3c" /><Relationship Type="http://schemas.openxmlformats.org/officeDocument/2006/relationships/slideMaster" Target="/ppt/slideMasters/slideMaster1.xml" Id="R6054cabdfd914185" /><Relationship Type="http://schemas.openxmlformats.org/officeDocument/2006/relationships/notesMaster" Target="/ppt/notesMasters/notesMaster1.xml" Id="R89084bc299524250" /><Relationship Type="http://schemas.openxmlformats.org/officeDocument/2006/relationships/presProps" Target="/ppt/presProps.xml" Id="Racaa71cf3bf4451d" /><Relationship Type="http://schemas.openxmlformats.org/officeDocument/2006/relationships/tableStyles" Target="/ppt/tableStyles.xml" Id="Reaf7eb7f47b1461d" /><Relationship Type="http://schemas.openxmlformats.org/officeDocument/2006/relationships/slide" Target="/ppt/slides/slide1.xml" Id="R6d9f3935ca71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6e030fd21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85e4c7978d49d2" /><Relationship Type="http://schemas.openxmlformats.org/officeDocument/2006/relationships/notesMaster" Target="/ppt/notesMasters/notesMaster1.xml" Id="R416bba6caef24c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e574cde2645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5ec9558ff4fbc" /><Relationship Type="http://schemas.openxmlformats.org/officeDocument/2006/relationships/slideLayout" Target="/ppt/slideLayouts/slideLayout1.xml" Id="Rdefc83588cc5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c83588cc5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8aad1c4d04b9b" /><Relationship Type="http://schemas.openxmlformats.org/officeDocument/2006/relationships/notesSlide" Target="/ppt/notesSlides/notesSlide1.xml" Id="Rf4214755de7f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575D08-3592-46DF-92C8-5901A36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3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/ Web Clipper 解释器</a:t>
            </a:r>
          </a:p>
        </p:txBody>
      </p:sp>
      <p:sp>
        <p:nvSpPr>
          <p:cNvPr id="2" name="teal-handline">
            <a:extLst xmlns:a="http://schemas.openxmlformats.org/drawingml/2006/main">
              <a:ext uri="{FF2B5EF4-FFF2-40B4-BE49-F238E27FC236}">
                <a16:creationId xmlns:a16="http://schemas.microsoft.com/office/drawing/2014/main" id="{0D095618-7AD7-4677-995A-87C5894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2900"/>
            <a:ext cx="295275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amber-handline">
            <a:extLst xmlns:a="http://schemas.openxmlformats.org/drawingml/2006/main">
              <a:ext uri="{FF2B5EF4-FFF2-40B4-BE49-F238E27FC236}">
                <a16:creationId xmlns:a16="http://schemas.microsoft.com/office/drawing/2014/main" id="{7E343BE9-49DB-4AEB-B809-DA0D1AEB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"/>
            <a:ext cx="4381500" cy="-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902F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0E5A9A-DCD2-4CFB-98A9-452ED59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16"/>
                </a:solidFill>
              </a:defRPr>
            </a:pPr>
            <a:r>
              <a:rPr sz="3000" b="1">
                <a:solidFill>
                  <a:srgbClr val="101816"/>
                </a:solidFill>
              </a:rPr>
              <a:t>解释器：剪藏前先让模型处理网页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708C8E4-C385-45E4-B6CD-EAEB1B7D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4A45"/>
                </a:solidFill>
              </a:defRPr>
            </a:pPr>
            <a:r>
              <a:rPr sz="1725" b="1">
                <a:solidFill>
                  <a:srgbClr val="3D4A45"/>
                </a:solidFill>
              </a:rPr>
              <a:t>普通变量负责提取，提示变量负责总结、翻译、提取和改写</a:t>
            </a:r>
          </a:p>
        </p:txBody>
      </p:sp>
      <p:sp>
        <p:nvSpPr>
          <p:cNvPr id="6" name="normal-flow">
            <a:extLst xmlns:a="http://schemas.openxmlformats.org/drawingml/2006/main">
              <a:ext uri="{FF2B5EF4-FFF2-40B4-BE49-F238E27FC236}">
                <a16:creationId xmlns:a16="http://schemas.microsoft.com/office/drawing/2014/main" id="{F287F08C-6188-4270-AE03-CC4EF825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normal-flow-accent">
            <a:extLst xmlns:a="http://schemas.openxmlformats.org/drawingml/2006/main">
              <a:ext uri="{FF2B5EF4-FFF2-40B4-BE49-F238E27FC236}">
                <a16:creationId xmlns:a16="http://schemas.microsoft.com/office/drawing/2014/main" id="{3802418D-3CB3-4A99-8E26-845A8DD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normal-flow-title">
            <a:extLst xmlns:a="http://schemas.openxmlformats.org/drawingml/2006/main">
              <a:ext uri="{FF2B5EF4-FFF2-40B4-BE49-F238E27FC236}">
                <a16:creationId xmlns:a16="http://schemas.microsoft.com/office/drawing/2014/main" id="{9195E1DA-4F48-4A60-BC87-3A3522F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普通模板变量</a:t>
            </a:r>
          </a:p>
        </p:txBody>
      </p:sp>
      <p:sp>
        <p:nvSpPr>
          <p:cNvPr id="9" name="normal-flow-detail">
            <a:extLst xmlns:a="http://schemas.openxmlformats.org/drawingml/2006/main">
              <a:ext uri="{FF2B5EF4-FFF2-40B4-BE49-F238E27FC236}">
                <a16:creationId xmlns:a16="http://schemas.microsoft.com/office/drawing/2014/main" id="{58B96470-1511-4317-AFE9-134197B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362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读取网页中的现成数据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{{title}} / {{url}} / {{content}}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不调用 AI，只做提取和排版</a:t>
            </a:r>
          </a:p>
        </p:txBody>
      </p:sp>
      <p:sp>
        <p:nvSpPr>
          <p:cNvPr id="10" name="interpreter-flow">
            <a:extLst xmlns:a="http://schemas.openxmlformats.org/drawingml/2006/main">
              <a:ext uri="{FF2B5EF4-FFF2-40B4-BE49-F238E27FC236}">
                <a16:creationId xmlns:a16="http://schemas.microsoft.com/office/drawing/2014/main" id="{FC006E88-9A65-4712-987B-838069E0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interpreter-flow-accent">
            <a:extLst xmlns:a="http://schemas.openxmlformats.org/drawingml/2006/main">
              <a:ext uri="{FF2B5EF4-FFF2-40B4-BE49-F238E27FC236}">
                <a16:creationId xmlns:a16="http://schemas.microsoft.com/office/drawing/2014/main" id="{9C57A180-8402-4EFE-AE94-A8C1EA0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902F"/>
            </a:solidFill>
            <a:prstDash val="solid"/>
          </a:ln>
        </p:spPr>
      </p:sp>
      <p:sp>
        <p:nvSpPr>
          <p:cNvPr id="12" name="interpreter-flow-title">
            <a:extLst xmlns:a="http://schemas.openxmlformats.org/drawingml/2006/main">
              <a:ext uri="{FF2B5EF4-FFF2-40B4-BE49-F238E27FC236}">
                <a16:creationId xmlns:a16="http://schemas.microsoft.com/office/drawing/2014/main" id="{BB383A3C-0B0B-4FF1-81A7-93B0254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解释器提示变量</a:t>
            </a:r>
          </a:p>
        </p:txBody>
      </p:sp>
      <p:sp>
        <p:nvSpPr>
          <p:cNvPr id="13" name="interpreter-flow-detail">
            <a:extLst xmlns:a="http://schemas.openxmlformats.org/drawingml/2006/main">
              <a:ext uri="{FF2B5EF4-FFF2-40B4-BE49-F238E27FC236}">
                <a16:creationId xmlns:a16="http://schemas.microsoft.com/office/drawing/2014/main" id="{244B3DBF-48D7-401C-A2D7-16A7A1E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90800"/>
            <a:ext cx="27432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把网页内容和提示词发送给模型</a:t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{{"用三句话总结这篇文章"}}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返回摘要、翻译或提取结果</a:t>
            </a:r>
          </a:p>
        </p:txBody>
      </p:sp>
      <p:sp>
        <p:nvSpPr>
          <p:cNvPr id="14" name="note-output">
            <a:extLst xmlns:a="http://schemas.openxmlformats.org/drawingml/2006/main">
              <a:ext uri="{FF2B5EF4-FFF2-40B4-BE49-F238E27FC236}">
                <a16:creationId xmlns:a16="http://schemas.microsoft.com/office/drawing/2014/main" id="{8BB465CC-797F-4C99-91EA-CDD1E7D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note-output-accent">
            <a:extLst xmlns:a="http://schemas.openxmlformats.org/drawingml/2006/main">
              <a:ext uri="{FF2B5EF4-FFF2-40B4-BE49-F238E27FC236}">
                <a16:creationId xmlns:a16="http://schemas.microsoft.com/office/drawing/2014/main" id="{266E822C-B7F2-463C-A2CA-58B7E126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6" name="note-output-title">
            <a:extLst xmlns:a="http://schemas.openxmlformats.org/drawingml/2006/main">
              <a:ext uri="{FF2B5EF4-FFF2-40B4-BE49-F238E27FC236}">
                <a16:creationId xmlns:a16="http://schemas.microsoft.com/office/drawing/2014/main" id="{B7FC9F0B-FD82-4569-88A0-2684CE5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16"/>
                </a:solidFill>
              </a:defRPr>
            </a:pPr>
            <a:r>
              <a:rPr sz="1725" b="1">
                <a:solidFill>
                  <a:srgbClr val="101816"/>
                </a:solidFill>
              </a:rPr>
              <a:t>写入笔记</a:t>
            </a:r>
          </a:p>
        </p:txBody>
      </p:sp>
      <p:sp>
        <p:nvSpPr>
          <p:cNvPr id="17" name="note-output-detail">
            <a:extLst xmlns:a="http://schemas.openxmlformats.org/drawingml/2006/main">
              <a:ext uri="{FF2B5EF4-FFF2-40B4-BE49-F238E27FC236}">
                <a16:creationId xmlns:a16="http://schemas.microsoft.com/office/drawing/2014/main" id="{9438748B-4627-4B17-AA59-5B653D2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885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AI 摘要</a:t>
            </a:r>
          </a:p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{{"用简体中文总结核心内容"}}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# 原始正文</a:t>
            </a:r>
          </a:p>
          <a:p xmlns:a="http://schemas.openxmlformats.org/drawingml/2006/main">
            <a:pPr algn="l">
              <a:defRPr sz="1125" b="0">
                <a:solidFill>
                  <a:srgbClr val="3D4A45"/>
                </a:solidFill>
              </a:defRPr>
            </a:pPr>
            <a:r>
              <a:rPr sz="1125" b="0">
                <a:solidFill>
                  <a:srgbClr val="3D4A45"/>
                </a:solidFill>
              </a:rPr>
              <a:t>{{content}}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2425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7AFA6"/>
            </a:solidFill>
            <a:prstDash val="dash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10500" y="32861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tailEnd type="arrow" w="med" len="med"/>
          </a:ln>
        </p:spPr>
      </p:cxnSp>
      <p:sp>
        <p:nvSpPr>
          <p:cNvPr id="20" name="process-box">
            <a:extLst xmlns:a="http://schemas.openxmlformats.org/drawingml/2006/main">
              <a:ext uri="{FF2B5EF4-FFF2-40B4-BE49-F238E27FC236}">
                <a16:creationId xmlns:a16="http://schemas.microsoft.com/office/drawing/2014/main" id="{1FA1EC4E-B5CA-489F-A843-20F62F0D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48200"/>
            <a:ext cx="80010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10478">
            <a:solidFill>
              <a:srgbClr val="77AFA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1" name="process-text">
            <a:extLst xmlns:a="http://schemas.openxmlformats.org/drawingml/2006/main">
              <a:ext uri="{FF2B5EF4-FFF2-40B4-BE49-F238E27FC236}">
                <a16:creationId xmlns:a16="http://schemas.microsoft.com/office/drawing/2014/main" id="{6AB8AB1B-A4EE-4795-BC26-25C30E54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读取网页 → 发送网页内容和提示词 → 模型返回处理结果 → 填入模板 → 保存到 Obsidian</a:t>
            </a:r>
          </a:p>
        </p:txBody>
      </p:sp>
      <p:sp>
        <p:nvSpPr>
          <p:cNvPr id="22" name="bottom-note-box">
            <a:extLst xmlns:a="http://schemas.openxmlformats.org/drawingml/2006/main">
              <a:ext uri="{FF2B5EF4-FFF2-40B4-BE49-F238E27FC236}">
                <a16:creationId xmlns:a16="http://schemas.microsoft.com/office/drawing/2014/main" id="{C3A2BAF3-C6B1-4FBD-BFA6-1709190B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D0B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3" name="bottom-note-accent">
            <a:extLst xmlns:a="http://schemas.openxmlformats.org/drawingml/2006/main">
              <a:ext uri="{FF2B5EF4-FFF2-40B4-BE49-F238E27FC236}">
                <a16:creationId xmlns:a16="http://schemas.microsoft.com/office/drawing/2014/main" id="{604CA5D8-F745-463F-B922-40C851C9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00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0F766E"/>
            </a:solidFill>
            <a:prstDash val="solid"/>
          </a:ln>
        </p:spPr>
      </p:sp>
      <p:sp>
        <p:nvSpPr>
          <p:cNvPr id="24" name="bottom-note">
            <a:extLst xmlns:a="http://schemas.openxmlformats.org/drawingml/2006/main">
              <a:ext uri="{FF2B5EF4-FFF2-40B4-BE49-F238E27FC236}">
                <a16:creationId xmlns:a16="http://schemas.microsoft.com/office/drawing/2014/main" id="{B4A9C301-6BE8-429E-9183-51B8AE3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4A45"/>
                </a:solidFill>
              </a:defRPr>
            </a:pPr>
            <a:r>
              <a:rPr sz="1200" b="0">
                <a:solidFill>
                  <a:srgbClr val="3D4A45"/>
                </a:solidFill>
              </a:rPr>
              <a:t>解释器让 Web Clipper 不只是复制网页，而是在剪藏前完成一次轻量 AI 处理。适合摘要、翻译和结构化提取，但会增加速度、Token 和 API 成本。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15613C-E630-4696-9FD6-8D0C414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0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902F"/>
                </a:solidFill>
              </a:defRPr>
            </a:pPr>
            <a:r>
              <a:rPr sz="1350" b="1">
                <a:solidFill>
                  <a:srgbClr val="D9902F"/>
                </a:solidFill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727080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69343" dir="4443276">
              <a:srgbClr val="000000">
                <a:alpha val="13000"/>
              </a:srgbClr>
            </a:outerShdw>
          </a:effectLst>
        </a:effectStyle>
        <a:effectStyle>
          <a:effectLst>
            <a:outerShdw blurRad="114300" dist="39273" dir="4557825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2026-06-22T18:10:02.6790000Z</dcterms:created>
  <dcterms:modified xsi:type="dcterms:W3CDTF">2026-06-22T18:10:02.6790000Z</dcterms:modified>
</coreProperties>
</file>