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c068228d1c3434c" /><Relationship Type="http://schemas.openxmlformats.org/officeDocument/2006/relationships/extended-properties" Target="/docProps/app.xml" Id="R9fba7280511040a2" /><Relationship Type="http://schemas.openxmlformats.org/officeDocument/2006/relationships/officeDocument" Target="/ppt/presentation.xml" Id="Rbbc5b545d63e456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f320b15613d4862"/>
  </p:sldMasterIdLst>
  <p:notesMasterIdLst>
    <p:notesMasterId xmlns:r="http://schemas.openxmlformats.org/officeDocument/2006/relationships" r:id="Rcc1b2ed62db548db"/>
  </p:notesMasterIdLst>
  <p:sldIdLst>
    <p:sldId xmlns:r="http://schemas.openxmlformats.org/officeDocument/2006/relationships" id="256" r:id="R1add7416060348da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b04776f81254582" /><Relationship Type="http://schemas.openxmlformats.org/officeDocument/2006/relationships/slideMaster" Target="/ppt/slideMasters/slideMaster1.xml" Id="Ref320b15613d4862" /><Relationship Type="http://schemas.openxmlformats.org/officeDocument/2006/relationships/notesMaster" Target="/ppt/notesMasters/notesMaster1.xml" Id="Rcc1b2ed62db548db" /><Relationship Type="http://schemas.openxmlformats.org/officeDocument/2006/relationships/presProps" Target="/ppt/presProps.xml" Id="R5d672d41263a4664" /><Relationship Type="http://schemas.openxmlformats.org/officeDocument/2006/relationships/tableStyles" Target="/ppt/tableStyles.xml" Id="R353e3569a0fd4b37" /><Relationship Type="http://schemas.openxmlformats.org/officeDocument/2006/relationships/slide" Target="/ppt/slides/slide1.xml" Id="R1add7416060348d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ba387fecbf84dc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171450" dist="69343" dir="4443276">
              <a:srgbClr val="000000">
                <a:alpha val="13000"/>
              </a:srgbClr>
            </a:outerShdw>
          </a:effectLst>
        </a:effectStyle>
        <a:effectStyle>
          <a:effectLst>
            <a:outerShdw blurRad="114300" dist="39273" dir="4557825">
              <a:srgbClr val="000000">
                <a:alpha val="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ff99024b5af4fd4" /><Relationship Type="http://schemas.openxmlformats.org/officeDocument/2006/relationships/notesMaster" Target="/ppt/notesMasters/notesMaster1.xml" Id="R6924c2c1ec7c414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e9a2a12b7a345a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e304a3b837543f2" /><Relationship Type="http://schemas.openxmlformats.org/officeDocument/2006/relationships/slideLayout" Target="/ppt/slideLayouts/slideLayout1.xml" Id="Rcbe169e14c434c5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be169e14c434c5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171450" dist="69343" dir="4443276">
              <a:srgbClr val="000000">
                <a:alpha val="13000"/>
              </a:srgbClr>
            </a:outerShdw>
          </a:effectLst>
        </a:effectStyle>
        <a:effectStyle>
          <a:effectLst>
            <a:outerShdw blurRad="114300" dist="39273" dir="4557825">
              <a:srgbClr val="000000">
                <a:alpha val="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144f259b334cda" /><Relationship Type="http://schemas.openxmlformats.org/officeDocument/2006/relationships/notesSlide" Target="/ppt/notesSlides/notesSlide1.xml" Id="R8206ccca14e947c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8F4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7ED391C6-A1D6-4B0F-831F-E0C0468A4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910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F766E"/>
                </a:solidFill>
              </a:defRPr>
            </a:pPr>
            <a:r>
              <a:rPr sz="1425" b="1">
                <a:solidFill>
                  <a:srgbClr val="0F766E"/>
                </a:solidFill>
              </a:rPr>
              <a:t>01 / 开场</a:t>
            </a:r>
          </a:p>
        </p:txBody>
      </p:sp>
      <p:sp>
        <p:nvSpPr>
          <p:cNvPr id="2" name="teal-handline">
            <a:extLst xmlns:a="http://schemas.openxmlformats.org/drawingml/2006/main">
              <a:ext uri="{FF2B5EF4-FFF2-40B4-BE49-F238E27FC236}">
                <a16:creationId xmlns:a16="http://schemas.microsoft.com/office/drawing/2014/main" id="{9F3EAC80-3EF1-47C3-AFBF-9B6B784BA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00100"/>
            <a:ext cx="3905250" cy="-95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0480">
            <a:solidFill>
              <a:srgbClr val="0F766E"/>
            </a:solidFill>
            <a:prstDash val="solid"/>
          </a:ln>
        </p:spPr>
      </p:sp>
      <p:sp>
        <p:nvSpPr>
          <p:cNvPr id="3" name="amber-handline">
            <a:extLst xmlns:a="http://schemas.openxmlformats.org/drawingml/2006/main">
              <a:ext uri="{FF2B5EF4-FFF2-40B4-BE49-F238E27FC236}">
                <a16:creationId xmlns:a16="http://schemas.microsoft.com/office/drawing/2014/main" id="{4249889C-E6D8-4FB5-8664-A38675DB0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857250"/>
            <a:ext cx="4229100" cy="-76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902F"/>
            </a:solidFill>
            <a:prstDash val="solid"/>
          </a:ln>
        </p:spPr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A1C5C8B0-4BCF-4275-979F-47A1F22A6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914400"/>
            <a:ext cx="7810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125" b="1">
                <a:solidFill>
                  <a:srgbClr val="101816"/>
                </a:solidFill>
              </a:defRPr>
            </a:pPr>
            <a:r>
              <a:rPr sz="4125" b="1">
                <a:solidFill>
                  <a:srgbClr val="101816"/>
                </a:solidFill>
              </a:rPr>
              <a:t>从 RAG 到 LLM Wiki</a:t>
            </a:r>
          </a:p>
        </p:txBody>
      </p:sp>
      <p:sp>
        <p:nvSpPr>
          <p:cNvPr id="5" name="subtitle">
            <a:extLst xmlns:a="http://schemas.openxmlformats.org/drawingml/2006/main">
              <a:ext uri="{FF2B5EF4-FFF2-40B4-BE49-F238E27FC236}">
                <a16:creationId xmlns:a16="http://schemas.microsoft.com/office/drawing/2014/main" id="{B1A8BF27-3C39-41B9-BEEB-0468328E6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742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3D4A45"/>
                </a:solidFill>
              </a:defRPr>
            </a:pPr>
            <a:r>
              <a:rPr sz="1875" b="1">
                <a:solidFill>
                  <a:srgbClr val="3D4A45"/>
                </a:solidFill>
              </a:rPr>
              <a:t>用 Obsidian + LLM 构建会生长的个人知识库</a:t>
            </a:r>
          </a:p>
        </p:txBody>
      </p:sp>
      <p:sp>
        <p:nvSpPr>
          <p:cNvPr id="6" name="left-label">
            <a:extLst xmlns:a="http://schemas.openxmlformats.org/drawingml/2006/main">
              <a:ext uri="{FF2B5EF4-FFF2-40B4-BE49-F238E27FC236}">
                <a16:creationId xmlns:a16="http://schemas.microsoft.com/office/drawing/2014/main" id="{8269345D-6395-4716-B6B2-F150DD9F8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343150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F766E"/>
                </a:solidFill>
              </a:defRPr>
            </a:pPr>
            <a:r>
              <a:rPr sz="1575" b="1">
                <a:solidFill>
                  <a:srgbClr val="0F766E"/>
                </a:solidFill>
              </a:rPr>
              <a:t>原始资料</a:t>
            </a:r>
          </a:p>
        </p:txBody>
      </p:sp>
      <p:sp>
        <p:nvSpPr>
          <p:cNvPr id="7" name="file-pdf">
            <a:extLst xmlns:a="http://schemas.openxmlformats.org/drawingml/2006/main">
              <a:ext uri="{FF2B5EF4-FFF2-40B4-BE49-F238E27FC236}">
                <a16:creationId xmlns:a16="http://schemas.microsoft.com/office/drawing/2014/main" id="{E227FBCC-87AD-41C8-AED6-39C33D8C9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360000">
            <a:off x="990600" y="2914650"/>
            <a:ext cx="1181100" cy="1466850"/>
          </a:xfrm>
          <a:prstGeom xmlns:a="http://schemas.openxmlformats.org/drawingml/2006/main" prst="roundRect">
            <a:avLst>
              <a:gd name="adj" fmla="val 8065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3335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8" name="file-pdf-label">
            <a:extLst xmlns:a="http://schemas.openxmlformats.org/drawingml/2006/main">
              <a:ext uri="{FF2B5EF4-FFF2-40B4-BE49-F238E27FC236}">
                <a16:creationId xmlns:a16="http://schemas.microsoft.com/office/drawing/2014/main" id="{11FA97A4-5371-4E14-A432-12D8AF5A6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360000">
            <a:off x="1162050" y="3105150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4A45"/>
                </a:solidFill>
              </a:defRPr>
            </a:pPr>
            <a:r>
              <a:rPr sz="1350" b="1">
                <a:solidFill>
                  <a:srgbClr val="3D4A45"/>
                </a:solidFill>
              </a:rPr>
              <a:t>PDF</a:t>
            </a:r>
          </a:p>
        </p:txBody>
      </p:sp>
      <p:sp>
        <p:nvSpPr>
          <p:cNvPr id="9" name="file-pdf-rule-1">
            <a:extLst xmlns:a="http://schemas.openxmlformats.org/drawingml/2006/main">
              <a:ext uri="{FF2B5EF4-FFF2-40B4-BE49-F238E27FC236}">
                <a16:creationId xmlns:a16="http://schemas.microsoft.com/office/drawing/2014/main" id="{B690E955-F269-45B6-A774-ECA6B68A6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600450"/>
            <a:ext cx="819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6BEAE"/>
            </a:solidFill>
            <a:prstDash val="solid"/>
          </a:ln>
        </p:spPr>
      </p:sp>
      <p:sp>
        <p:nvSpPr>
          <p:cNvPr id="10" name="file-pdf-rule-2">
            <a:extLst xmlns:a="http://schemas.openxmlformats.org/drawingml/2006/main">
              <a:ext uri="{FF2B5EF4-FFF2-40B4-BE49-F238E27FC236}">
                <a16:creationId xmlns:a16="http://schemas.microsoft.com/office/drawing/2014/main" id="{F9272A1B-17CD-46BB-80CB-70A069AB6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829050"/>
            <a:ext cx="723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8D1C3"/>
            </a:solidFill>
            <a:prstDash val="solid"/>
          </a:ln>
        </p:spPr>
      </p:sp>
      <p:sp>
        <p:nvSpPr>
          <p:cNvPr id="11" name="file-pdf-rule-3">
            <a:extLst xmlns:a="http://schemas.openxmlformats.org/drawingml/2006/main">
              <a:ext uri="{FF2B5EF4-FFF2-40B4-BE49-F238E27FC236}">
                <a16:creationId xmlns:a16="http://schemas.microsoft.com/office/drawing/2014/main" id="{FF4BB157-ECF1-465F-BCF2-047775CA7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057650"/>
            <a:ext cx="609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8D1C3"/>
            </a:solidFill>
            <a:prstDash val="solid"/>
          </a:ln>
        </p:spPr>
      </p:sp>
      <p:sp>
        <p:nvSpPr>
          <p:cNvPr id="12" name="file-pdf-corner">
            <a:extLst xmlns:a="http://schemas.openxmlformats.org/drawingml/2006/main">
              <a:ext uri="{FF2B5EF4-FFF2-40B4-BE49-F238E27FC236}">
                <a16:creationId xmlns:a16="http://schemas.microsoft.com/office/drawing/2014/main" id="{48992429-07C3-4CDF-AB52-70B15F835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360000">
            <a:off x="1924050" y="2933700"/>
            <a:ext cx="228600" cy="22860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EFE7D8"/>
          </a:solidFill>
          <a:ln xmlns:a="http://schemas.openxmlformats.org/drawingml/2006/main" w="7620">
            <a:solidFill>
              <a:srgbClr val="D9D0BF"/>
            </a:solidFill>
            <a:prstDash val="solid"/>
          </a:ln>
        </p:spPr>
      </p:sp>
      <p:sp>
        <p:nvSpPr>
          <p:cNvPr id="13" name="file-web">
            <a:extLst xmlns:a="http://schemas.openxmlformats.org/drawingml/2006/main">
              <a:ext uri="{FF2B5EF4-FFF2-40B4-BE49-F238E27FC236}">
                <a16:creationId xmlns:a16="http://schemas.microsoft.com/office/drawing/2014/main" id="{17A80704-E622-40FA-895D-B51284E9A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300000">
            <a:off x="2038350" y="3200400"/>
            <a:ext cx="1181100" cy="1466850"/>
          </a:xfrm>
          <a:prstGeom xmlns:a="http://schemas.openxmlformats.org/drawingml/2006/main" prst="roundRect">
            <a:avLst>
              <a:gd name="adj" fmla="val 8065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3335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4" name="file-web-label">
            <a:extLst xmlns:a="http://schemas.openxmlformats.org/drawingml/2006/main">
              <a:ext uri="{FF2B5EF4-FFF2-40B4-BE49-F238E27FC236}">
                <a16:creationId xmlns:a16="http://schemas.microsoft.com/office/drawing/2014/main" id="{8D73B76E-FA8F-4B3B-85EF-F6F3CC2ED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300000">
            <a:off x="2209800" y="3390900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4A45"/>
                </a:solidFill>
              </a:defRPr>
            </a:pPr>
            <a:r>
              <a:rPr sz="1350" b="1">
                <a:solidFill>
                  <a:srgbClr val="3D4A45"/>
                </a:solidFill>
              </a:rPr>
              <a:t>网页</a:t>
            </a:r>
          </a:p>
        </p:txBody>
      </p:sp>
      <p:sp>
        <p:nvSpPr>
          <p:cNvPr id="15" name="file-web-rule-1">
            <a:extLst xmlns:a="http://schemas.openxmlformats.org/drawingml/2006/main">
              <a:ext uri="{FF2B5EF4-FFF2-40B4-BE49-F238E27FC236}">
                <a16:creationId xmlns:a16="http://schemas.microsoft.com/office/drawing/2014/main" id="{00616857-6624-4F0C-A752-4FDCEA23D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3886200"/>
            <a:ext cx="819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6BEAE"/>
            </a:solidFill>
            <a:prstDash val="solid"/>
          </a:ln>
        </p:spPr>
      </p:sp>
      <p:sp>
        <p:nvSpPr>
          <p:cNvPr id="16" name="file-web-rule-2">
            <a:extLst xmlns:a="http://schemas.openxmlformats.org/drawingml/2006/main">
              <a:ext uri="{FF2B5EF4-FFF2-40B4-BE49-F238E27FC236}">
                <a16:creationId xmlns:a16="http://schemas.microsoft.com/office/drawing/2014/main" id="{435D0D02-B450-4B08-8E28-F8D6BB2E6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4114800"/>
            <a:ext cx="723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8D1C3"/>
            </a:solidFill>
            <a:prstDash val="solid"/>
          </a:ln>
        </p:spPr>
      </p:sp>
      <p:sp>
        <p:nvSpPr>
          <p:cNvPr id="17" name="file-web-rule-3">
            <a:extLst xmlns:a="http://schemas.openxmlformats.org/drawingml/2006/main">
              <a:ext uri="{FF2B5EF4-FFF2-40B4-BE49-F238E27FC236}">
                <a16:creationId xmlns:a16="http://schemas.microsoft.com/office/drawing/2014/main" id="{C0D8A1EB-8F14-4601-A357-8A2B79761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4343400"/>
            <a:ext cx="609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8D1C3"/>
            </a:solidFill>
            <a:prstDash val="solid"/>
          </a:ln>
        </p:spPr>
      </p:sp>
      <p:sp>
        <p:nvSpPr>
          <p:cNvPr id="18" name="file-web-corner">
            <a:extLst xmlns:a="http://schemas.openxmlformats.org/drawingml/2006/main">
              <a:ext uri="{FF2B5EF4-FFF2-40B4-BE49-F238E27FC236}">
                <a16:creationId xmlns:a16="http://schemas.microsoft.com/office/drawing/2014/main" id="{1535CC1A-2A0C-41DA-B65A-1734290BD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300000">
            <a:off x="2971800" y="3219450"/>
            <a:ext cx="228600" cy="22860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EFE7D8"/>
          </a:solidFill>
          <a:ln xmlns:a="http://schemas.openxmlformats.org/drawingml/2006/main" w="7620">
            <a:solidFill>
              <a:srgbClr val="D9D0BF"/>
            </a:solidFill>
            <a:prstDash val="solid"/>
          </a:ln>
        </p:spPr>
      </p:sp>
      <p:sp>
        <p:nvSpPr>
          <p:cNvPr id="19" name="file-meeting">
            <a:extLst xmlns:a="http://schemas.openxmlformats.org/drawingml/2006/main">
              <a:ext uri="{FF2B5EF4-FFF2-40B4-BE49-F238E27FC236}">
                <a16:creationId xmlns:a16="http://schemas.microsoft.com/office/drawing/2014/main" id="{36BA2495-67F5-4FCC-92CA-A8C3955EF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240000">
            <a:off x="3009900" y="2857500"/>
            <a:ext cx="1181100" cy="1466850"/>
          </a:xfrm>
          <a:prstGeom xmlns:a="http://schemas.openxmlformats.org/drawingml/2006/main" prst="roundRect">
            <a:avLst>
              <a:gd name="adj" fmla="val 8065"/>
            </a:avLst>
          </a:prstGeom>
          <a:solidFill xmlns:a="http://schemas.openxmlformats.org/drawingml/2006/main">
            <a:srgbClr val="FFF8DD"/>
          </a:solidFill>
          <a:ln xmlns:a="http://schemas.openxmlformats.org/drawingml/2006/main" w="13335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20" name="file-meeting-label">
            <a:extLst xmlns:a="http://schemas.openxmlformats.org/drawingml/2006/main">
              <a:ext uri="{FF2B5EF4-FFF2-40B4-BE49-F238E27FC236}">
                <a16:creationId xmlns:a16="http://schemas.microsoft.com/office/drawing/2014/main" id="{0C0CC42C-753A-4932-990B-8DA18BEAC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240000">
            <a:off x="3181350" y="3048000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4A45"/>
                </a:solidFill>
              </a:defRPr>
            </a:pPr>
            <a:r>
              <a:rPr sz="1350" b="1">
                <a:solidFill>
                  <a:srgbClr val="3D4A45"/>
                </a:solidFill>
              </a:rPr>
              <a:t>会议记录</a:t>
            </a:r>
          </a:p>
        </p:txBody>
      </p:sp>
      <p:sp>
        <p:nvSpPr>
          <p:cNvPr id="21" name="file-meeting-rule-1">
            <a:extLst xmlns:a="http://schemas.openxmlformats.org/drawingml/2006/main">
              <a:ext uri="{FF2B5EF4-FFF2-40B4-BE49-F238E27FC236}">
                <a16:creationId xmlns:a16="http://schemas.microsoft.com/office/drawing/2014/main" id="{F3D8D68B-4E47-448E-940C-BE506E6C7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543300"/>
            <a:ext cx="819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6BEAE"/>
            </a:solidFill>
            <a:prstDash val="solid"/>
          </a:ln>
        </p:spPr>
      </p:sp>
      <p:sp>
        <p:nvSpPr>
          <p:cNvPr id="22" name="file-meeting-rule-2">
            <a:extLst xmlns:a="http://schemas.openxmlformats.org/drawingml/2006/main">
              <a:ext uri="{FF2B5EF4-FFF2-40B4-BE49-F238E27FC236}">
                <a16:creationId xmlns:a16="http://schemas.microsoft.com/office/drawing/2014/main" id="{375EBC9D-96CA-4568-B219-BF253D742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771900"/>
            <a:ext cx="723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8D1C3"/>
            </a:solidFill>
            <a:prstDash val="solid"/>
          </a:ln>
        </p:spPr>
      </p:sp>
      <p:sp>
        <p:nvSpPr>
          <p:cNvPr id="23" name="file-meeting-rule-3">
            <a:extLst xmlns:a="http://schemas.openxmlformats.org/drawingml/2006/main">
              <a:ext uri="{FF2B5EF4-FFF2-40B4-BE49-F238E27FC236}">
                <a16:creationId xmlns:a16="http://schemas.microsoft.com/office/drawing/2014/main" id="{03F26933-E184-4053-8B89-368A5E5AA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000500"/>
            <a:ext cx="609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8D1C3"/>
            </a:solidFill>
            <a:prstDash val="solid"/>
          </a:ln>
        </p:spPr>
      </p:sp>
      <p:sp>
        <p:nvSpPr>
          <p:cNvPr id="24" name="file-meeting-corner">
            <a:extLst xmlns:a="http://schemas.openxmlformats.org/drawingml/2006/main">
              <a:ext uri="{FF2B5EF4-FFF2-40B4-BE49-F238E27FC236}">
                <a16:creationId xmlns:a16="http://schemas.microsoft.com/office/drawing/2014/main" id="{A2C2C542-5403-4A43-A91D-C927EBC4A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240000">
            <a:off x="3943350" y="2876550"/>
            <a:ext cx="228600" cy="22860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EFE7D8"/>
          </a:solidFill>
          <a:ln xmlns:a="http://schemas.openxmlformats.org/drawingml/2006/main" w="7620">
            <a:solidFill>
              <a:srgbClr val="D9D0BF"/>
            </a:solidFill>
            <a:prstDash val="solid"/>
          </a:ln>
        </p:spPr>
      </p:sp>
      <p:sp>
        <p:nvSpPr>
          <p:cNvPr id="25" name="compiler">
            <a:extLst xmlns:a="http://schemas.openxmlformats.org/drawingml/2006/main">
              <a:ext uri="{FF2B5EF4-FFF2-40B4-BE49-F238E27FC236}">
                <a16:creationId xmlns:a16="http://schemas.microsoft.com/office/drawing/2014/main" id="{E64195A9-4AA3-47BA-91E2-73638C622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47950"/>
            <a:ext cx="20955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4288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6" name="compiler-label">
            <a:extLst xmlns:a="http://schemas.openxmlformats.org/drawingml/2006/main">
              <a:ext uri="{FF2B5EF4-FFF2-40B4-BE49-F238E27FC236}">
                <a16:creationId xmlns:a16="http://schemas.microsoft.com/office/drawing/2014/main" id="{1FB50D62-1493-4060-9569-08AFD724E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028950"/>
            <a:ext cx="2095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101816"/>
                </a:solidFill>
              </a:defRPr>
            </a:pPr>
            <a:r>
              <a:rPr sz="2550" b="1">
                <a:solidFill>
                  <a:srgbClr val="101816"/>
                </a:solidFill>
              </a:rPr>
              <a:t>LLM</a:t>
            </a:r>
          </a:p>
          <a:p xmlns:a="http://schemas.openxmlformats.org/drawingml/2006/main">
            <a:pPr algn="ctr">
              <a:defRPr sz="2550" b="1">
                <a:solidFill>
                  <a:srgbClr val="101816"/>
                </a:solidFill>
              </a:defRPr>
            </a:pPr>
            <a:r>
              <a:rPr sz="2550" b="1">
                <a:solidFill>
                  <a:srgbClr val="101816"/>
                </a:solidFill>
              </a:rPr>
              <a:t>编译</a:t>
            </a:r>
          </a:p>
        </p:txBody>
      </p:sp>
      <p:sp>
        <p:nvSpPr>
          <p:cNvPr id="27" name="compiler-small">
            <a:extLst xmlns:a="http://schemas.openxmlformats.org/drawingml/2006/main">
              <a:ext uri="{FF2B5EF4-FFF2-40B4-BE49-F238E27FC236}">
                <a16:creationId xmlns:a16="http://schemas.microsoft.com/office/drawing/2014/main" id="{B21286BC-E539-4854-BDCB-30DA35D8F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4524375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F766E"/>
                </a:solidFill>
              </a:defRPr>
            </a:pPr>
            <a:r>
              <a:rPr sz="1125" b="1">
                <a:solidFill>
                  <a:srgbClr val="0F766E"/>
                </a:solidFill>
              </a:rPr>
              <a:t>理解 · 抽象 · 关联 · 结构化</a:t>
            </a:r>
          </a:p>
        </p:txBody>
      </p:sp>
      <p:sp>
        <p:nvSpPr>
          <p:cNvPr id="28" name="node-wiki">
            <a:extLst xmlns:a="http://schemas.openxmlformats.org/drawingml/2006/main">
              <a:ext uri="{FF2B5EF4-FFF2-40B4-BE49-F238E27FC236}">
                <a16:creationId xmlns:a16="http://schemas.microsoft.com/office/drawing/2014/main" id="{535B2875-AC35-48E5-92C7-8BBB4F97B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23850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3C6"/>
          </a:solidFill>
          <a:ln xmlns:a="http://schemas.openxmlformats.org/drawingml/2006/main" w="20955">
            <a:solidFill>
              <a:srgbClr val="0F766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9" name="node-wiki-label">
            <a:extLst xmlns:a="http://schemas.openxmlformats.org/drawingml/2006/main">
              <a:ext uri="{FF2B5EF4-FFF2-40B4-BE49-F238E27FC236}">
                <a16:creationId xmlns:a16="http://schemas.microsoft.com/office/drawing/2014/main" id="{DAB30A49-6D64-4946-B4B2-D08AF27D8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495675"/>
            <a:ext cx="971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01816"/>
                </a:solidFill>
              </a:defRPr>
            </a:pPr>
            <a:r>
              <a:rPr sz="900" b="1">
                <a:solidFill>
                  <a:srgbClr val="101816"/>
                </a:solidFill>
              </a:rPr>
              <a:t>Wiki</a:t>
            </a:r>
          </a:p>
        </p:txBody>
      </p:sp>
      <p:sp>
        <p:nvSpPr>
          <p:cNvPr id="30" name="node-concept">
            <a:extLst xmlns:a="http://schemas.openxmlformats.org/drawingml/2006/main">
              <a:ext uri="{FF2B5EF4-FFF2-40B4-BE49-F238E27FC236}">
                <a16:creationId xmlns:a16="http://schemas.microsoft.com/office/drawing/2014/main" id="{76894971-B74B-460B-BA37-DB699DAE1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6289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1ED"/>
          </a:solidFill>
          <a:ln xmlns:a="http://schemas.openxmlformats.org/drawingml/2006/main" w="20955">
            <a:solidFill>
              <a:srgbClr val="0F766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1" name="node-concept-label">
            <a:extLst xmlns:a="http://schemas.openxmlformats.org/drawingml/2006/main">
              <a:ext uri="{FF2B5EF4-FFF2-40B4-BE49-F238E27FC236}">
                <a16:creationId xmlns:a16="http://schemas.microsoft.com/office/drawing/2014/main" id="{39156163-0BF0-4EEF-B2E4-01A59E409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790825"/>
            <a:ext cx="781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01816"/>
                </a:solidFill>
              </a:defRPr>
            </a:pPr>
            <a:r>
              <a:rPr sz="1200" b="1">
                <a:solidFill>
                  <a:srgbClr val="101816"/>
                </a:solidFill>
              </a:rPr>
              <a:t>概念</a:t>
            </a:r>
          </a:p>
        </p:txBody>
      </p:sp>
      <p:sp>
        <p:nvSpPr>
          <p:cNvPr id="32" name="node-entity">
            <a:extLst xmlns:a="http://schemas.openxmlformats.org/drawingml/2006/main">
              <a:ext uri="{FF2B5EF4-FFF2-40B4-BE49-F238E27FC236}">
                <a16:creationId xmlns:a16="http://schemas.microsoft.com/office/drawing/2014/main" id="{3013596E-F421-4617-AA3E-77395157D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25717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1ED"/>
          </a:solidFill>
          <a:ln xmlns:a="http://schemas.openxmlformats.org/drawingml/2006/main" w="20955">
            <a:solidFill>
              <a:srgbClr val="0F766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3" name="node-entity-label">
            <a:extLst xmlns:a="http://schemas.openxmlformats.org/drawingml/2006/main">
              <a:ext uri="{FF2B5EF4-FFF2-40B4-BE49-F238E27FC236}">
                <a16:creationId xmlns:a16="http://schemas.microsoft.com/office/drawing/2014/main" id="{7C1DE5F7-5B3C-456F-899F-699359A2A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2733675"/>
            <a:ext cx="781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01816"/>
                </a:solidFill>
              </a:defRPr>
            </a:pPr>
            <a:r>
              <a:rPr sz="1200" b="1">
                <a:solidFill>
                  <a:srgbClr val="101816"/>
                </a:solidFill>
              </a:rPr>
              <a:t>实体</a:t>
            </a:r>
          </a:p>
        </p:txBody>
      </p:sp>
      <p:sp>
        <p:nvSpPr>
          <p:cNvPr id="34" name="node-summary">
            <a:extLst xmlns:a="http://schemas.openxmlformats.org/drawingml/2006/main">
              <a:ext uri="{FF2B5EF4-FFF2-40B4-BE49-F238E27FC236}">
                <a16:creationId xmlns:a16="http://schemas.microsoft.com/office/drawing/2014/main" id="{12BD7E39-CAD6-4C2F-A165-FD233AEC1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0386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1ED"/>
          </a:solidFill>
          <a:ln xmlns:a="http://schemas.openxmlformats.org/drawingml/2006/main" w="20955">
            <a:solidFill>
              <a:srgbClr val="0F766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5" name="node-summary-label">
            <a:extLst xmlns:a="http://schemas.openxmlformats.org/drawingml/2006/main">
              <a:ext uri="{FF2B5EF4-FFF2-40B4-BE49-F238E27FC236}">
                <a16:creationId xmlns:a16="http://schemas.microsoft.com/office/drawing/2014/main" id="{FC4AD0DD-E607-44C5-9516-B32A1DA59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4200525"/>
            <a:ext cx="781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01816"/>
                </a:solidFill>
              </a:defRPr>
            </a:pPr>
            <a:r>
              <a:rPr sz="1200" b="1">
                <a:solidFill>
                  <a:srgbClr val="101816"/>
                </a:solidFill>
              </a:rPr>
              <a:t>摘要</a:t>
            </a:r>
          </a:p>
        </p:txBody>
      </p:sp>
      <p:sp>
        <p:nvSpPr>
          <p:cNvPr id="36" name="node-compare">
            <a:extLst xmlns:a="http://schemas.openxmlformats.org/drawingml/2006/main">
              <a:ext uri="{FF2B5EF4-FFF2-40B4-BE49-F238E27FC236}">
                <a16:creationId xmlns:a16="http://schemas.microsoft.com/office/drawing/2014/main" id="{2FCADECC-200E-4BE4-8ECC-0493EFE53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40957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1ED"/>
          </a:solidFill>
          <a:ln xmlns:a="http://schemas.openxmlformats.org/drawingml/2006/main" w="20955">
            <a:solidFill>
              <a:srgbClr val="0F766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7" name="node-compare-label">
            <a:extLst xmlns:a="http://schemas.openxmlformats.org/drawingml/2006/main">
              <a:ext uri="{FF2B5EF4-FFF2-40B4-BE49-F238E27FC236}">
                <a16:creationId xmlns:a16="http://schemas.microsoft.com/office/drawing/2014/main" id="{2D312570-731D-4898-9E63-8A6BDF9BA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4257675"/>
            <a:ext cx="781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01816"/>
                </a:solidFill>
              </a:defRPr>
            </a:pPr>
            <a:r>
              <a:rPr sz="1200" b="1">
                <a:solidFill>
                  <a:srgbClr val="101816"/>
                </a:solidFill>
              </a:rPr>
              <a:t>对比</a:t>
            </a:r>
          </a:p>
        </p:txBody>
      </p:sp>
      <p:sp>
        <p:nvSpPr>
          <p:cNvPr id="38" name="node-synthesis">
            <a:extLst xmlns:a="http://schemas.openxmlformats.org/drawingml/2006/main">
              <a:ext uri="{FF2B5EF4-FFF2-40B4-BE49-F238E27FC236}">
                <a16:creationId xmlns:a16="http://schemas.microsoft.com/office/drawing/2014/main" id="{628B03E6-8312-43C1-BAA3-D6E156175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8768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E5B3"/>
          </a:solidFill>
          <a:ln xmlns:a="http://schemas.openxmlformats.org/drawingml/2006/main" w="20955">
            <a:solidFill>
              <a:srgbClr val="0F766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9" name="node-synthesis-label">
            <a:extLst xmlns:a="http://schemas.openxmlformats.org/drawingml/2006/main">
              <a:ext uri="{FF2B5EF4-FFF2-40B4-BE49-F238E27FC236}">
                <a16:creationId xmlns:a16="http://schemas.microsoft.com/office/drawing/2014/main" id="{72FCB1C5-3F6F-47C1-9795-394611C2A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5038725"/>
            <a:ext cx="781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01816"/>
                </a:solidFill>
              </a:defRPr>
            </a:pPr>
            <a:r>
              <a:rPr sz="1200" b="1">
                <a:solidFill>
                  <a:srgbClr val="101816"/>
                </a:solidFill>
              </a:rPr>
              <a:t>综合</a:t>
            </a:r>
          </a:p>
        </p:txBody>
      </p:sp>
      <p:cxnSp>
        <p:nvCxnSpPr>
          <p:cNvPr id="96" name=""/>
          <p:cNvCxnSpPr>
            <a:stCxn xmlns:a="http://schemas.openxmlformats.org/drawingml/2006/main" id="28" idx="1"/>
            <a:endCxn xmlns:a="http://schemas.openxmlformats.org/drawingml/2006/main" id="30" idx="5"/>
          </p:cNvCxnSpPr>
          <p:nvPr/>
        </p:nvCxnSpPr>
        <p:spPr>
          <a:xfrm xmlns:a="http://schemas.openxmlformats.org/drawingml/2006/main" flipH="1" flipV="1">
            <a:off x="9405996" y="3100446"/>
            <a:ext cx="418307" cy="246857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77AFA6"/>
            </a:solidFill>
            <a:prstDash val="solid"/>
          </a:ln>
        </p:spPr>
      </p:cxnSp>
      <p:cxnSp>
        <p:nvCxnSpPr>
          <p:cNvPr id="97" name=""/>
          <p:cNvCxnSpPr>
            <a:stCxn xmlns:a="http://schemas.openxmlformats.org/drawingml/2006/main" id="28" idx="7"/>
            <a:endCxn xmlns:a="http://schemas.openxmlformats.org/drawingml/2006/main" id="32" idx="3"/>
          </p:cNvCxnSpPr>
          <p:nvPr/>
        </p:nvCxnSpPr>
        <p:spPr>
          <a:xfrm xmlns:a="http://schemas.openxmlformats.org/drawingml/2006/main" flipV="1">
            <a:off x="10349647" y="3043296"/>
            <a:ext cx="380207" cy="304007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77AFA6"/>
            </a:solidFill>
            <a:prstDash val="solid"/>
          </a:ln>
        </p:spPr>
      </p:cxnSp>
      <p:cxnSp>
        <p:nvCxnSpPr>
          <p:cNvPr id="98" name=""/>
          <p:cNvCxnSpPr>
            <a:stCxn xmlns:a="http://schemas.openxmlformats.org/drawingml/2006/main" id="28" idx="3"/>
            <a:endCxn xmlns:a="http://schemas.openxmlformats.org/drawingml/2006/main" id="34" idx="7"/>
          </p:cNvCxnSpPr>
          <p:nvPr/>
        </p:nvCxnSpPr>
        <p:spPr>
          <a:xfrm xmlns:a="http://schemas.openxmlformats.org/drawingml/2006/main" flipH="1">
            <a:off x="9329796" y="3872647"/>
            <a:ext cx="494507" cy="246857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77AFA6"/>
            </a:solidFill>
            <a:prstDash val="solid"/>
          </a:ln>
        </p:spPr>
      </p:cxnSp>
      <p:cxnSp>
        <p:nvCxnSpPr>
          <p:cNvPr id="99" name=""/>
          <p:cNvCxnSpPr>
            <a:stCxn xmlns:a="http://schemas.openxmlformats.org/drawingml/2006/main" id="28" idx="5"/>
            <a:endCxn xmlns:a="http://schemas.openxmlformats.org/drawingml/2006/main" id="36" idx="1"/>
          </p:cNvCxnSpPr>
          <p:nvPr/>
        </p:nvCxnSpPr>
        <p:spPr>
          <a:xfrm xmlns:a="http://schemas.openxmlformats.org/drawingml/2006/main">
            <a:off x="10349647" y="3872647"/>
            <a:ext cx="418307" cy="304007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77AFA6"/>
            </a:solidFill>
            <a:prstDash val="solid"/>
          </a:ln>
        </p:spPr>
      </p:cxnSp>
      <p:cxnSp>
        <p:nvCxnSpPr>
          <p:cNvPr id="100" name=""/>
          <p:cNvCxnSpPr>
            <a:stCxn xmlns:a="http://schemas.openxmlformats.org/drawingml/2006/main" id="28" idx="4"/>
            <a:endCxn xmlns:a="http://schemas.openxmlformats.org/drawingml/2006/main" id="38" idx="0"/>
          </p:cNvCxnSpPr>
          <p:nvPr/>
        </p:nvCxnSpPr>
        <p:spPr>
          <a:xfrm xmlns:a="http://schemas.openxmlformats.org/drawingml/2006/main">
            <a:off x="10086975" y="3981450"/>
            <a:ext cx="0" cy="89535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77AFA6"/>
            </a:solidFill>
            <a:prstDash val="solid"/>
          </a:ln>
        </p:spPr>
      </p:cxnSp>
      <p:cxnSp>
        <p:nvCxnSpPr>
          <p:cNvPr id="101" name=""/>
          <p:cNvCxnSpPr>
            <a:stCxn xmlns:a="http://schemas.openxmlformats.org/drawingml/2006/main" id="30" idx="6"/>
            <a:endCxn xmlns:a="http://schemas.openxmlformats.org/drawingml/2006/main" id="32" idx="2"/>
          </p:cNvCxnSpPr>
          <p:nvPr/>
        </p:nvCxnSpPr>
        <p:spPr>
          <a:xfrm xmlns:a="http://schemas.openxmlformats.org/drawingml/2006/main" flipV="1">
            <a:off x="9486900" y="2847975"/>
            <a:ext cx="1162050" cy="5715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77AFA6"/>
            </a:solidFill>
            <a:prstDash val="solid"/>
          </a:ln>
        </p:spPr>
      </p:cxnSp>
      <p:cxnSp>
        <p:nvCxnSpPr>
          <p:cNvPr id="102" name=""/>
          <p:cNvCxnSpPr>
            <a:stCxn xmlns:a="http://schemas.openxmlformats.org/drawingml/2006/main" id="34" idx="5"/>
            <a:endCxn xmlns:a="http://schemas.openxmlformats.org/drawingml/2006/main" id="38" idx="1"/>
          </p:cNvCxnSpPr>
          <p:nvPr/>
        </p:nvCxnSpPr>
        <p:spPr>
          <a:xfrm xmlns:a="http://schemas.openxmlformats.org/drawingml/2006/main">
            <a:off x="9329796" y="4510146"/>
            <a:ext cx="561859" cy="447559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77AFA6"/>
            </a:solidFill>
            <a:prstDash val="solid"/>
          </a:ln>
        </p:spPr>
      </p:cxnSp>
      <p:cxnSp>
        <p:nvCxnSpPr>
          <p:cNvPr id="103" name=""/>
          <p:cNvCxnSpPr>
            <a:stCxn xmlns:a="http://schemas.openxmlformats.org/drawingml/2006/main" id="36" idx="3"/>
            <a:endCxn xmlns:a="http://schemas.openxmlformats.org/drawingml/2006/main" id="38" idx="7"/>
          </p:cNvCxnSpPr>
          <p:nvPr/>
        </p:nvCxnSpPr>
        <p:spPr>
          <a:xfrm xmlns:a="http://schemas.openxmlformats.org/drawingml/2006/main" flipH="1">
            <a:off x="10282296" y="4567296"/>
            <a:ext cx="485659" cy="390409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77AFA6"/>
            </a:solidFill>
            <a:prstDash val="solid"/>
          </a:ln>
        </p:spPr>
      </p:cxnSp>
      <p:sp>
        <p:nvSpPr>
          <p:cNvPr id="48" name="right-label">
            <a:extLst xmlns:a="http://schemas.openxmlformats.org/drawingml/2006/main">
              <a:ext uri="{FF2B5EF4-FFF2-40B4-BE49-F238E27FC236}">
                <a16:creationId xmlns:a16="http://schemas.microsoft.com/office/drawing/2014/main" id="{04E6C6F1-B7CE-477B-A9C3-A48DE815F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3431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F766E"/>
                </a:solidFill>
              </a:defRPr>
            </a:pPr>
            <a:r>
              <a:rPr sz="1575" b="1">
                <a:solidFill>
                  <a:srgbClr val="0F766E"/>
                </a:solidFill>
              </a:rPr>
              <a:t>Wiki 知识网络</a:t>
            </a:r>
          </a:p>
        </p:txBody>
      </p:sp>
      <p:cxnSp>
        <p:nvCxnSpPr>
          <p:cNvPr id="105" name=""/>
          <p:cNvCxnSpPr>
            <a:stCxn xmlns:a="http://schemas.openxmlformats.org/drawingml/2006/main" id="19" idx="3"/>
            <a:endCxn xmlns:a="http://schemas.openxmlformats.org/drawingml/2006/main" id="25" idx="1"/>
          </p:cNvCxnSpPr>
          <p:nvPr/>
        </p:nvCxnSpPr>
        <p:spPr>
          <a:xfrm xmlns:a="http://schemas.openxmlformats.org/drawingml/2006/main" flipV="1">
            <a:off x="4189561" y="3505200"/>
            <a:ext cx="858689" cy="4453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F766E"/>
            </a:solidFill>
            <a:prstDash val="solid"/>
            <a:tailEnd type="arrow" w="med" len="med"/>
          </a:ln>
        </p:spPr>
      </p:cxnSp>
      <p:cxnSp>
        <p:nvCxnSpPr>
          <p:cNvPr id="106" name=""/>
          <p:cNvCxnSpPr>
            <a:stCxn xmlns:a="http://schemas.openxmlformats.org/drawingml/2006/main" id="25" idx="3"/>
            <a:endCxn xmlns:a="http://schemas.openxmlformats.org/drawingml/2006/main" id="28" idx="2"/>
          </p:cNvCxnSpPr>
          <p:nvPr/>
        </p:nvCxnSpPr>
        <p:spPr>
          <a:xfrm xmlns:a="http://schemas.openxmlformats.org/drawingml/2006/main">
            <a:off x="7143750" y="3505200"/>
            <a:ext cx="2571750" cy="10477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F766E"/>
            </a:solidFill>
            <a:prstDash val="solid"/>
            <a:tailEnd type="arrow" w="med" len="med"/>
          </a:ln>
        </p:spPr>
      </p:cxnSp>
      <p:sp>
        <p:nvSpPr>
          <p:cNvPr id="51" name="opening-note-box">
            <a:extLst xmlns:a="http://schemas.openxmlformats.org/drawingml/2006/main">
              <a:ext uri="{FF2B5EF4-FFF2-40B4-BE49-F238E27FC236}">
                <a16:creationId xmlns:a16="http://schemas.microsoft.com/office/drawing/2014/main" id="{8EC0D44D-BA94-4CA2-BC3E-A4EF0C76F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14950"/>
            <a:ext cx="8572500" cy="914400"/>
          </a:xfrm>
          <a:prstGeom xmlns:a="http://schemas.openxmlformats.org/drawingml/2006/main" prst="roundRect">
            <a:avLst>
              <a:gd name="adj" fmla="val 14583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E2DAC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52" name="opening-note-label">
            <a:extLst xmlns:a="http://schemas.openxmlformats.org/drawingml/2006/main">
              <a:ext uri="{FF2B5EF4-FFF2-40B4-BE49-F238E27FC236}">
                <a16:creationId xmlns:a16="http://schemas.microsoft.com/office/drawing/2014/main" id="{9121DBA2-3F72-4AB5-8E53-5DAC70242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495925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766E"/>
                </a:solidFill>
              </a:defRPr>
            </a:pPr>
            <a:r>
              <a:rPr sz="1200" b="1">
                <a:solidFill>
                  <a:srgbClr val="0F766E"/>
                </a:solidFill>
              </a:rPr>
              <a:t>开场提示</a:t>
            </a:r>
          </a:p>
        </p:txBody>
      </p:sp>
      <p:sp>
        <p:nvSpPr>
          <p:cNvPr id="53" name="opening-note-paragraph">
            <a:extLst xmlns:a="http://schemas.openxmlformats.org/drawingml/2006/main">
              <a:ext uri="{FF2B5EF4-FFF2-40B4-BE49-F238E27FC236}">
                <a16:creationId xmlns:a16="http://schemas.microsoft.com/office/drawing/2014/main" id="{4C9C5EF9-20D6-4723-92F4-0C93F9C32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72150"/>
            <a:ext cx="933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3D4A45"/>
                </a:solidFill>
              </a:defRPr>
            </a:pPr>
            <a:r>
              <a:rPr sz="1200" b="0">
                <a:solidFill>
                  <a:srgbClr val="3D4A45"/>
                </a:solidFill>
              </a:rPr>
              <a:t>今天不是讲 Obsidian 的具体操作，而是借它说明一种知识库范式：资料如何从“被保存”，变成“被理解、链接和复用”。这条线会先看 RAG 的局限，再进入 LLM Wiki，最后回到 Obsidian 的落地工作流。</a:t>
            </a:r>
          </a:p>
        </p:txBody>
      </p:sp>
      <p:sp>
        <p:nvSpPr>
          <p:cNvPr id="54" name="opening-note-accent">
            <a:extLst xmlns:a="http://schemas.openxmlformats.org/drawingml/2006/main">
              <a:ext uri="{FF2B5EF4-FFF2-40B4-BE49-F238E27FC236}">
                <a16:creationId xmlns:a16="http://schemas.microsoft.com/office/drawing/2014/main" id="{735E8E03-6908-4BED-9CEB-8D144FFCF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14950"/>
            <a:ext cx="857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55" name="footer">
            <a:extLst xmlns:a="http://schemas.openxmlformats.org/drawingml/2006/main">
              <a:ext uri="{FF2B5EF4-FFF2-40B4-BE49-F238E27FC236}">
                <a16:creationId xmlns:a16="http://schemas.microsoft.com/office/drawing/2014/main" id="{B0544FCF-8871-466B-BD34-5AE013EE3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955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</a:defRPr>
            </a:pPr>
            <a:r>
              <a:rPr sz="1350" b="1">
                <a:solidFill>
                  <a:srgbClr val="0F766E"/>
                </a:solidFill>
              </a:rPr>
              <a:t>Ingest · Query · Lint</a:t>
            </a:r>
          </a:p>
        </p:txBody>
      </p:sp>
      <p:sp>
        <p:nvSpPr>
          <p:cNvPr id="56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894B032-2CEE-487B-A3E8-2D7B09C52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210300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D9902F"/>
                </a:solidFill>
              </a:defRPr>
            </a:pPr>
            <a:r>
              <a:rPr sz="1350" b="1">
                <a:solidFill>
                  <a:srgbClr val="D9902F"/>
                </a:solidFill>
              </a:rPr>
              <a:t>01 / 20</a:t>
            </a:r>
          </a:p>
        </p:txBody>
      </p:sp>
    </p:spTree>
    <p:extLst>
      <p:ext uri="{BB962C8B-B14F-4D97-AF65-F5344CB8AC3E}">
        <p14:creationId xmlns:p14="http://schemas.microsoft.com/office/powerpoint/2010/main" val="60453863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171450" dist="69343" dir="4443276">
              <a:srgbClr val="000000">
                <a:alpha val="13000"/>
              </a:srgbClr>
            </a:outerShdw>
          </a:effectLst>
        </a:effectStyle>
        <a:effectStyle>
          <a:effectLst>
            <a:outerShdw blurRad="114300" dist="39273" dir="4557825">
              <a:srgbClr val="000000">
                <a:alpha val="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2026-06-22T18:51:08.1630000Z</dcterms:created>
  <dcterms:modified xsi:type="dcterms:W3CDTF">2026-06-22T18:51:08.1630000Z</dcterms:modified>
</coreProperties>
</file>