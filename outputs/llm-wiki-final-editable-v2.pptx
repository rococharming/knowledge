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c5985b98d4885" /><Relationship Type="http://schemas.openxmlformats.org/officeDocument/2006/relationships/extended-properties" Target="/docProps/app.xml" Id="R61f5b14c4c0244ac" /><Relationship Type="http://schemas.openxmlformats.org/officeDocument/2006/relationships/officeDocument" Target="/ppt/presentation.xml" Id="R75d650f068134f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2b4ee09a84df4"/>
  </p:sldMasterIdLst>
  <p:notesMasterIdLst>
    <p:notesMasterId xmlns:r="http://schemas.openxmlformats.org/officeDocument/2006/relationships" r:id="Rb97750f0cd7140ba"/>
  </p:notesMasterIdLst>
  <p:sldIdLst>
    <p:sldId xmlns:r="http://schemas.openxmlformats.org/officeDocument/2006/relationships" id="256" r:id="R4f19ad533b1e4219"/>
    <p:sldId xmlns:r="http://schemas.openxmlformats.org/officeDocument/2006/relationships" id="257" r:id="Rbadd4fae570d4eff"/>
    <p:sldId xmlns:r="http://schemas.openxmlformats.org/officeDocument/2006/relationships" id="258" r:id="R4bf056463dad474d"/>
    <p:sldId xmlns:r="http://schemas.openxmlformats.org/officeDocument/2006/relationships" id="259" r:id="R556493a396384c3e"/>
    <p:sldId xmlns:r="http://schemas.openxmlformats.org/officeDocument/2006/relationships" id="260" r:id="Rba50bc608cfd4ee5"/>
    <p:sldId xmlns:r="http://schemas.openxmlformats.org/officeDocument/2006/relationships" id="261" r:id="Rb1f3acc950e14f81"/>
    <p:sldId xmlns:r="http://schemas.openxmlformats.org/officeDocument/2006/relationships" id="262" r:id="R886224495f544297"/>
    <p:sldId xmlns:r="http://schemas.openxmlformats.org/officeDocument/2006/relationships" id="263" r:id="R747404b9983c4abe"/>
    <p:sldId xmlns:r="http://schemas.openxmlformats.org/officeDocument/2006/relationships" id="264" r:id="R398a305faff24bfc"/>
    <p:sldId xmlns:r="http://schemas.openxmlformats.org/officeDocument/2006/relationships" id="265" r:id="Rc5d415becc494beb"/>
    <p:sldId xmlns:r="http://schemas.openxmlformats.org/officeDocument/2006/relationships" id="266" r:id="Rc292080ba01e4125"/>
    <p:sldId xmlns:r="http://schemas.openxmlformats.org/officeDocument/2006/relationships" id="267" r:id="Rb74f5e4e91994b0f"/>
    <p:sldId xmlns:r="http://schemas.openxmlformats.org/officeDocument/2006/relationships" id="268" r:id="R22c5edb057c44ffe"/>
    <p:sldId xmlns:r="http://schemas.openxmlformats.org/officeDocument/2006/relationships" id="269" r:id="Rb99a96bb20a24471"/>
    <p:sldId xmlns:r="http://schemas.openxmlformats.org/officeDocument/2006/relationships" id="270" r:id="R5255e736e08643b8"/>
    <p:sldId xmlns:r="http://schemas.openxmlformats.org/officeDocument/2006/relationships" id="271" r:id="R9ee0b65ef21740b0"/>
    <p:sldId xmlns:r="http://schemas.openxmlformats.org/officeDocument/2006/relationships" id="272" r:id="R2f651a6d2ddf4a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5985c56346453b" /><Relationship Type="http://schemas.openxmlformats.org/officeDocument/2006/relationships/slideMaster" Target="/ppt/slideMasters/slideMaster1.xml" Id="R34c2b4ee09a84df4" /><Relationship Type="http://schemas.openxmlformats.org/officeDocument/2006/relationships/notesMaster" Target="/ppt/notesMasters/notesMaster1.xml" Id="Rb97750f0cd7140ba" /><Relationship Type="http://schemas.openxmlformats.org/officeDocument/2006/relationships/presProps" Target="/ppt/presProps.xml" Id="R6b115e1b92e7430d" /><Relationship Type="http://schemas.openxmlformats.org/officeDocument/2006/relationships/tableStyles" Target="/ppt/tableStyles.xml" Id="Rf931273784d84ba2" /><Relationship Type="http://schemas.openxmlformats.org/officeDocument/2006/relationships/slide" Target="/ppt/slides/slide1.xml" Id="R4f19ad533b1e4219" /><Relationship Type="http://schemas.openxmlformats.org/officeDocument/2006/relationships/slide" Target="/ppt/slides/slide2.xml" Id="Rbadd4fae570d4eff" /><Relationship Type="http://schemas.openxmlformats.org/officeDocument/2006/relationships/slide" Target="/ppt/slides/slide3.xml" Id="R4bf056463dad474d" /><Relationship Type="http://schemas.openxmlformats.org/officeDocument/2006/relationships/slide" Target="/ppt/slides/slide4.xml" Id="R556493a396384c3e" /><Relationship Type="http://schemas.openxmlformats.org/officeDocument/2006/relationships/slide" Target="/ppt/slides/slide5.xml" Id="Rba50bc608cfd4ee5" /><Relationship Type="http://schemas.openxmlformats.org/officeDocument/2006/relationships/slide" Target="/ppt/slides/slide6.xml" Id="Rb1f3acc950e14f81" /><Relationship Type="http://schemas.openxmlformats.org/officeDocument/2006/relationships/slide" Target="/ppt/slides/slide7.xml" Id="R886224495f544297" /><Relationship Type="http://schemas.openxmlformats.org/officeDocument/2006/relationships/slide" Target="/ppt/slides/slide8.xml" Id="R747404b9983c4abe" /><Relationship Type="http://schemas.openxmlformats.org/officeDocument/2006/relationships/slide" Target="/ppt/slides/slide9.xml" Id="R398a305faff24bfc" /><Relationship Type="http://schemas.openxmlformats.org/officeDocument/2006/relationships/slide" Target="/ppt/slides/slide10.xml" Id="Rc5d415becc494beb" /><Relationship Type="http://schemas.openxmlformats.org/officeDocument/2006/relationships/slide" Target="/ppt/slides/slide11.xml" Id="Rc292080ba01e4125" /><Relationship Type="http://schemas.openxmlformats.org/officeDocument/2006/relationships/slide" Target="/ppt/slides/slide12.xml" Id="Rb74f5e4e91994b0f" /><Relationship Type="http://schemas.openxmlformats.org/officeDocument/2006/relationships/slide" Target="/ppt/slides/slide13.xml" Id="R22c5edb057c44ffe" /><Relationship Type="http://schemas.openxmlformats.org/officeDocument/2006/relationships/slide" Target="/ppt/slides/slide14.xml" Id="Rb99a96bb20a24471" /><Relationship Type="http://schemas.openxmlformats.org/officeDocument/2006/relationships/slide" Target="/ppt/slides/slide15.xml" Id="R5255e736e08643b8" /><Relationship Type="http://schemas.openxmlformats.org/officeDocument/2006/relationships/slide" Target="/ppt/slides/slide16.xml" Id="R9ee0b65ef21740b0" /><Relationship Type="http://schemas.openxmlformats.org/officeDocument/2006/relationships/slide" Target="/ppt/slides/slide17.xml" Id="R2f651a6d2ddf4a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7921a9f11f44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659ad16264ccc" /><Relationship Type="http://schemas.openxmlformats.org/officeDocument/2006/relationships/notesMaster" Target="/ppt/notesMasters/notesMaster1.xml" Id="Rc71fe54665e1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62b4ebc3d4d42" /><Relationship Type="http://schemas.openxmlformats.org/officeDocument/2006/relationships/notesMaster" Target="/ppt/notesMasters/notesMaster1.xml" Id="Rfe160f3c5fa044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68d4eeee63445f" /><Relationship Type="http://schemas.openxmlformats.org/officeDocument/2006/relationships/notesMaster" Target="/ppt/notesMasters/notesMaster1.xml" Id="R2314263afb094e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e103ff053b49d7" /><Relationship Type="http://schemas.openxmlformats.org/officeDocument/2006/relationships/notesMaster" Target="/ppt/notesMasters/notesMaster1.xml" Id="R138e4468fd9d46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5c77c666bb4c78" /><Relationship Type="http://schemas.openxmlformats.org/officeDocument/2006/relationships/notesMaster" Target="/ppt/notesMasters/notesMaster1.xml" Id="R2182ff8d256143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a210c2e176422c" /><Relationship Type="http://schemas.openxmlformats.org/officeDocument/2006/relationships/notesMaster" Target="/ppt/notesMasters/notesMaster1.xml" Id="R0c78f490b5304a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68637d21424a2a" /><Relationship Type="http://schemas.openxmlformats.org/officeDocument/2006/relationships/notesMaster" Target="/ppt/notesMasters/notesMaster1.xml" Id="Rdbe08d1ff58d4e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ecdbbbf53f47bb" /><Relationship Type="http://schemas.openxmlformats.org/officeDocument/2006/relationships/notesMaster" Target="/ppt/notesMasters/notesMaster1.xml" Id="Raaee7068256f41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65c59a0d7342ca" /><Relationship Type="http://schemas.openxmlformats.org/officeDocument/2006/relationships/notesMaster" Target="/ppt/notesMasters/notesMaster1.xml" Id="R2b8ef174083c48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5ceead0b6b4aba" /><Relationship Type="http://schemas.openxmlformats.org/officeDocument/2006/relationships/notesMaster" Target="/ppt/notesMasters/notesMaster1.xml" Id="R4bd780e79ec148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ef0c77cb364828" /><Relationship Type="http://schemas.openxmlformats.org/officeDocument/2006/relationships/notesMaster" Target="/ppt/notesMasters/notesMaster1.xml" Id="R3f8fc561cc004a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d37c40977b4f69" /><Relationship Type="http://schemas.openxmlformats.org/officeDocument/2006/relationships/notesMaster" Target="/ppt/notesMasters/notesMaster1.xml" Id="Rbb15c93ae4c147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e2502d7f7e40df" /><Relationship Type="http://schemas.openxmlformats.org/officeDocument/2006/relationships/notesMaster" Target="/ppt/notesMasters/notesMaster1.xml" Id="R9fea9c6565e740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fc88cb43fb4e6a" /><Relationship Type="http://schemas.openxmlformats.org/officeDocument/2006/relationships/notesMaster" Target="/ppt/notesMasters/notesMaster1.xml" Id="Rd3111e5afb5346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af3dfc98564201" /><Relationship Type="http://schemas.openxmlformats.org/officeDocument/2006/relationships/notesMaster" Target="/ppt/notesMasters/notesMaster1.xml" Id="R258254f0e9a24b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ac6fa1c7f84dfc" /><Relationship Type="http://schemas.openxmlformats.org/officeDocument/2006/relationships/notesMaster" Target="/ppt/notesMasters/notesMaster1.xml" Id="Ree6f2f2a4f0146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f48226a471486d" /><Relationship Type="http://schemas.openxmlformats.org/officeDocument/2006/relationships/notesMaster" Target="/ppt/notesMasters/notesMaster1.xml" Id="R3ada14a26cc6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RAG 到 LLM Wiki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大家好，我今天想要分享的主题是从 RAG 到 LLM Wiki，用 Obsidian + LLM 构建会生长的个人知识库。它不是单纯的 Obsidian 使用教程，而是使用 AI 进行的个人知识管理范式。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当我们手里有越来越多的文章、论文、视频、网页、笔记，并且这些资料还可能具有时效性时，将这些资料保存下来已经远远不够，而是希望沉淀为可复用、可演进的知识。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过去我们经常使用 AI 进行文件问答，或者通过 RAG 为大模型补充资料，这些方式很多时候都像第一次接触这些资料一样，需要重新检索和重新理解。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要解决的问题是：如何让 LLM 像一个长期知识库维护者一样，把资料逐步编译成一套结构化、相互链接、会持续生长的 Wiki。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今天的分享将围绕 RAG 的局限、LLM Wiki 的核心思想、以及如何在 Obsidian 落地的路线展开。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 RAG 的工作原理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首先我们进入传统 RAG 的工作原理。</a:t>
            </a:r>
          </a:p>
          <a:p xmlns:a="http://schemas.openxmlformats.org/drawingml/2006/main">
            <a:r>
              <a:t>大模型的知识主要固化在模型参数中，它不仅受训练数据截止时间限制，也无法直接覆盖企业文档、个人资料等私有领域数据。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所以一提到构建 AI 知识库，我们一开始想到的通常就是 RAG。RAG 是一种通过在模型生成答案之前引入外部知识，使得大模型能够基于最新资料或私有文档回答问题的方法。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传统 RAG 通常包含两个阶段。第一个阶段是知识库构建：先把原始文档切分为多个文本片段，再用嵌入模型把文本片段转换为向量，最后把向量和相关元数据存入向量数据库。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第二个阶段是查询：用户提出问题后，系统把问题也转换成查询向量，从向量数据库中检索语义最相关的文本片段，再把检索结果和用户问题一起写入提示词，最后由大模型根据这些上下文生成答案。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RAG 的关键价值，是让模型在回答之前临时拿到一批外部资料。但它本质上还是一种“查询时检索”的机制，这一点会引出后面我们要讨论的局限。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GraphRAG：让知识片段之间有关系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后来，为了增强跨文档关联能力，GraphRAG 在传统 RAG 的基础上引入了知识图谱。就像属性图一样，仅仅通过向量之间的相似度来比较语义还远远不够，节点之间还有各种各样的关系。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GraphRAG 不再把文档保存为相互独立的文本块，而是通过信息抽取模型，从文档中识别实体、属性和关系，再将这些知识组织成图结构。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例如，多篇文档可能分别描述某项技术的提出者、核心方法、应用场景和局限。传统 RAG 只能分别检索这些文本片段，而 GraphRAG 可以通过实体和关系将它们连接起来，形成相对完整的知识网络。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相较于传统 RAG，GraphRAG 的主要改进在于：检索对象不再只是孤立的文本片段，还可以是实体、关系、图社区及其摘要。因此，GraphRAG 主要解决的是知识之间如何建立关联的问题，但没有完全改变查询阶段动态检索和生成的基本模式。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Agentic RAG：让 Agent 自主规划检索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Agentic RAG 则由 Agent 自主规划检索，将向量检索、关键词搜索、图查询、网页搜索和数据库查询等能力封装为工具，由 Agent 根据任务需要自主调用。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Agentic RAG 中，Agent 不必依赖单次检索，而是可以根据中间结果不断调整策略。这种方式将固定的检索流水线转变为动态决策过程，使系统能够处理更复杂、更开放的任务。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 Agentic RAG 并没有改变知识使用的基本范式。因此，Agentic RAG 主要解决的是如何更加智能地获取知识，而不是如何持续积累和演化知识。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优化了访问能力，但缺少知识积累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因此，现有 RAG 技术主要围绕检索质量、知识关联和检索策略进行优化，但缺少持续演化的知识沉淀机制。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即使文档数量不断增加、查询次数不断累积，知识库的内部结构也可能没有发生实质变化。原始知识依然主要以文本块、向量、实体或关系的形式存在，直到用户提问时才被临时检索和组织。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这意味着 RAG 系统通常具备的是知识访问能力，而不是完整的知识积累能力。Karpathy 指出 RAG 的三个痛点问题：没有知识积累、跨文档推理弱、工程链路过重。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关注的正是这一方向：将大模型从查询阶段的临时知识使用者，进一步转变为知识体系的持续构建者和维护者。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Obsidian：人和 LLM 共同使用的知识 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的核心是 Agent 加 Markdown 文件目录。因此理论上，我们完全可以让 Agent 直接操作一个本地文件夹。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但普通文件夹更像存储层，它适合 Agent 读写，却不适合人长期浏览和审阅。所以这里使用 Obsidian 来管理本地知识库。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它主要有三大优势：第一，更好浏览，Agent 写出的双向链接在 Obsidian 里可以直接点击跳转；第二，更好审阅，可以查看反向链接、关系图谱和孤立页面；第三，不锁数据，Obsidian 的底层仍然是本地 Markdown 文件，Agent 可以直接改，Git 可以直接管，也可以随时迁移。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此外，Obsidian 还推出了 Obsidian CLI，使得 Agent 更方便、更规范地操作 Obsidian 仓库。用 Karpathy 的话来说：Obsidian 是 IDE，LLM 是程序员，Wiki 是代码库。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Wiki 的三层架构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可以分为三层。第一层是原始资料，也就是 raw 目录。它保存来源文档集合，可以是文章、技术博客、论文、图片、视频等。这一层是不可变的，LLM 从中读取，但不修改它们。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第二层是 Wiki 页面，也就是 wiki 目录。它是由 LLM 生成的 Markdown 文件目录，可以再细分为 summaries 摘要、entities 实体、concepts 概念、comparisons 比较、overviews 概览、syntheses 综合结论等等。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第三层是 schema，例如 Claude Code 的 CLAUDE.md，或者 Codex 的 AGENTS.md。它是 Wiki 的维护规范文档，用来告诉 LLM 这个 Wiki 的构建方式、命名约定，以及在摄入素材、回答问题、维护 Wiki 时应该遵循什么工作流。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这是非常关键的配置文件，因为它让 LLM 成为有纪律的 Wiki 维护者，而不是普通的聊天机器人。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Wiki 的核心操作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管理 LLM Wiki 知识库主要有三个操作，分别是 Ingest、Query 和 Lint。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Ingest 是摄取，也就是将新的素材放入 raw 原始资料集合，并告诉 LLM 处理它。一个典型流程是：LLM 阅读素材，生成摘要页面，更新 index，更新相关的实体页面和概念页面，并在 log 中追加条目。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Query 是查询。你向 Wiki 提问，LLM 搜索相关页面，阅读它们，并综合出一个带引用的答案。这里有一个重要洞察：好的答案可以作为新页面归档回 Wiki。你要求的一次对比、一次分析、一个你发现的关联，都不应该消失在聊天记录里。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Lint 是校验。定期让 LLM 对 Wiki 做健康检查，查找页面矛盾、陈旧说法、孤立页面、缺失交叉引用，以及可以通过网络搜索填补的数据空白。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index.md 与 log.md：导航和时间线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LLM Wiki 中，有两个特殊文件会帮助 LLM 和你在 Wiki 增长时进行导航，它们是 index.md 和 log.md。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index.md 是内容导向的。它是 Wiki 中所有内容的目录，每个页面都列出链接、一句话摘要，以及可选的元数据，比如日期或素材数量。LLM 在每次 ingest 时会更新它。回答 query 时，LLM 会先阅读 index.md，找到相关页面，然后再深入阅读。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log.md 则是时间导向的。它是按时间顺序、仅追加的记录，用来记录发生了什么、什么时候发生，例如 ingest、query、lint。log 提供了 Wiki 演进的时间线，也帮助 LLM 理解最近做过什么。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Obsidian Web Clipper：把网页变成 raw 素材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接下来是 Obsidian Web Clipper。它是 Obsidian 官方推出的浏览器插件，可以把网页内容以 Markdown 形式直接保存到 Obsidian Vault，方便离线阅读、标注和整理。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LLM Wiki 来说，Web Clipper 的位置非常重要，它更像是 raw 素材层的入口。当我们看到一篇网页文章时，不只是把链接收藏起来，而是把正文、标题、作者、发布日期、URL 等元数据一起保存成 Markdown。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它还支持网页高亮和选择保存，也有类似阅读器模式的干净视图，可以去掉广告、侧边栏等干扰。这样，当我们后续让 LLM 进行 Ingest 时，它面对的是一个相对干净、结构化、可追溯的原始素材。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模板与变量：让剪藏内容更规范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 Clipper 的另一个关键能力是模板与变量。模板决定了剪藏内容以什么格式保存到 Obsidian。它不是一段固定文本，而是一套可以复用的保存规则。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模板中的变量会在剪藏网页时被替换为当前页面中的实际数据。比如 title 会变成页面标题，url 会变成当前页面 URL，author 会变成作者，content 会变成正文内容。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不同网站提供的数据并不完全相同，所以 Web Clipper 支持多类变量来源。预设变量比较简单通用，Meta 变量适合提取网页 head 中的描述和封面信息，Schema.org 变量来自 JSON-LD 结构化数据，选择器变量可以通过 CSS 选择器精确提取页面元素，提示变量则可以调用语言模型分析页面。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这件事对 LLM Wiki 很重要。因为原始素材越规范，后续 Ingest 时 LLM 就越容易理解来源、正文、日期、作者和上下文。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解释器：剪藏前先让模型处理网页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 Clipper 还有一个很有用的能力，叫解释器。普通 Web Clipper 的工作方式是读取网页内容，根据模板整理格式，然后保存到 Obsidian。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普通模板变量直接读取网页中的现成数据，比如 title、url、content。这些变量不会让 AI 处理内容，只是提取网页已有的信息。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启用解释器后，流程会多一步：Web Clipper 会把网页内容和提示词发送给模型，模型根据提示词返回摘要、翻译、提取结果或改写结果，再把这些结果填入模板，最后保存到 Obsidian。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解释器提示变量的语法是双大括号里面写一段自然语言提示词，例如“用三句话总结这篇文章”。它的价值在于，剪藏进入 raw 层之前，已经可以完成一次轻量的 AI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不过它也有边界：解释器需要配置提供商、模型和 API 密钥，运行速度会更慢，也会消耗 Token 和费用。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每日工作流：让知识持续进入 Wiki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如果把前面这些概念落到日常实践中，LLM Wiki 可以变成一个很轻量的工作流。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第一步是网页剪藏。看到有价值的文章、博客、资料，就用 Obsidian Web Clipper 把正文、元数据和高亮保存到 raw 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第二步是执行编译，也就是让 LLM 进行 Ingest。它会阅读素材，生成摘要，更新 index，补充相关的概念页面、实体页面和交叉引用。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第三步是直接从 Wiki 提问。这个时候，LLM 不再只是面对原始网页，而是先读已经整理过的 Wiki 页面，再给出综合回答。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第四步是归档答案。如果某个回答质量很高，比如一次对比、一次分析、一个新的关联发现，就可以把它整理成新的 Wiki 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第五步是定期 Lint，自建修复。让 LLM 检查死链、矛盾、孤立页面、陈旧说法和缺失的交叉引用。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从检索拼凑，到知识编译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增长的速度，早已超过了人类手动整理信息的速度。单纯的“检索-拼凑”模式，可以让你瞬间找到一百篇论文的相关片段，却很难帮你从中提炼出一个真正连贯的知识框架。快速翻书和深度理解之间，始终隔着一道鸿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而 LLM Wiki 所代表的“编译”思路，正在被越来越多的项目和产品采纳。它的本质，是把 LLM 的理解能力前置：将理解成本从每次查询的时刻，转移到内容摄入的那一刻。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每多摄入一份材料，知识不是被塞进数据库，而是被编织进一张不断生长的网。这正是知识积累的复利效应。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技术融合方向：不是替代，而是组合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最后看一下技术融合方向。第一点，LLM Wiki 并不是 RAG 的替代品，两者可以结合。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 依然适合处理海量文档、快速检索和低延迟访问；而 LLM Wiki 更适合把高价值材料沉淀为结构化知识网络。所以一个更合理的组合是：RAG 作为外围检索通道，LLM Wiki 作为核心知识沉淀层。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第二个方向是多模态 LLM Wiki。也就是从纯文本走向多模态知识的统一编译。未来不只是文章和 Markdown，图片、视频字幕、音频转写、会议记录、产品截图，都可以进入同一个知识编译流程。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最终的目标，是让不同模态的信息都能被整理为可查询、可链接、可演化的知识结构。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总结：从知识访问，到知识积累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最后我们简单总结一下。RAG 解决的是知识访问问题。它让模型可以在回答之前拿到外部资料，适合快速检索最新信息、企业文档和个人资料。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Wiki 关注的是知识积累问题。它不是只在查询时临时拼接片段，而是把资料逐步编译成结构化、相互链接、可演化的 Markdown Wiki。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Obsidian 则提供了一个合适的承载层。它底层是本地 Markdown，适合 LLM 读写；同时又有双向链接、图谱、属性和插件，适合人浏览和审阅。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所以真正的目标不是保存更多资料，而是让资料变成可复用、可演进的知识。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谢谢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以上就是今天的分享。</a:t>
            </a:r>
          </a:p>
          <a:p xmlns:a="http://schemas.openxmlformats.org/drawingml/2006/main">
            <a:r>
              <a:t>如果只记住一句话，我希望是：保存只是开始，沉淀才会产生复利。</a:t>
            </a:r>
          </a:p>
          <a:p xmlns:a="http://schemas.openxmlformats.org/drawingml/2006/main">
            <a:r>
              <a:t>当 LLM 能够持续帮助我们整理、链接、更新和校验知识时，个人知识库就不再只是资料仓库，而会逐渐变成长期记忆层。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谢谢大家，欢迎交流。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764043699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c3a54e6bec4cde" /><Relationship Type="http://schemas.openxmlformats.org/officeDocument/2006/relationships/slideLayout" Target="/ppt/slideLayouts/slideLayout1.xml" Id="R17f5a455b0a643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f5a455b0a643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9c24191934844" /><Relationship Type="http://schemas.openxmlformats.org/officeDocument/2006/relationships/notesSlide" Target="/ppt/notesSlides/notesSlide1.xml" Id="Re46e454dc015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4018c9dd848e2" /><Relationship Type="http://schemas.openxmlformats.org/officeDocument/2006/relationships/notesSlide" Target="/ppt/notesSlides/notesSlide2.xml" Id="R7ac0f2aab82546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f39e1e17b4332" /><Relationship Type="http://schemas.openxmlformats.org/officeDocument/2006/relationships/notesSlide" Target="/ppt/notesSlides/notesSlide3.xml" Id="R731cba6305ca4d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97a033835478f" /><Relationship Type="http://schemas.openxmlformats.org/officeDocument/2006/relationships/notesSlide" Target="/ppt/notesSlides/notesSlide4.xml" Id="R8d7b1ac5052f49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ade5151234b52" /><Relationship Type="http://schemas.openxmlformats.org/officeDocument/2006/relationships/notesSlide" Target="/ppt/notesSlides/notesSlide5.xml" Id="R4bf56cb7d4b042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3b808d37644e7" /><Relationship Type="http://schemas.openxmlformats.org/officeDocument/2006/relationships/notesSlide" Target="/ppt/notesSlides/notesSlide6.xml" Id="R080eceda597943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1e05059f7413f" /><Relationship Type="http://schemas.openxmlformats.org/officeDocument/2006/relationships/notesSlide" Target="/ppt/notesSlides/notesSlide7.xml" Id="R2254d276a23846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c0c62e95f4d20" /><Relationship Type="http://schemas.openxmlformats.org/officeDocument/2006/relationships/notesSlide" Target="/ppt/notesSlides/notesSlide8.xml" Id="R6d0472965d3c43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8a35f231c4c34" /><Relationship Type="http://schemas.openxmlformats.org/officeDocument/2006/relationships/notesSlide" Target="/ppt/notesSlides/notesSlide9.xml" Id="Rc28f8d0db4564c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0e86a381c497d" /><Relationship Type="http://schemas.openxmlformats.org/officeDocument/2006/relationships/notesSlide" Target="/ppt/notesSlides/notesSlide10.xml" Id="R29fdba791b7d4a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f1ce807a94188" /><Relationship Type="http://schemas.openxmlformats.org/officeDocument/2006/relationships/notesSlide" Target="/ppt/notesSlides/notesSlide11.xml" Id="R5c3790cdd7bb43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a7ff62f0a4077" /><Relationship Type="http://schemas.openxmlformats.org/officeDocument/2006/relationships/notesSlide" Target="/ppt/notesSlides/notesSlide12.xml" Id="R54aacc096a124c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ef27af5d64c28" /><Relationship Type="http://schemas.openxmlformats.org/officeDocument/2006/relationships/notesSlide" Target="/ppt/notesSlides/notesSlide13.xml" Id="R80a1d92d4d6d49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e78840d064fef" /><Relationship Type="http://schemas.openxmlformats.org/officeDocument/2006/relationships/notesSlide" Target="/ppt/notesSlides/notesSlide14.xml" Id="Reddbb0c4dcbd4f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95e074a984fe9" /><Relationship Type="http://schemas.openxmlformats.org/officeDocument/2006/relationships/notesSlide" Target="/ppt/notesSlides/notesSlide15.xml" Id="R4b610a284d4740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e494af8b4456a" /><Relationship Type="http://schemas.openxmlformats.org/officeDocument/2006/relationships/notesSlide" Target="/ppt/notesSlides/notesSlide16.xml" Id="R134ff0ae509c43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2f42b85864a79" /><Relationship Type="http://schemas.openxmlformats.org/officeDocument/2006/relationships/notesSlide" Target="/ppt/notesSlides/notesSlide17.xml" Id="R1197b6690c25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1C236F8-FDC6-4BFC-91FD-BD79FFD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01 / 开场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E61E6E27-F26A-4372-B99E-22662E3A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3905250" cy="-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20A2AA88-4151-4119-A930-BD1EDDDC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57250"/>
            <a:ext cx="422910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FCED17-A680-4E89-981F-FAAD232F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101816"/>
                </a:solidFill>
              </a:defRPr>
            </a:pPr>
            <a:r>
              <a:rPr sz="4125" b="1">
                <a:solidFill>
                  <a:srgbClr val="101816"/>
                </a:solidFill>
              </a:rPr>
              <a:t>从 RAG 到 LLM Wiki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1B3123B-3BEB-4982-AE17-AA682E52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4A45"/>
                </a:solidFill>
              </a:defRPr>
            </a:pPr>
            <a:r>
              <a:rPr sz="1875" b="1">
                <a:solidFill>
                  <a:srgbClr val="3D4A45"/>
                </a:solidFill>
              </a:rPr>
              <a:t>用 Obsidian + LLM 构建会生长的个人知识库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07D335D6-0C3A-423F-ADF2-B564B8AB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43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原始资料</a:t>
            </a:r>
          </a:p>
        </p:txBody>
      </p:sp>
      <p:sp>
        <p:nvSpPr>
          <p:cNvPr id="7" name="file-pdf">
            <a:extLst xmlns:a="http://schemas.openxmlformats.org/drawingml/2006/main">
              <a:ext uri="{FF2B5EF4-FFF2-40B4-BE49-F238E27FC236}">
                <a16:creationId xmlns:a16="http://schemas.microsoft.com/office/drawing/2014/main" id="{80CCDB37-15E6-42BE-AD4C-FFE09983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990600" y="291465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file-pdf-label">
            <a:extLst xmlns:a="http://schemas.openxmlformats.org/drawingml/2006/main">
              <a:ext uri="{FF2B5EF4-FFF2-40B4-BE49-F238E27FC236}">
                <a16:creationId xmlns:a16="http://schemas.microsoft.com/office/drawing/2014/main" id="{BB45EC1B-FE04-4C48-82F4-190C5378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1162050" y="3105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PDF</a:t>
            </a:r>
          </a:p>
        </p:txBody>
      </p:sp>
      <p:sp>
        <p:nvSpPr>
          <p:cNvPr id="9" name="file-pdf-rule-1">
            <a:extLst xmlns:a="http://schemas.openxmlformats.org/drawingml/2006/main">
              <a:ext uri="{FF2B5EF4-FFF2-40B4-BE49-F238E27FC236}">
                <a16:creationId xmlns:a16="http://schemas.microsoft.com/office/drawing/2014/main" id="{CE37FB9D-2555-46DC-9D3E-FF3318BC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10" name="file-pdf-rule-2">
            <a:extLst xmlns:a="http://schemas.openxmlformats.org/drawingml/2006/main">
              <a:ext uri="{FF2B5EF4-FFF2-40B4-BE49-F238E27FC236}">
                <a16:creationId xmlns:a16="http://schemas.microsoft.com/office/drawing/2014/main" id="{BA844F8D-1C34-40B7-9EBA-65047323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1" name="file-pdf-rule-3">
            <a:extLst xmlns:a="http://schemas.openxmlformats.org/drawingml/2006/main">
              <a:ext uri="{FF2B5EF4-FFF2-40B4-BE49-F238E27FC236}">
                <a16:creationId xmlns:a16="http://schemas.microsoft.com/office/drawing/2014/main" id="{9B641CE5-9F8D-4732-B23A-8D6B21BB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2" name="file-pdf-corner">
            <a:extLst xmlns:a="http://schemas.openxmlformats.org/drawingml/2006/main">
              <a:ext uri="{FF2B5EF4-FFF2-40B4-BE49-F238E27FC236}">
                <a16:creationId xmlns:a16="http://schemas.microsoft.com/office/drawing/2014/main" id="{746F9775-6456-447E-96C3-199DE587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1924050" y="293370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3" name="file-web">
            <a:extLst xmlns:a="http://schemas.openxmlformats.org/drawingml/2006/main">
              <a:ext uri="{FF2B5EF4-FFF2-40B4-BE49-F238E27FC236}">
                <a16:creationId xmlns:a16="http://schemas.microsoft.com/office/drawing/2014/main" id="{7F5A91F9-1DDA-4E6C-BC89-87DF3B58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038350" y="320040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file-web-label">
            <a:extLst xmlns:a="http://schemas.openxmlformats.org/drawingml/2006/main">
              <a:ext uri="{FF2B5EF4-FFF2-40B4-BE49-F238E27FC236}">
                <a16:creationId xmlns:a16="http://schemas.microsoft.com/office/drawing/2014/main" id="{DC683E1B-69E7-45E2-8D8B-2058D04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209800" y="33909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网页</a:t>
            </a:r>
          </a:p>
        </p:txBody>
      </p:sp>
      <p:sp>
        <p:nvSpPr>
          <p:cNvPr id="15" name="file-web-rule-1">
            <a:extLst xmlns:a="http://schemas.openxmlformats.org/drawingml/2006/main">
              <a:ext uri="{FF2B5EF4-FFF2-40B4-BE49-F238E27FC236}">
                <a16:creationId xmlns:a16="http://schemas.microsoft.com/office/drawing/2014/main" id="{0244FF96-A257-4D5A-A3CA-33207398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16" name="file-web-rule-2">
            <a:extLst xmlns:a="http://schemas.openxmlformats.org/drawingml/2006/main">
              <a:ext uri="{FF2B5EF4-FFF2-40B4-BE49-F238E27FC236}">
                <a16:creationId xmlns:a16="http://schemas.microsoft.com/office/drawing/2014/main" id="{C9702BB5-86FC-42D3-9584-2010542B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148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7" name="file-web-rule-3">
            <a:extLst xmlns:a="http://schemas.openxmlformats.org/drawingml/2006/main">
              <a:ext uri="{FF2B5EF4-FFF2-40B4-BE49-F238E27FC236}">
                <a16:creationId xmlns:a16="http://schemas.microsoft.com/office/drawing/2014/main" id="{BB9320BC-84E8-4569-A0E0-4890F3A1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434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18" name="file-web-corner">
            <a:extLst xmlns:a="http://schemas.openxmlformats.org/drawingml/2006/main">
              <a:ext uri="{FF2B5EF4-FFF2-40B4-BE49-F238E27FC236}">
                <a16:creationId xmlns:a16="http://schemas.microsoft.com/office/drawing/2014/main" id="{97AF970E-C019-48E4-90F0-7DAAB705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971800" y="321945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9" name="file-meeting">
            <a:extLst xmlns:a="http://schemas.openxmlformats.org/drawingml/2006/main">
              <a:ext uri="{FF2B5EF4-FFF2-40B4-BE49-F238E27FC236}">
                <a16:creationId xmlns:a16="http://schemas.microsoft.com/office/drawing/2014/main" id="{4A4CB168-7065-4D60-9B45-1D0B64C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009900" y="2857500"/>
            <a:ext cx="1181100" cy="14668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333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file-meeting-label">
            <a:extLst xmlns:a="http://schemas.openxmlformats.org/drawingml/2006/main">
              <a:ext uri="{FF2B5EF4-FFF2-40B4-BE49-F238E27FC236}">
                <a16:creationId xmlns:a16="http://schemas.microsoft.com/office/drawing/2014/main" id="{6EE7C3CA-18A7-40C6-A8FB-ABE7D97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181350" y="3048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4A45"/>
                </a:solidFill>
              </a:defRPr>
            </a:pPr>
            <a:r>
              <a:rPr sz="1350" b="1">
                <a:solidFill>
                  <a:srgbClr val="3D4A45"/>
                </a:solidFill>
              </a:rPr>
              <a:t>会议记录</a:t>
            </a:r>
          </a:p>
        </p:txBody>
      </p:sp>
      <p:sp>
        <p:nvSpPr>
          <p:cNvPr id="21" name="file-meeting-rule-1">
            <a:extLst xmlns:a="http://schemas.openxmlformats.org/drawingml/2006/main">
              <a:ext uri="{FF2B5EF4-FFF2-40B4-BE49-F238E27FC236}">
                <a16:creationId xmlns:a16="http://schemas.microsoft.com/office/drawing/2014/main" id="{E6858BCE-15D9-45CC-AD8D-B75311F6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43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BEAE"/>
            </a:solidFill>
            <a:prstDash val="solid"/>
          </a:ln>
        </p:spPr>
      </p:sp>
      <p:sp>
        <p:nvSpPr>
          <p:cNvPr id="22" name="file-meeting-rule-2">
            <a:extLst xmlns:a="http://schemas.openxmlformats.org/drawingml/2006/main">
              <a:ext uri="{FF2B5EF4-FFF2-40B4-BE49-F238E27FC236}">
                <a16:creationId xmlns:a16="http://schemas.microsoft.com/office/drawing/2014/main" id="{6C1C195F-FA30-49F3-AED3-1491B117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23" name="file-meeting-rule-3">
            <a:extLst xmlns:a="http://schemas.openxmlformats.org/drawingml/2006/main">
              <a:ext uri="{FF2B5EF4-FFF2-40B4-BE49-F238E27FC236}">
                <a16:creationId xmlns:a16="http://schemas.microsoft.com/office/drawing/2014/main" id="{F420A121-63DD-4465-BFF0-A8B2450F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1C3"/>
            </a:solidFill>
            <a:prstDash val="solid"/>
          </a:ln>
        </p:spPr>
      </p:sp>
      <p:sp>
        <p:nvSpPr>
          <p:cNvPr id="24" name="file-meeting-corner">
            <a:extLst xmlns:a="http://schemas.openxmlformats.org/drawingml/2006/main">
              <a:ext uri="{FF2B5EF4-FFF2-40B4-BE49-F238E27FC236}">
                <a16:creationId xmlns:a16="http://schemas.microsoft.com/office/drawing/2014/main" id="{9DD26B02-42EA-4B5D-9EB5-910E691E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3943350" y="2876550"/>
            <a:ext cx="228600" cy="2286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5" name="compiler">
            <a:extLst xmlns:a="http://schemas.openxmlformats.org/drawingml/2006/main">
              <a:ext uri="{FF2B5EF4-FFF2-40B4-BE49-F238E27FC236}">
                <a16:creationId xmlns:a16="http://schemas.microsoft.com/office/drawing/2014/main" id="{14A2505B-5370-4AFA-8278-7483EF1B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2095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01816"/>
                </a:solidFill>
              </a:defRPr>
            </a:pPr>
            <a:r>
              <a:rPr sz="2550" b="1">
                <a:solidFill>
                  <a:srgbClr val="101816"/>
                </a:solidFill>
              </a:rPr>
              <a:t>LLM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01816"/>
                </a:solidFill>
              </a:defRPr>
            </a:pPr>
            <a:r>
              <a:rPr sz="2550" b="1">
                <a:solidFill>
                  <a:srgbClr val="101816"/>
                </a:solidFill>
              </a:rPr>
              <a:t>编译</a:t>
            </a:r>
          </a:p>
        </p:txBody>
      </p:sp>
      <p:sp>
        <p:nvSpPr>
          <p:cNvPr id="26" name="compiler-small">
            <a:extLst xmlns:a="http://schemas.openxmlformats.org/drawingml/2006/main">
              <a:ext uri="{FF2B5EF4-FFF2-40B4-BE49-F238E27FC236}">
                <a16:creationId xmlns:a16="http://schemas.microsoft.com/office/drawing/2014/main" id="{F0315023-52C2-406D-BFD2-B1DF5245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理解 · 抽象 · 关联 · 结构化</a:t>
            </a:r>
          </a:p>
        </p:txBody>
      </p:sp>
      <p:sp>
        <p:nvSpPr>
          <p:cNvPr id="27" name="node-wiki">
            <a:extLst xmlns:a="http://schemas.openxmlformats.org/drawingml/2006/main">
              <a:ext uri="{FF2B5EF4-FFF2-40B4-BE49-F238E27FC236}">
                <a16:creationId xmlns:a16="http://schemas.microsoft.com/office/drawing/2014/main" id="{6F12FEBD-A8D2-49BB-94F2-782BF08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C6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816"/>
                </a:solidFill>
              </a:defRPr>
            </a:pPr>
            <a:r>
              <a:rPr sz="975" b="1">
                <a:solidFill>
                  <a:srgbClr val="101816"/>
                </a:solidFill>
              </a:rPr>
              <a:t>Wiki</a:t>
            </a:r>
          </a:p>
        </p:txBody>
      </p:sp>
      <p:sp>
        <p:nvSpPr>
          <p:cNvPr id="28" name="node-concept">
            <a:extLst xmlns:a="http://schemas.openxmlformats.org/drawingml/2006/main">
              <a:ext uri="{FF2B5EF4-FFF2-40B4-BE49-F238E27FC236}">
                <a16:creationId xmlns:a16="http://schemas.microsoft.com/office/drawing/2014/main" id="{519042A9-F369-4C73-BFF7-D780642E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概念</a:t>
            </a:r>
          </a:p>
        </p:txBody>
      </p:sp>
      <p:sp>
        <p:nvSpPr>
          <p:cNvPr id="29" name="node-entity">
            <a:extLst xmlns:a="http://schemas.openxmlformats.org/drawingml/2006/main">
              <a:ext uri="{FF2B5EF4-FFF2-40B4-BE49-F238E27FC236}">
                <a16:creationId xmlns:a16="http://schemas.microsoft.com/office/drawing/2014/main" id="{19B5F5F1-CAD1-4EB6-81FA-CC374C82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实体</a:t>
            </a:r>
          </a:p>
        </p:txBody>
      </p:sp>
      <p:sp>
        <p:nvSpPr>
          <p:cNvPr id="30" name="node-summary">
            <a:extLst xmlns:a="http://schemas.openxmlformats.org/drawingml/2006/main">
              <a:ext uri="{FF2B5EF4-FFF2-40B4-BE49-F238E27FC236}">
                <a16:creationId xmlns:a16="http://schemas.microsoft.com/office/drawing/2014/main" id="{3E258768-D539-40FE-809C-F7166170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摘要</a:t>
            </a:r>
          </a:p>
        </p:txBody>
      </p:sp>
      <p:sp>
        <p:nvSpPr>
          <p:cNvPr id="31" name="node-compare">
            <a:extLst xmlns:a="http://schemas.openxmlformats.org/drawingml/2006/main">
              <a:ext uri="{FF2B5EF4-FFF2-40B4-BE49-F238E27FC236}">
                <a16:creationId xmlns:a16="http://schemas.microsoft.com/office/drawing/2014/main" id="{33ACBBE0-6300-400D-AD63-12933E99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09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对比</a:t>
            </a:r>
          </a:p>
        </p:txBody>
      </p:sp>
      <p:sp>
        <p:nvSpPr>
          <p:cNvPr id="32" name="node-synthesis">
            <a:extLst xmlns:a="http://schemas.openxmlformats.org/drawingml/2006/main">
              <a:ext uri="{FF2B5EF4-FFF2-40B4-BE49-F238E27FC236}">
                <a16:creationId xmlns:a16="http://schemas.microsoft.com/office/drawing/2014/main" id="{62E5A970-5FB1-4723-9988-A6A79E0F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综合</a:t>
            </a:r>
          </a:p>
        </p:txBody>
      </p:sp>
      <p:cxnSp>
        <p:nvCxnSpPr>
          <p:cNvPr id="125" name=""/>
          <p:cNvCxnSpPr>
            <a:stCxn xmlns:a="http://schemas.openxmlformats.org/drawingml/2006/main" id="27" idx="1"/>
            <a:endCxn xmlns:a="http://schemas.openxmlformats.org/drawingml/2006/main" id="28" idx="5"/>
          </p:cNvCxnSpPr>
          <p:nvPr/>
        </p:nvCxnSpPr>
        <p:spPr>
          <a:xfrm xmlns:a="http://schemas.openxmlformats.org/drawingml/2006/main" flipH="1" flipV="1">
            <a:off x="9405996" y="3100446"/>
            <a:ext cx="418307" cy="24685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6" name=""/>
          <p:cNvCxnSpPr>
            <a:stCxn xmlns:a="http://schemas.openxmlformats.org/drawingml/2006/main" id="27" idx="7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V="1">
            <a:off x="10349647" y="3043296"/>
            <a:ext cx="380207" cy="30400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7" name=""/>
          <p:cNvCxnSpPr>
            <a:stCxn xmlns:a="http://schemas.openxmlformats.org/drawingml/2006/main" id="27" idx="3"/>
            <a:endCxn xmlns:a="http://schemas.openxmlformats.org/drawingml/2006/main" id="30" idx="7"/>
          </p:cNvCxnSpPr>
          <p:nvPr/>
        </p:nvCxnSpPr>
        <p:spPr>
          <a:xfrm xmlns:a="http://schemas.openxmlformats.org/drawingml/2006/main" flipH="1">
            <a:off x="9329796" y="3872647"/>
            <a:ext cx="494507" cy="24685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8" name=""/>
          <p:cNvCxnSpPr>
            <a:stCxn xmlns:a="http://schemas.openxmlformats.org/drawingml/2006/main" id="27" idx="5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0349647" y="3872647"/>
            <a:ext cx="418307" cy="304007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9" name=""/>
          <p:cNvCxnSpPr>
            <a:stCxn xmlns:a="http://schemas.openxmlformats.org/drawingml/2006/main" id="27" idx="4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086975" y="398145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30" name=""/>
          <p:cNvCxnSpPr>
            <a:stCxn xmlns:a="http://schemas.openxmlformats.org/drawingml/2006/main" id="28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9486900" y="2847975"/>
            <a:ext cx="11620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31" name=""/>
          <p:cNvCxnSpPr>
            <a:stCxn xmlns:a="http://schemas.openxmlformats.org/drawingml/2006/main" id="30" idx="5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329796" y="4510146"/>
            <a:ext cx="561859" cy="447559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32" name=""/>
          <p:cNvCxnSpPr>
            <a:stCxn xmlns:a="http://schemas.openxmlformats.org/drawingml/2006/main" id="31" idx="3"/>
            <a:endCxn xmlns:a="http://schemas.openxmlformats.org/drawingml/2006/main" id="32" idx="7"/>
          </p:cNvCxnSpPr>
          <p:nvPr/>
        </p:nvCxnSpPr>
        <p:spPr>
          <a:xfrm xmlns:a="http://schemas.openxmlformats.org/drawingml/2006/main" flipH="1">
            <a:off x="10282296" y="4567296"/>
            <a:ext cx="485659" cy="390409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sp>
        <p:nvSpPr>
          <p:cNvPr id="41" name="right-label">
            <a:extLst xmlns:a="http://schemas.openxmlformats.org/drawingml/2006/main">
              <a:ext uri="{FF2B5EF4-FFF2-40B4-BE49-F238E27FC236}">
                <a16:creationId xmlns:a16="http://schemas.microsoft.com/office/drawing/2014/main" id="{50962454-F404-4585-927B-26372B6B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Wiki 知识网络</a:t>
            </a:r>
          </a:p>
        </p:txBody>
      </p:sp>
      <p:cxnSp>
        <p:nvCxnSpPr>
          <p:cNvPr id="134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4189561" y="3505200"/>
            <a:ext cx="858689" cy="4453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35" name=""/>
          <p:cNvCxnSpPr>
            <a:stCxn xmlns:a="http://schemas.openxmlformats.org/drawingml/2006/main" id="25" idx="3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7143750" y="3505200"/>
            <a:ext cx="25717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44" name="opening-note-box">
            <a:extLst xmlns:a="http://schemas.openxmlformats.org/drawingml/2006/main">
              <a:ext uri="{FF2B5EF4-FFF2-40B4-BE49-F238E27FC236}">
                <a16:creationId xmlns:a16="http://schemas.microsoft.com/office/drawing/2014/main" id="{3E148D0A-0CD7-48D9-AB72-0FA2185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2DA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5" name="opening-note-label">
            <a:extLst xmlns:a="http://schemas.openxmlformats.org/drawingml/2006/main">
              <a:ext uri="{FF2B5EF4-FFF2-40B4-BE49-F238E27FC236}">
                <a16:creationId xmlns:a16="http://schemas.microsoft.com/office/drawing/2014/main" id="{E128F886-D7AF-4DAF-A85D-921F7EAC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/>
            </a:r>
          </a:p>
        </p:txBody>
      </p:sp>
      <p:sp>
        <p:nvSpPr>
          <p:cNvPr id="46" name="opening-note-paragraph">
            <a:extLst xmlns:a="http://schemas.openxmlformats.org/drawingml/2006/main">
              <a:ext uri="{FF2B5EF4-FFF2-40B4-BE49-F238E27FC236}">
                <a16:creationId xmlns:a16="http://schemas.microsoft.com/office/drawing/2014/main" id="{625A7469-86F0-4732-AB18-594A9AD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今天不是讲 Obsidian 的具体操作，而是借它说明一种知识库范式：资料如何从“被保存”，变成“被理解、链接和复用”。这条线会先看 RAG 的局限，再进入 LLM Wiki，最后回到 Obsidian 的落地工作流。</a:t>
            </a:r>
          </a:p>
        </p:txBody>
      </p:sp>
      <p:sp>
        <p:nvSpPr>
          <p:cNvPr id="47" name="opening-note-accent">
            <a:extLst xmlns:a="http://schemas.openxmlformats.org/drawingml/2006/main">
              <a:ext uri="{FF2B5EF4-FFF2-40B4-BE49-F238E27FC236}">
                <a16:creationId xmlns:a16="http://schemas.microsoft.com/office/drawing/2014/main" id="{F72E458D-7EF4-4E43-9F89-0C6A91F7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8" name="footer">
            <a:extLst xmlns:a="http://schemas.openxmlformats.org/drawingml/2006/main">
              <a:ext uri="{FF2B5EF4-FFF2-40B4-BE49-F238E27FC236}">
                <a16:creationId xmlns:a16="http://schemas.microsoft.com/office/drawing/2014/main" id="{23586852-6BD4-4826-A0BA-5641A8B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Ingest · Query · Lint</a:t>
            </a:r>
          </a:p>
        </p:txBody>
      </p:sp>
      <p:sp>
        <p:nvSpPr>
          <p:cNvPr id="4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53BA59-1B58-4E80-B0B2-8FB4AF20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01 / 17</a:t>
            </a:r>
          </a:p>
        </p:txBody>
      </p:sp>
    </p:spTree>
    <p:extLst>
      <p:ext uri="{BB962C8B-B14F-4D97-AF65-F5344CB8AC3E}">
        <p14:creationId xmlns:p14="http://schemas.microsoft.com/office/powerpoint/2010/main" val="1660006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C01E265-35BE-4051-B29D-335B3412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02 / 传统 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A91F3B5-F562-4067-BBF8-E2AA99C4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C89AB521-EDDC-481A-BFB5-B5530BE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5C60AF-A900-4C08-8490-7E6B6DF4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16"/>
                </a:solidFill>
              </a:defRPr>
            </a:pPr>
            <a:r>
              <a:rPr sz="3225" b="1">
                <a:solidFill>
                  <a:srgbClr val="101816"/>
                </a:solidFill>
              </a:rPr>
              <a:t>传统 RAG 的工作原理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92B9E31-692E-4346-A0AC-49A5E7A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在模型生成答案之前，引入外部知识作为上下文</a:t>
            </a:r>
          </a:p>
        </p:txBody>
      </p:sp>
      <p:sp>
        <p:nvSpPr>
          <p:cNvPr id="6" name="stage-build-label">
            <a:extLst xmlns:a="http://schemas.openxmlformats.org/drawingml/2006/main">
              <a:ext uri="{FF2B5EF4-FFF2-40B4-BE49-F238E27FC236}">
                <a16:creationId xmlns:a16="http://schemas.microsoft.com/office/drawing/2014/main" id="{81D08FB6-FFCA-4B8B-85C5-24A5C6E5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81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知识库构建阶段</a:t>
            </a:r>
          </a:p>
        </p:txBody>
      </p:sp>
      <p:sp>
        <p:nvSpPr>
          <p:cNvPr id="7" name="source-doc-1">
            <a:extLst xmlns:a="http://schemas.openxmlformats.org/drawingml/2006/main">
              <a:ext uri="{FF2B5EF4-FFF2-40B4-BE49-F238E27FC236}">
                <a16:creationId xmlns:a16="http://schemas.microsoft.com/office/drawing/2014/main" id="{BC845EA1-38B8-4536-ACD6-170B5F80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666750" y="2238375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source-doc-1-label">
            <a:extLst xmlns:a="http://schemas.openxmlformats.org/drawingml/2006/main">
              <a:ext uri="{FF2B5EF4-FFF2-40B4-BE49-F238E27FC236}">
                <a16:creationId xmlns:a16="http://schemas.microsoft.com/office/drawing/2014/main" id="{1365B931-8E12-4C6D-BD15-945D10F9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790575" y="2362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论文</a:t>
            </a:r>
          </a:p>
        </p:txBody>
      </p:sp>
      <p:sp>
        <p:nvSpPr>
          <p:cNvPr id="9" name="source-doc-1-rule-1">
            <a:extLst xmlns:a="http://schemas.openxmlformats.org/drawingml/2006/main">
              <a:ext uri="{FF2B5EF4-FFF2-40B4-BE49-F238E27FC236}">
                <a16:creationId xmlns:a16="http://schemas.microsoft.com/office/drawing/2014/main" id="{A2D0B081-AEAC-4CF2-9DEA-9CFACC2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0" name="source-doc-1-rule-2">
            <a:extLst xmlns:a="http://schemas.openxmlformats.org/drawingml/2006/main">
              <a:ext uri="{FF2B5EF4-FFF2-40B4-BE49-F238E27FC236}">
                <a16:creationId xmlns:a16="http://schemas.microsoft.com/office/drawing/2014/main" id="{48325431-B3A9-46E5-95B3-2E56DE51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1" name="source-doc-2">
            <a:extLst xmlns:a="http://schemas.openxmlformats.org/drawingml/2006/main">
              <a:ext uri="{FF2B5EF4-FFF2-40B4-BE49-F238E27FC236}">
                <a16:creationId xmlns:a16="http://schemas.microsoft.com/office/drawing/2014/main" id="{6ED02FA6-76CB-4956-871B-8570B10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285875" y="2457450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ource-doc-2-label">
            <a:extLst xmlns:a="http://schemas.openxmlformats.org/drawingml/2006/main">
              <a:ext uri="{FF2B5EF4-FFF2-40B4-BE49-F238E27FC236}">
                <a16:creationId xmlns:a16="http://schemas.microsoft.com/office/drawing/2014/main" id="{13411ADE-660E-469E-9013-85E6725B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409700" y="2581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网页</a:t>
            </a:r>
          </a:p>
        </p:txBody>
      </p:sp>
      <p:sp>
        <p:nvSpPr>
          <p:cNvPr id="13" name="source-doc-2-rule-1">
            <a:extLst xmlns:a="http://schemas.openxmlformats.org/drawingml/2006/main">
              <a:ext uri="{FF2B5EF4-FFF2-40B4-BE49-F238E27FC236}">
                <a16:creationId xmlns:a16="http://schemas.microsoft.com/office/drawing/2014/main" id="{7C76825A-ADFF-47F9-A410-148D346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4" name="source-doc-2-rule-2">
            <a:extLst xmlns:a="http://schemas.openxmlformats.org/drawingml/2006/main">
              <a:ext uri="{FF2B5EF4-FFF2-40B4-BE49-F238E27FC236}">
                <a16:creationId xmlns:a16="http://schemas.microsoft.com/office/drawing/2014/main" id="{53B5C38B-D31A-49D3-81C0-A133D139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242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5" name="source-doc-3">
            <a:extLst xmlns:a="http://schemas.openxmlformats.org/drawingml/2006/main">
              <a:ext uri="{FF2B5EF4-FFF2-40B4-BE49-F238E27FC236}">
                <a16:creationId xmlns:a16="http://schemas.microsoft.com/office/drawing/2014/main" id="{5A1A8CAF-0C30-43DE-9BD0-BA984F2B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905000" y="2209800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source-doc-3-label">
            <a:extLst xmlns:a="http://schemas.openxmlformats.org/drawingml/2006/main">
              <a:ext uri="{FF2B5EF4-FFF2-40B4-BE49-F238E27FC236}">
                <a16:creationId xmlns:a16="http://schemas.microsoft.com/office/drawing/2014/main" id="{BE3BB916-03A2-4DAA-9BBA-CB4DFF54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028825" y="23336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4A45"/>
                </a:solidFill>
              </a:defRPr>
            </a:pPr>
            <a:r>
              <a:rPr sz="1050" b="1">
                <a:solidFill>
                  <a:srgbClr val="3D4A45"/>
                </a:solidFill>
              </a:rPr>
              <a:t>资料</a:t>
            </a:r>
          </a:p>
        </p:txBody>
      </p:sp>
      <p:sp>
        <p:nvSpPr>
          <p:cNvPr id="17" name="source-doc-3-rule-1">
            <a:extLst xmlns:a="http://schemas.openxmlformats.org/drawingml/2006/main">
              <a:ext uri="{FF2B5EF4-FFF2-40B4-BE49-F238E27FC236}">
                <a16:creationId xmlns:a16="http://schemas.microsoft.com/office/drawing/2014/main" id="{828BA7E3-EDF1-43CD-939C-8C6D040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6860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C0AF"/>
            </a:solidFill>
            <a:prstDash val="solid"/>
          </a:ln>
        </p:spPr>
      </p:sp>
      <p:sp>
        <p:nvSpPr>
          <p:cNvPr id="18" name="source-doc-3-rule-2">
            <a:extLst xmlns:a="http://schemas.openxmlformats.org/drawingml/2006/main">
              <a:ext uri="{FF2B5EF4-FFF2-40B4-BE49-F238E27FC236}">
                <a16:creationId xmlns:a16="http://schemas.microsoft.com/office/drawing/2014/main" id="{8B675CCD-94BB-43AF-A407-D0ED6D6F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76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D1C3"/>
            </a:solidFill>
            <a:prstDash val="solid"/>
          </a:ln>
        </p:spPr>
      </p:sp>
      <p:sp>
        <p:nvSpPr>
          <p:cNvPr id="19" name="chunk-card">
            <a:extLst xmlns:a="http://schemas.openxmlformats.org/drawingml/2006/main">
              <a:ext uri="{FF2B5EF4-FFF2-40B4-BE49-F238E27FC236}">
                <a16:creationId xmlns:a16="http://schemas.microsoft.com/office/drawing/2014/main" id="{992985FD-5B45-4B68-8BA0-ECC1B7F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238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chunk-card-accent">
            <a:extLst xmlns:a="http://schemas.openxmlformats.org/drawingml/2006/main">
              <a:ext uri="{FF2B5EF4-FFF2-40B4-BE49-F238E27FC236}">
                <a16:creationId xmlns:a16="http://schemas.microsoft.com/office/drawing/2014/main" id="{9C8BF80F-908C-4D53-89F8-A0B7D931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1" name="chunk-card-title">
            <a:extLst xmlns:a="http://schemas.openxmlformats.org/drawingml/2006/main">
              <a:ext uri="{FF2B5EF4-FFF2-40B4-BE49-F238E27FC236}">
                <a16:creationId xmlns:a16="http://schemas.microsoft.com/office/drawing/2014/main" id="{DF8ED458-6FA6-4B98-ACF2-C7818FB1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文档切片</a:t>
            </a:r>
          </a:p>
        </p:txBody>
      </p:sp>
      <p:sp>
        <p:nvSpPr>
          <p:cNvPr id="22" name="chunk-card-detail">
            <a:extLst xmlns:a="http://schemas.openxmlformats.org/drawingml/2006/main">
              <a:ext uri="{FF2B5EF4-FFF2-40B4-BE49-F238E27FC236}">
                <a16:creationId xmlns:a16="http://schemas.microsoft.com/office/drawing/2014/main" id="{4A488CF1-3A48-475A-B03B-B011CB1A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1462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把原始文档切成多个文本片段</a:t>
            </a:r>
          </a:p>
        </p:txBody>
      </p:sp>
      <p:sp>
        <p:nvSpPr>
          <p:cNvPr id="23" name="embed-card">
            <a:extLst xmlns:a="http://schemas.openxmlformats.org/drawingml/2006/main">
              <a:ext uri="{FF2B5EF4-FFF2-40B4-BE49-F238E27FC236}">
                <a16:creationId xmlns:a16="http://schemas.microsoft.com/office/drawing/2014/main" id="{98257672-0F14-473D-97C2-2661E8E7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3811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4" name="embed-card-accent">
            <a:extLst xmlns:a="http://schemas.openxmlformats.org/drawingml/2006/main">
              <a:ext uri="{FF2B5EF4-FFF2-40B4-BE49-F238E27FC236}">
                <a16:creationId xmlns:a16="http://schemas.microsoft.com/office/drawing/2014/main" id="{D0D9EAE8-85A5-486D-BC94-02CC562B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embed-card-title">
            <a:extLst xmlns:a="http://schemas.openxmlformats.org/drawingml/2006/main">
              <a:ext uri="{FF2B5EF4-FFF2-40B4-BE49-F238E27FC236}">
                <a16:creationId xmlns:a16="http://schemas.microsoft.com/office/drawing/2014/main" id="{DCEA8004-8DE5-4073-92B2-D354FD36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1076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向量化</a:t>
            </a:r>
          </a:p>
        </p:txBody>
      </p:sp>
      <p:sp>
        <p:nvSpPr>
          <p:cNvPr id="26" name="embed-card-detail">
            <a:extLst xmlns:a="http://schemas.openxmlformats.org/drawingml/2006/main">
              <a:ext uri="{FF2B5EF4-FFF2-40B4-BE49-F238E27FC236}">
                <a16:creationId xmlns:a16="http://schemas.microsoft.com/office/drawing/2014/main" id="{9DFFCA30-69AF-47C2-9BC7-A00285E8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14625"/>
            <a:ext cx="1076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用嵌入模型将文本片段转换为向量</a:t>
            </a:r>
          </a:p>
        </p:txBody>
      </p:sp>
      <p:sp>
        <p:nvSpPr>
          <p:cNvPr id="27" name="vector-db-card">
            <a:extLst xmlns:a="http://schemas.openxmlformats.org/drawingml/2006/main">
              <a:ext uri="{FF2B5EF4-FFF2-40B4-BE49-F238E27FC236}">
                <a16:creationId xmlns:a16="http://schemas.microsoft.com/office/drawing/2014/main" id="{F32772F6-46D9-4F3A-824B-30C40A82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52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8" name="vector-db-card-accent">
            <a:extLst xmlns:a="http://schemas.openxmlformats.org/drawingml/2006/main">
              <a:ext uri="{FF2B5EF4-FFF2-40B4-BE49-F238E27FC236}">
                <a16:creationId xmlns:a16="http://schemas.microsoft.com/office/drawing/2014/main" id="{7ACECB0F-46E2-444D-973E-A315734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9" name="vector-db-card-title">
            <a:extLst xmlns:a="http://schemas.openxmlformats.org/drawingml/2006/main">
              <a:ext uri="{FF2B5EF4-FFF2-40B4-BE49-F238E27FC236}">
                <a16:creationId xmlns:a16="http://schemas.microsoft.com/office/drawing/2014/main" id="{CA01EBAA-2F18-47ED-B632-8BF3FB6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向量数据库</a:t>
            </a:r>
          </a:p>
        </p:txBody>
      </p:sp>
      <p:sp>
        <p:nvSpPr>
          <p:cNvPr id="30" name="vector-db-card-detail">
            <a:extLst xmlns:a="http://schemas.openxmlformats.org/drawingml/2006/main">
              <a:ext uri="{FF2B5EF4-FFF2-40B4-BE49-F238E27FC236}">
                <a16:creationId xmlns:a16="http://schemas.microsoft.com/office/drawing/2014/main" id="{820360EF-0A47-4E20-931B-E0926972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14625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存储向量与元数据，等待查询检索</a:t>
            </a:r>
          </a:p>
        </p:txBody>
      </p:sp>
      <p:cxnSp>
        <p:nvCxnSpPr>
          <p:cNvPr id="147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85515" y="2675137"/>
            <a:ext cx="457735" cy="4901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48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381500" y="2724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49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143625" y="27241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4" name="stage-query-label">
            <a:extLst xmlns:a="http://schemas.openxmlformats.org/drawingml/2006/main">
              <a:ext uri="{FF2B5EF4-FFF2-40B4-BE49-F238E27FC236}">
                <a16:creationId xmlns:a16="http://schemas.microsoft.com/office/drawing/2014/main" id="{DB8D9E7E-D63D-4A49-BBE5-2B7194B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查询阶段</a:t>
            </a:r>
          </a:p>
        </p:txBody>
      </p:sp>
      <p:sp>
        <p:nvSpPr>
          <p:cNvPr id="35" name="question-card">
            <a:extLst xmlns:a="http://schemas.openxmlformats.org/drawingml/2006/main">
              <a:ext uri="{FF2B5EF4-FFF2-40B4-BE49-F238E27FC236}">
                <a16:creationId xmlns:a16="http://schemas.microsoft.com/office/drawing/2014/main" id="{D11DA0A2-CA83-4AE7-9021-49630511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42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question-card-accent">
            <a:extLst xmlns:a="http://schemas.openxmlformats.org/drawingml/2006/main">
              <a:ext uri="{FF2B5EF4-FFF2-40B4-BE49-F238E27FC236}">
                <a16:creationId xmlns:a16="http://schemas.microsoft.com/office/drawing/2014/main" id="{4261DC62-0FCF-4B6D-B32A-B59189D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7" name="question-card-title">
            <a:extLst xmlns:a="http://schemas.openxmlformats.org/drawingml/2006/main">
              <a:ext uri="{FF2B5EF4-FFF2-40B4-BE49-F238E27FC236}">
                <a16:creationId xmlns:a16="http://schemas.microsoft.com/office/drawing/2014/main" id="{2EFE1772-4221-4B5B-A66C-97296AB6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用户问题</a:t>
            </a:r>
          </a:p>
        </p:txBody>
      </p:sp>
      <p:sp>
        <p:nvSpPr>
          <p:cNvPr id="38" name="question-card-detail">
            <a:extLst xmlns:a="http://schemas.openxmlformats.org/drawingml/2006/main">
              <a:ext uri="{FF2B5EF4-FFF2-40B4-BE49-F238E27FC236}">
                <a16:creationId xmlns:a16="http://schemas.microsoft.com/office/drawing/2014/main" id="{70B6F658-8D1D-48D5-B42C-EFD1204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问题也会被转换为查询向量</a:t>
            </a:r>
          </a:p>
        </p:txBody>
      </p:sp>
      <p:sp>
        <p:nvSpPr>
          <p:cNvPr id="39" name="retrieve-card">
            <a:extLst xmlns:a="http://schemas.openxmlformats.org/drawingml/2006/main">
              <a:ext uri="{FF2B5EF4-FFF2-40B4-BE49-F238E27FC236}">
                <a16:creationId xmlns:a16="http://schemas.microsoft.com/office/drawing/2014/main" id="{34D629DD-10C0-4060-901D-089821BF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0" name="retrieve-card-accent">
            <a:extLst xmlns:a="http://schemas.openxmlformats.org/drawingml/2006/main">
              <a:ext uri="{FF2B5EF4-FFF2-40B4-BE49-F238E27FC236}">
                <a16:creationId xmlns:a16="http://schemas.microsoft.com/office/drawing/2014/main" id="{13AA3CD8-436D-45DE-A0F9-CE12B3C1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41" name="retrieve-card-title">
            <a:extLst xmlns:a="http://schemas.openxmlformats.org/drawingml/2006/main">
              <a:ext uri="{FF2B5EF4-FFF2-40B4-BE49-F238E27FC236}">
                <a16:creationId xmlns:a16="http://schemas.microsoft.com/office/drawing/2014/main" id="{25A723E2-2FA6-41EB-B697-B6DC7484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243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语义检索</a:t>
            </a:r>
          </a:p>
        </p:txBody>
      </p:sp>
      <p:sp>
        <p:nvSpPr>
          <p:cNvPr id="42" name="retrieve-card-detail">
            <a:extLst xmlns:a="http://schemas.openxmlformats.org/drawingml/2006/main">
              <a:ext uri="{FF2B5EF4-FFF2-40B4-BE49-F238E27FC236}">
                <a16:creationId xmlns:a16="http://schemas.microsoft.com/office/drawing/2014/main" id="{AC20757B-EC1E-439A-BF9E-2E157E7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从向量库中找出最相关的片段</a:t>
            </a:r>
          </a:p>
        </p:txBody>
      </p:sp>
      <p:sp>
        <p:nvSpPr>
          <p:cNvPr id="43" name="prompt-card">
            <a:extLst xmlns:a="http://schemas.openxmlformats.org/drawingml/2006/main">
              <a:ext uri="{FF2B5EF4-FFF2-40B4-BE49-F238E27FC236}">
                <a16:creationId xmlns:a16="http://schemas.microsoft.com/office/drawing/2014/main" id="{B366CE58-8148-4469-B954-E7D83058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4" name="prompt-card-accent">
            <a:extLst xmlns:a="http://schemas.openxmlformats.org/drawingml/2006/main">
              <a:ext uri="{FF2B5EF4-FFF2-40B4-BE49-F238E27FC236}">
                <a16:creationId xmlns:a16="http://schemas.microsoft.com/office/drawing/2014/main" id="{2CDA085F-2B62-4638-A840-1DBAF88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5" name="prompt-card-title">
            <a:extLst xmlns:a="http://schemas.openxmlformats.org/drawingml/2006/main">
              <a:ext uri="{FF2B5EF4-FFF2-40B4-BE49-F238E27FC236}">
                <a16:creationId xmlns:a16="http://schemas.microsoft.com/office/drawing/2014/main" id="{6566123B-A9F1-41AA-945C-59DD8A5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243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写入提示词</a:t>
            </a:r>
          </a:p>
        </p:txBody>
      </p:sp>
      <p:sp>
        <p:nvSpPr>
          <p:cNvPr id="46" name="prompt-card-detail">
            <a:extLst xmlns:a="http://schemas.openxmlformats.org/drawingml/2006/main">
              <a:ext uri="{FF2B5EF4-FFF2-40B4-BE49-F238E27FC236}">
                <a16:creationId xmlns:a16="http://schemas.microsoft.com/office/drawing/2014/main" id="{D3A8260D-20B6-4E3E-A4D2-12B5D303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3867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把检索片段与用户问题一起放入上下文</a:t>
            </a:r>
          </a:p>
        </p:txBody>
      </p:sp>
      <p:sp>
        <p:nvSpPr>
          <p:cNvPr id="47" name="llm-card">
            <a:extLst xmlns:a="http://schemas.openxmlformats.org/drawingml/2006/main">
              <a:ext uri="{FF2B5EF4-FFF2-40B4-BE49-F238E27FC236}">
                <a16:creationId xmlns:a16="http://schemas.microsoft.com/office/drawing/2014/main" id="{C5AC2E4A-72C2-431D-99B4-77487B7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62425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8" name="llm-card-accent">
            <a:extLst xmlns:a="http://schemas.openxmlformats.org/drawingml/2006/main">
              <a:ext uri="{FF2B5EF4-FFF2-40B4-BE49-F238E27FC236}">
                <a16:creationId xmlns:a16="http://schemas.microsoft.com/office/drawing/2014/main" id="{2EDC5799-9814-4A68-B730-6145EE15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624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9" name="llm-card-title">
            <a:extLst xmlns:a="http://schemas.openxmlformats.org/drawingml/2006/main">
              <a:ext uri="{FF2B5EF4-FFF2-40B4-BE49-F238E27FC236}">
                <a16:creationId xmlns:a16="http://schemas.microsoft.com/office/drawing/2014/main" id="{8B94ABAF-866D-439B-BD23-8DDEBE7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LLM 生成</a:t>
            </a:r>
          </a:p>
        </p:txBody>
      </p:sp>
      <p:sp>
        <p:nvSpPr>
          <p:cNvPr id="50" name="llm-card-detail">
            <a:extLst xmlns:a="http://schemas.openxmlformats.org/drawingml/2006/main">
              <a:ext uri="{FF2B5EF4-FFF2-40B4-BE49-F238E27FC236}">
                <a16:creationId xmlns:a16="http://schemas.microsoft.com/office/drawing/2014/main" id="{E7A3DCF6-06A8-43DB-BC2E-3B0BBF6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模型基于上下文生成最终答案</a:t>
            </a:r>
          </a:p>
        </p:txBody>
      </p:sp>
      <p:cxnSp>
        <p:nvCxnSpPr>
          <p:cNvPr id="167" name=""/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1526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8" name=""/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4005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69" name="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6838950" y="46196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70" name=""/>
          <p:cNvCxnSpPr>
            <a:stCxn xmlns:a="http://schemas.openxmlformats.org/drawingml/2006/main" id="27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3638550" y="3209925"/>
            <a:ext cx="36957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55" name="rag-summary-box">
            <a:extLst xmlns:a="http://schemas.openxmlformats.org/drawingml/2006/main">
              <a:ext uri="{FF2B5EF4-FFF2-40B4-BE49-F238E27FC236}">
                <a16:creationId xmlns:a16="http://schemas.microsoft.com/office/drawing/2014/main" id="{94A890DC-A2C0-4A9E-90E4-CE2E6D5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2152650" cy="274320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56" name="rag-summary-title">
            <a:extLst xmlns:a="http://schemas.openxmlformats.org/drawingml/2006/main">
              <a:ext uri="{FF2B5EF4-FFF2-40B4-BE49-F238E27FC236}">
                <a16:creationId xmlns:a16="http://schemas.microsoft.com/office/drawing/2014/main" id="{99ADD2DE-8EFE-4A91-A36B-D2B5944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RAG 解决什么？</a:t>
            </a:r>
          </a:p>
        </p:txBody>
      </p:sp>
      <p:sp>
        <p:nvSpPr>
          <p:cNvPr id="57" name="rag-summary-body">
            <a:extLst xmlns:a="http://schemas.openxmlformats.org/drawingml/2006/main">
              <a:ext uri="{FF2B5EF4-FFF2-40B4-BE49-F238E27FC236}">
                <a16:creationId xmlns:a16="http://schemas.microsoft.com/office/drawing/2014/main" id="{47DBA297-8969-4F44-8318-B271C6F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657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让模型在回答前，临时拿到最新资料或私有文档。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它不是把知识写进模型参数，而是把相关片段放进上下文。</a:t>
            </a:r>
          </a:p>
        </p:txBody>
      </p:sp>
      <p:sp>
        <p:nvSpPr>
          <p:cNvPr id="58" name="rag-summary-key">
            <a:extLst xmlns:a="http://schemas.openxmlformats.org/drawingml/2006/main">
              <a:ext uri="{FF2B5EF4-FFF2-40B4-BE49-F238E27FC236}">
                <a16:creationId xmlns:a16="http://schemas.microsoft.com/office/drawing/2014/main" id="{11839F8B-C940-46B8-A668-95DD63AD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957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核心动作：检索 → 拼接 → 生成</a:t>
            </a:r>
          </a:p>
        </p:txBody>
      </p:sp>
      <p:sp>
        <p:nvSpPr>
          <p:cNvPr id="59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FD66957C-E710-4859-8969-EC52DD2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0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379E1D38-D1A7-4E79-A5AD-DE73B457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61" name="bottom-note">
            <a:extLst xmlns:a="http://schemas.openxmlformats.org/drawingml/2006/main">
              <a:ext uri="{FF2B5EF4-FFF2-40B4-BE49-F238E27FC236}">
                <a16:creationId xmlns:a16="http://schemas.microsoft.com/office/drawing/2014/main" id="{0F7AB8A8-556A-4576-B29F-6BAA4DA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提到构建 AI 知识库，一开始想到的往往就是 RAG。它的关键不是让模型真的学会这些资料，而是在回答前先检索相关片段，再把片段作为上下文交给大模型。</a:t>
            </a:r>
          </a:p>
        </p:txBody>
      </p:sp>
      <p:sp>
        <p:nvSpPr>
          <p:cNvPr id="6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D93984-E196-484F-B766-A380D64D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1446022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FA784C-AD8B-499E-8DEA-9900B019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03 / GraphRAG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DF451D9-6486-40E3-927B-D24DE16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6D4F1CA3-845A-4DA7-BECB-2E2E107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7867B-DD5C-4961-A1EA-3D4CBF4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GraphRAG：让知识片段之间有关系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474DF01-5F20-4230-A745-0628E5A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从文本块相似度，走向实体、属性和关系的图结构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872BA38F-B6C6-47B7-8481-F4BE2697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383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传统 RAG</a:t>
            </a:r>
          </a:p>
        </p:txBody>
      </p:sp>
      <p:sp>
        <p:nvSpPr>
          <p:cNvPr id="7" name="chunk-1">
            <a:extLst xmlns:a="http://schemas.openxmlformats.org/drawingml/2006/main">
              <a:ext uri="{FF2B5EF4-FFF2-40B4-BE49-F238E27FC236}">
                <a16:creationId xmlns:a16="http://schemas.microsoft.com/office/drawing/2014/main" id="{AD3D9CE9-76C5-4CEC-8308-4629D1C4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chunk-1-accent">
            <a:extLst xmlns:a="http://schemas.openxmlformats.org/drawingml/2006/main">
              <a:ext uri="{FF2B5EF4-FFF2-40B4-BE49-F238E27FC236}">
                <a16:creationId xmlns:a16="http://schemas.microsoft.com/office/drawing/2014/main" id="{51224B82-A7F4-4CE7-8FD4-C90A223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chunk-1-title">
            <a:extLst xmlns:a="http://schemas.openxmlformats.org/drawingml/2006/main">
              <a:ext uri="{FF2B5EF4-FFF2-40B4-BE49-F238E27FC236}">
                <a16:creationId xmlns:a16="http://schemas.microsoft.com/office/drawing/2014/main" id="{9CBD3C79-70BF-4BDD-96E9-A8E10045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A</a:t>
            </a:r>
          </a:p>
        </p:txBody>
      </p:sp>
      <p:sp>
        <p:nvSpPr>
          <p:cNvPr id="10" name="chunk-1-detail">
            <a:extLst xmlns:a="http://schemas.openxmlformats.org/drawingml/2006/main">
              <a:ext uri="{FF2B5EF4-FFF2-40B4-BE49-F238E27FC236}">
                <a16:creationId xmlns:a16="http://schemas.microsoft.com/office/drawing/2014/main" id="{A71BD927-5C68-47B3-81B9-C860DB3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提出者 / 背景</a:t>
            </a:r>
          </a:p>
        </p:txBody>
      </p:sp>
      <p:sp>
        <p:nvSpPr>
          <p:cNvPr id="11" name="chunk-2">
            <a:extLst xmlns:a="http://schemas.openxmlformats.org/drawingml/2006/main">
              <a:ext uri="{FF2B5EF4-FFF2-40B4-BE49-F238E27FC236}">
                <a16:creationId xmlns:a16="http://schemas.microsoft.com/office/drawing/2014/main" id="{7CB7A867-E131-4F7E-BDB9-F5D10E5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chunk-2-accent">
            <a:extLst xmlns:a="http://schemas.openxmlformats.org/drawingml/2006/main">
              <a:ext uri="{FF2B5EF4-FFF2-40B4-BE49-F238E27FC236}">
                <a16:creationId xmlns:a16="http://schemas.microsoft.com/office/drawing/2014/main" id="{7E647324-9C07-49DA-B246-105629B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chunk-2-title">
            <a:extLst xmlns:a="http://schemas.openxmlformats.org/drawingml/2006/main">
              <a:ext uri="{FF2B5EF4-FFF2-40B4-BE49-F238E27FC236}">
                <a16:creationId xmlns:a16="http://schemas.microsoft.com/office/drawing/2014/main" id="{FBCD6CC6-83C9-482D-8815-F954CB05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33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B</a:t>
            </a:r>
          </a:p>
        </p:txBody>
      </p:sp>
      <p:sp>
        <p:nvSpPr>
          <p:cNvPr id="14" name="chunk-2-detail">
            <a:extLst xmlns:a="http://schemas.openxmlformats.org/drawingml/2006/main">
              <a:ext uri="{FF2B5EF4-FFF2-40B4-BE49-F238E27FC236}">
                <a16:creationId xmlns:a16="http://schemas.microsoft.com/office/drawing/2014/main" id="{0CE7976E-8BB0-41E4-907E-C6462FA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385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核心方法</a:t>
            </a:r>
          </a:p>
        </p:txBody>
      </p:sp>
      <p:sp>
        <p:nvSpPr>
          <p:cNvPr id="15" name="chunk-3">
            <a:extLst xmlns:a="http://schemas.openxmlformats.org/drawingml/2006/main">
              <a:ext uri="{FF2B5EF4-FFF2-40B4-BE49-F238E27FC236}">
                <a16:creationId xmlns:a16="http://schemas.microsoft.com/office/drawing/2014/main" id="{17C93BB1-99A3-4A19-8C6A-0942DFA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hunk-3-accent">
            <a:extLst xmlns:a="http://schemas.openxmlformats.org/drawingml/2006/main">
              <a:ext uri="{FF2B5EF4-FFF2-40B4-BE49-F238E27FC236}">
                <a16:creationId xmlns:a16="http://schemas.microsoft.com/office/drawing/2014/main" id="{7C9F0618-4DE3-4D4A-A0ED-9D384074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chunk-3-title">
            <a:extLst xmlns:a="http://schemas.openxmlformats.org/drawingml/2006/main">
              <a:ext uri="{FF2B5EF4-FFF2-40B4-BE49-F238E27FC236}">
                <a16:creationId xmlns:a16="http://schemas.microsoft.com/office/drawing/2014/main" id="{662B7385-DB3E-41C0-B167-EBE4DE0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812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文本片段 C</a:t>
            </a:r>
          </a:p>
        </p:txBody>
      </p:sp>
      <p:sp>
        <p:nvSpPr>
          <p:cNvPr id="18" name="chunk-3-detail">
            <a:extLst xmlns:a="http://schemas.openxmlformats.org/drawingml/2006/main">
              <a:ext uri="{FF2B5EF4-FFF2-40B4-BE49-F238E27FC236}">
                <a16:creationId xmlns:a16="http://schemas.microsoft.com/office/drawing/2014/main" id="{F303B25B-7E71-4318-AB22-58E05EAF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8607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应用场景 / 局限</a:t>
            </a:r>
          </a:p>
        </p:txBody>
      </p:sp>
      <p:sp>
        <p:nvSpPr>
          <p:cNvPr id="19" name="fragment-dashed-1">
            <a:extLst xmlns:a="http://schemas.openxmlformats.org/drawingml/2006/main">
              <a:ext uri="{FF2B5EF4-FFF2-40B4-BE49-F238E27FC236}">
                <a16:creationId xmlns:a16="http://schemas.microsoft.com/office/drawing/2014/main" id="{8791945A-1DA6-4AC5-BE50-5CCEB872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904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B0A0"/>
            </a:solidFill>
            <a:prstDash val="dash"/>
          </a:ln>
        </p:spPr>
      </p:sp>
      <p:sp>
        <p:nvSpPr>
          <p:cNvPr id="20" name="fragment-dashed-2">
            <a:extLst xmlns:a="http://schemas.openxmlformats.org/drawingml/2006/main">
              <a:ext uri="{FF2B5EF4-FFF2-40B4-BE49-F238E27FC236}">
                <a16:creationId xmlns:a16="http://schemas.microsoft.com/office/drawing/2014/main" id="{E8AC832A-3143-4B53-8D98-0FE3BDF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62375"/>
            <a:ext cx="952500" cy="-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B0A0"/>
            </a:solidFill>
            <a:prstDash val="dash"/>
          </a:ln>
        </p:spPr>
      </p:sp>
      <p:sp>
        <p:nvSpPr>
          <p:cNvPr id="21" name="extractor">
            <a:extLst xmlns:a="http://schemas.openxmlformats.org/drawingml/2006/main">
              <a:ext uri="{FF2B5EF4-FFF2-40B4-BE49-F238E27FC236}">
                <a16:creationId xmlns:a16="http://schemas.microsoft.com/office/drawing/2014/main" id="{2AE61BA7-D31A-4CDA-A98C-293A457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extractor-accent">
            <a:extLst xmlns:a="http://schemas.openxmlformats.org/drawingml/2006/main">
              <a:ext uri="{FF2B5EF4-FFF2-40B4-BE49-F238E27FC236}">
                <a16:creationId xmlns:a16="http://schemas.microsoft.com/office/drawing/2014/main" id="{20355151-E345-46DF-9AEF-54A1753A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extractor-title">
            <a:extLst xmlns:a="http://schemas.openxmlformats.org/drawingml/2006/main">
              <a:ext uri="{FF2B5EF4-FFF2-40B4-BE49-F238E27FC236}">
                <a16:creationId xmlns:a16="http://schemas.microsoft.com/office/drawing/2014/main" id="{A4AB185A-4718-44B6-8AB9-F361A198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337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信息抽取</a:t>
            </a:r>
          </a:p>
        </p:txBody>
      </p:sp>
      <p:sp>
        <p:nvSpPr>
          <p:cNvPr id="24" name="extractor-detail">
            <a:extLst xmlns:a="http://schemas.openxmlformats.org/drawingml/2006/main">
              <a:ext uri="{FF2B5EF4-FFF2-40B4-BE49-F238E27FC236}">
                <a16:creationId xmlns:a16="http://schemas.microsoft.com/office/drawing/2014/main" id="{ACCFE4A3-7BEB-4B39-B6DD-1018CC9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识别实体、属性、关系</a:t>
            </a:r>
          </a:p>
        </p:txBody>
      </p:sp>
      <p:cxnSp>
        <p:nvCxnSpPr>
          <p:cNvPr id="113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467100" y="2867025"/>
            <a:ext cx="8382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32EB4E00-C184-4240-B957-516DFE2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GraphRAG</a:t>
            </a:r>
          </a:p>
        </p:txBody>
      </p:sp>
      <p:sp>
        <p:nvSpPr>
          <p:cNvPr id="27" name="node-tech">
            <a:extLst xmlns:a="http://schemas.openxmlformats.org/drawingml/2006/main">
              <a:ext uri="{FF2B5EF4-FFF2-40B4-BE49-F238E27FC236}">
                <a16:creationId xmlns:a16="http://schemas.microsoft.com/office/drawing/2014/main" id="{19B4CA95-4D49-43F3-BB1C-DFDA164A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819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某项技术</a:t>
            </a:r>
          </a:p>
        </p:txBody>
      </p:sp>
      <p:sp>
        <p:nvSpPr>
          <p:cNvPr id="28" name="node-author">
            <a:extLst xmlns:a="http://schemas.openxmlformats.org/drawingml/2006/main">
              <a:ext uri="{FF2B5EF4-FFF2-40B4-BE49-F238E27FC236}">
                <a16:creationId xmlns:a16="http://schemas.microsoft.com/office/drawing/2014/main" id="{D31D030A-28C8-4275-87B8-DFCC68DD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742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提出者</a:t>
            </a:r>
          </a:p>
        </p:txBody>
      </p:sp>
      <p:sp>
        <p:nvSpPr>
          <p:cNvPr id="29" name="node-method">
            <a:extLst xmlns:a="http://schemas.openxmlformats.org/drawingml/2006/main">
              <a:ext uri="{FF2B5EF4-FFF2-40B4-BE49-F238E27FC236}">
                <a16:creationId xmlns:a16="http://schemas.microsoft.com/office/drawing/2014/main" id="{9CEE838B-8563-4698-9585-22FB6EA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819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核心方法</a:t>
            </a:r>
          </a:p>
        </p:txBody>
      </p:sp>
      <p:sp>
        <p:nvSpPr>
          <p:cNvPr id="30" name="node-app">
            <a:extLst xmlns:a="http://schemas.openxmlformats.org/drawingml/2006/main">
              <a:ext uri="{FF2B5EF4-FFF2-40B4-BE49-F238E27FC236}">
                <a16:creationId xmlns:a16="http://schemas.microsoft.com/office/drawing/2014/main" id="{F589D3A0-7B31-4CCA-8C17-E7E9A854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819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应用场景</a:t>
            </a:r>
          </a:p>
        </p:txBody>
      </p:sp>
      <p:sp>
        <p:nvSpPr>
          <p:cNvPr id="31" name="node-limit">
            <a:extLst xmlns:a="http://schemas.openxmlformats.org/drawingml/2006/main">
              <a:ext uri="{FF2B5EF4-FFF2-40B4-BE49-F238E27FC236}">
                <a16:creationId xmlns:a16="http://schemas.microsoft.com/office/drawing/2014/main" id="{55C7FD8D-48EF-463C-8C4E-AF7E838B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742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局限</a:t>
            </a:r>
          </a:p>
        </p:txBody>
      </p:sp>
      <p:sp>
        <p:nvSpPr>
          <p:cNvPr id="32" name="node-community">
            <a:extLst xmlns:a="http://schemas.openxmlformats.org/drawingml/2006/main">
              <a:ext uri="{FF2B5EF4-FFF2-40B4-BE49-F238E27FC236}">
                <a16:creationId xmlns:a16="http://schemas.microsoft.com/office/drawing/2014/main" id="{04826723-C33C-45C6-866F-096FC91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104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16"/>
                </a:solidFill>
              </a:defRPr>
            </a:pPr>
            <a:r>
              <a:rPr sz="1050" b="1">
                <a:solidFill>
                  <a:srgbClr val="101816"/>
                </a:solidFill>
              </a:rPr>
              <a:t>图社区摘要</a:t>
            </a:r>
          </a:p>
        </p:txBody>
      </p:sp>
      <p:cxnSp>
        <p:nvCxnSpPr>
          <p:cNvPr id="121" name=""/>
          <p:cNvCxnSpPr>
            <a:stCxn xmlns:a="http://schemas.openxmlformats.org/drawingml/2006/main" id="28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267575" y="2762250"/>
            <a:ext cx="54292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2" name=""/>
          <p:cNvCxnSpPr>
            <a:stCxn xmlns:a="http://schemas.openxmlformats.org/drawingml/2006/main" id="29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629650" y="2495550"/>
            <a:ext cx="4191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3" name=""/>
          <p:cNvCxnSpPr>
            <a:stCxn xmlns:a="http://schemas.openxmlformats.org/drawingml/2006/main" id="30" idx="3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7658100" y="3505200"/>
            <a:ext cx="56197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4" name=""/>
          <p:cNvCxnSpPr>
            <a:stCxn xmlns:a="http://schemas.openxmlformats.org/drawingml/2006/main" id="31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 flipV="1">
            <a:off x="8629650" y="3228975"/>
            <a:ext cx="5143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5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658100" y="4257675"/>
            <a:ext cx="4381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6" name=""/>
          <p:cNvCxnSpPr>
            <a:stCxn xmlns:a="http://schemas.openxmlformats.org/drawingml/2006/main" id="31" idx="2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9201150" y="4514850"/>
            <a:ext cx="3143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7" name=""/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220075" y="3505200"/>
            <a:ext cx="4286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</a:ln>
        </p:spPr>
      </p:cxnSp>
      <p:cxnSp>
        <p:nvCxnSpPr>
          <p:cNvPr id="128" name=""/>
          <p:cNvCxnSpPr>
            <a:stCxn xmlns:a="http://schemas.openxmlformats.org/drawingml/2006/main" id="21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6019800" y="2505075"/>
            <a:ext cx="87630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41" name="graphrag-summary-box">
            <a:extLst xmlns:a="http://schemas.openxmlformats.org/drawingml/2006/main">
              <a:ext uri="{FF2B5EF4-FFF2-40B4-BE49-F238E27FC236}">
                <a16:creationId xmlns:a16="http://schemas.microsoft.com/office/drawing/2014/main" id="{4BBAD7E1-F6D0-45DE-A7C6-611D2964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33625"/>
            <a:ext cx="1428750" cy="24765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graphrag-summary-title">
            <a:extLst xmlns:a="http://schemas.openxmlformats.org/drawingml/2006/main">
              <a:ext uri="{FF2B5EF4-FFF2-40B4-BE49-F238E27FC236}">
                <a16:creationId xmlns:a16="http://schemas.microsoft.com/office/drawing/2014/main" id="{C2911C2D-B7AD-453E-86F8-564D506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717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改进点</a:t>
            </a:r>
          </a:p>
        </p:txBody>
      </p:sp>
      <p:sp>
        <p:nvSpPr>
          <p:cNvPr id="43" name="graphrag-summary-body">
            <a:extLst xmlns:a="http://schemas.openxmlformats.org/drawingml/2006/main">
              <a:ext uri="{FF2B5EF4-FFF2-40B4-BE49-F238E27FC236}">
                <a16:creationId xmlns:a16="http://schemas.microsoft.com/office/drawing/2014/main" id="{5A954486-FF84-435A-91A0-D47D042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95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检索对象不再只是文本片段。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还可以是实体、关系、图社区和摘要。</a:t>
            </a:r>
          </a:p>
        </p:txBody>
      </p:sp>
      <p:sp>
        <p:nvSpPr>
          <p:cNvPr id="44" name="graphrag-summary-key">
            <a:extLst xmlns:a="http://schemas.openxmlformats.org/drawingml/2006/main">
              <a:ext uri="{FF2B5EF4-FFF2-40B4-BE49-F238E27FC236}">
                <a16:creationId xmlns:a16="http://schemas.microsoft.com/office/drawing/2014/main" id="{6E544621-E822-4218-9B1B-8D45BD85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481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解决：知识如何建立关联</a:t>
            </a:r>
          </a:p>
        </p:txBody>
      </p:sp>
      <p:sp>
        <p:nvSpPr>
          <p:cNvPr id="45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FF6BF87F-78AC-4E35-AA9A-0675B391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6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2FF3EA1A-FC8C-46AB-BD06-F4793F9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9AAD47EC-B3A3-4D38-936B-09952B5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GraphRAG 的关键变化，是不再只把资料看成孤立文本块，而是抽取实体、属性和关系，把多篇文档里分散的信息连接成一张知识网络。</a:t>
            </a:r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5C8424-9722-42CB-A21B-9960D9EC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1721230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55F8974-BBE4-4D30-AC0B-83F4B95D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04 / Agentic RAG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3F64C2BE-75F0-4288-8552-9D5FCAB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B9872EBF-BB6A-496A-A97F-A11D48C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71A11C-AD42-4C99-B9D0-D6F2682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Agentic RAG：让 Agent 自主规划检索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B7BCF59-6424-482F-B138-0FBE5EA0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从固定流水线，转向动态决策过程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229A98-0184-4A42-B298-5DDF926E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04 / 17</a:t>
            </a:r>
          </a:p>
        </p:txBody>
      </p:sp>
      <p:sp>
        <p:nvSpPr>
          <p:cNvPr id="7" name="task-card">
            <a:extLst xmlns:a="http://schemas.openxmlformats.org/drawingml/2006/main">
              <a:ext uri="{FF2B5EF4-FFF2-40B4-BE49-F238E27FC236}">
                <a16:creationId xmlns:a16="http://schemas.microsoft.com/office/drawing/2014/main" id="{68FF5B07-142D-4650-B13E-3D80AF69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task-card-accent">
            <a:extLst xmlns:a="http://schemas.openxmlformats.org/drawingml/2006/main">
              <a:ext uri="{FF2B5EF4-FFF2-40B4-BE49-F238E27FC236}">
                <a16:creationId xmlns:a16="http://schemas.microsoft.com/office/drawing/2014/main" id="{352BA24A-558B-4E9C-9DA2-B6315D6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task-card-title">
            <a:extLst xmlns:a="http://schemas.openxmlformats.org/drawingml/2006/main">
              <a:ext uri="{FF2B5EF4-FFF2-40B4-BE49-F238E27FC236}">
                <a16:creationId xmlns:a16="http://schemas.microsoft.com/office/drawing/2014/main" id="{62471A42-7DCE-4EAB-8834-126AE91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67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复杂任务</a:t>
            </a:r>
          </a:p>
        </p:txBody>
      </p:sp>
      <p:sp>
        <p:nvSpPr>
          <p:cNvPr id="10" name="task-card-detail">
            <a:extLst xmlns:a="http://schemas.openxmlformats.org/drawingml/2006/main">
              <a:ext uri="{FF2B5EF4-FFF2-40B4-BE49-F238E27FC236}">
                <a16:creationId xmlns:a16="http://schemas.microsoft.com/office/drawing/2014/main" id="{36BD071B-29C5-496F-97B9-C9447948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问题开放，需要多种信息来源</a:t>
            </a:r>
          </a:p>
        </p:txBody>
      </p:sp>
      <p:sp>
        <p:nvSpPr>
          <p:cNvPr id="11" name="agent-core">
            <a:extLst xmlns:a="http://schemas.openxmlformats.org/drawingml/2006/main">
              <a:ext uri="{FF2B5EF4-FFF2-40B4-BE49-F238E27FC236}">
                <a16:creationId xmlns:a16="http://schemas.microsoft.com/office/drawing/2014/main" id="{DD2B93A4-B850-4E34-8EF6-C87F6A2B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2095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816"/>
                </a:solidFill>
              </a:defRPr>
            </a:pPr>
            <a:r>
              <a:rPr sz="2100" b="1">
                <a:solidFill>
                  <a:srgbClr val="101816"/>
                </a:solidFill>
              </a:rPr>
              <a:t>Agent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01816"/>
                </a:solidFill>
              </a:defRPr>
            </a:pPr>
            <a:r>
              <a:rPr sz="2100" b="1">
                <a:solidFill>
                  <a:srgbClr val="101816"/>
                </a:solidFill>
              </a:rPr>
              <a:t>规划</a:t>
            </a:r>
          </a:p>
        </p:txBody>
      </p:sp>
      <p:sp>
        <p:nvSpPr>
          <p:cNvPr id="12" name="agent-sub">
            <a:extLst xmlns:a="http://schemas.openxmlformats.org/drawingml/2006/main">
              <a:ext uri="{FF2B5EF4-FFF2-40B4-BE49-F238E27FC236}">
                <a16:creationId xmlns:a16="http://schemas.microsoft.com/office/drawing/2014/main" id="{E72371CC-2605-4350-9CA0-30EC258B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观察中间结果，调整下一步</a:t>
            </a:r>
          </a:p>
        </p:txBody>
      </p:sp>
      <p:cxnSp>
        <p:nvCxnSpPr>
          <p:cNvPr id="81" name=""/>
          <p:cNvCxnSpPr>
            <a:stCxn xmlns:a="http://schemas.openxmlformats.org/drawingml/2006/main" id="7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2095500" y="3228975"/>
            <a:ext cx="11906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4" name="tool-vector">
            <a:extLst xmlns:a="http://schemas.openxmlformats.org/drawingml/2006/main">
              <a:ext uri="{FF2B5EF4-FFF2-40B4-BE49-F238E27FC236}">
                <a16:creationId xmlns:a16="http://schemas.microsoft.com/office/drawing/2014/main" id="{F62B8223-FC83-4FFB-9232-7DB8C6F6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向量检索</a:t>
            </a:r>
          </a:p>
        </p:txBody>
      </p:sp>
      <p:sp>
        <p:nvSpPr>
          <p:cNvPr id="15" name="tool-keyword">
            <a:extLst xmlns:a="http://schemas.openxmlformats.org/drawingml/2006/main">
              <a:ext uri="{FF2B5EF4-FFF2-40B4-BE49-F238E27FC236}">
                <a16:creationId xmlns:a16="http://schemas.microsoft.com/office/drawing/2014/main" id="{6FF5D32A-D551-4CAD-A3D8-346F810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52625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关键词搜索</a:t>
            </a:r>
          </a:p>
        </p:txBody>
      </p:sp>
      <p:sp>
        <p:nvSpPr>
          <p:cNvPr id="16" name="tool-graph">
            <a:extLst xmlns:a="http://schemas.openxmlformats.org/drawingml/2006/main">
              <a:ext uri="{FF2B5EF4-FFF2-40B4-BE49-F238E27FC236}">
                <a16:creationId xmlns:a16="http://schemas.microsoft.com/office/drawing/2014/main" id="{9B2B681A-5DEC-4C32-8AE4-4FF105F3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5B3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图查询</a:t>
            </a:r>
          </a:p>
        </p:txBody>
      </p:sp>
      <p:sp>
        <p:nvSpPr>
          <p:cNvPr id="17" name="tool-web">
            <a:extLst xmlns:a="http://schemas.openxmlformats.org/drawingml/2006/main">
              <a:ext uri="{FF2B5EF4-FFF2-40B4-BE49-F238E27FC236}">
                <a16:creationId xmlns:a16="http://schemas.microsoft.com/office/drawing/2014/main" id="{59221553-845A-4B9E-B051-5C9EB01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网页搜索</a:t>
            </a:r>
          </a:p>
        </p:txBody>
      </p:sp>
      <p:sp>
        <p:nvSpPr>
          <p:cNvPr id="18" name="tool-db">
            <a:extLst xmlns:a="http://schemas.openxmlformats.org/drawingml/2006/main">
              <a:ext uri="{FF2B5EF4-FFF2-40B4-BE49-F238E27FC236}">
                <a16:creationId xmlns:a16="http://schemas.microsoft.com/office/drawing/2014/main" id="{467FBD51-F129-47A9-95B2-7E86F2F7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95750"/>
            <a:ext cx="118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16"/>
                </a:solidFill>
              </a:defRPr>
            </a:pPr>
            <a:r>
              <a:rPr sz="1200" b="1">
                <a:solidFill>
                  <a:srgbClr val="101816"/>
                </a:solidFill>
              </a:rPr>
              <a:t>数据库查询</a:t>
            </a:r>
          </a:p>
        </p:txBody>
      </p:sp>
      <p:cxnSp>
        <p:nvCxnSpPr>
          <p:cNvPr id="87" name=""/>
          <p:cNvCxnSpPr>
            <a:stCxn xmlns:a="http://schemas.openxmlformats.org/drawingml/2006/main" id="11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4810125" y="2295525"/>
            <a:ext cx="138112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11" idx="6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4810125" y="2295525"/>
            <a:ext cx="3019425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dash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11" idx="6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10125" y="3238500"/>
            <a:ext cx="138112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cxnSp>
        <p:nvCxnSpPr>
          <p:cNvPr id="90" name=""/>
          <p:cNvCxnSpPr>
            <a:stCxn xmlns:a="http://schemas.openxmlformats.org/drawingml/2006/main" id="11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10125" y="3238500"/>
            <a:ext cx="301942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dash"/>
            <a:tailEnd type="arrow" w="sm" len="sm"/>
          </a:ln>
        </p:spPr>
      </p:cxnSp>
      <p:cxnSp>
        <p:nvCxnSpPr>
          <p:cNvPr id="91" name=""/>
          <p:cNvCxnSpPr>
            <a:stCxn xmlns:a="http://schemas.openxmlformats.org/drawingml/2006/main" id="11" idx="6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810125" y="3238500"/>
            <a:ext cx="2200275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AFA6"/>
            </a:solidFill>
            <a:prstDash val="solid"/>
            <a:tailEnd type="arrow" w="sm" len="sm"/>
          </a:ln>
        </p:spPr>
      </p:cxnSp>
      <p:sp>
        <p:nvSpPr>
          <p:cNvPr id="24" name="answer-card">
            <a:extLst xmlns:a="http://schemas.openxmlformats.org/drawingml/2006/main">
              <a:ext uri="{FF2B5EF4-FFF2-40B4-BE49-F238E27FC236}">
                <a16:creationId xmlns:a16="http://schemas.microsoft.com/office/drawing/2014/main" id="{1133B92A-A56D-4527-BCAD-592E8BE0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95625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answer-card-accent">
            <a:extLst xmlns:a="http://schemas.openxmlformats.org/drawingml/2006/main">
              <a:ext uri="{FF2B5EF4-FFF2-40B4-BE49-F238E27FC236}">
                <a16:creationId xmlns:a16="http://schemas.microsoft.com/office/drawing/2014/main" id="{08977599-1294-4657-9D7B-125ABE3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95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6" name="answer-card-title">
            <a:extLst xmlns:a="http://schemas.openxmlformats.org/drawingml/2006/main">
              <a:ext uri="{FF2B5EF4-FFF2-40B4-BE49-F238E27FC236}">
                <a16:creationId xmlns:a16="http://schemas.microsoft.com/office/drawing/2014/main" id="{1B733A87-D1CB-455D-A01A-A8A8EF2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48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生成答案</a:t>
            </a:r>
          </a:p>
        </p:txBody>
      </p:sp>
      <p:sp>
        <p:nvSpPr>
          <p:cNvPr id="27" name="answer-card-detail">
            <a:extLst xmlns:a="http://schemas.openxmlformats.org/drawingml/2006/main">
              <a:ext uri="{FF2B5EF4-FFF2-40B4-BE49-F238E27FC236}">
                <a16:creationId xmlns:a16="http://schemas.microsoft.com/office/drawing/2014/main" id="{B41BBDA3-D217-459C-BDFA-4C36AB8B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528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多轮检索后综合结果</a:t>
            </a:r>
          </a:p>
        </p:txBody>
      </p:sp>
      <p:cxnSp>
        <p:nvCxnSpPr>
          <p:cNvPr id="96" name=""/>
          <p:cNvCxnSpPr>
            <a:stCxn xmlns:a="http://schemas.openxmlformats.org/drawingml/2006/main" id="1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10650" y="2295525"/>
            <a:ext cx="9144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10650" y="3371850"/>
            <a:ext cx="91440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4" idx="2"/>
            <a:endCxn xmlns:a="http://schemas.openxmlformats.org/drawingml/2006/main" id="11" idx="4"/>
          </p:cNvCxnSpPr>
          <p:nvPr/>
        </p:nvCxnSpPr>
        <p:spPr>
          <a:xfrm xmlns:a="http://schemas.openxmlformats.org/drawingml/2006/main" flipH="1">
            <a:off x="4048125" y="3971925"/>
            <a:ext cx="659130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902F"/>
            </a:solidFill>
            <a:prstDash val="dash"/>
            <a:tailEnd type="arrow" w="sm" len="sm"/>
          </a:ln>
        </p:spPr>
      </p:cxnSp>
      <p:sp>
        <p:nvSpPr>
          <p:cNvPr id="31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30F3FE4D-CA08-4E99-8035-D25F44F0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48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9902F"/>
                </a:solidFill>
              </a:defRPr>
            </a:pPr>
            <a:r>
              <a:rPr sz="1125" b="1">
                <a:solidFill>
                  <a:srgbClr val="D9902F"/>
                </a:solidFill>
              </a:rPr>
              <a:t>根据中间结果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D9902F"/>
                </a:solidFill>
              </a:defRPr>
            </a:pPr>
            <a:r>
              <a:rPr sz="1125" b="1">
                <a:solidFill>
                  <a:srgbClr val="D9902F"/>
                </a:solidFill>
              </a:rPr>
              <a:t>反复调整策略</a:t>
            </a:r>
          </a:p>
        </p:txBody>
      </p:sp>
      <p:sp>
        <p:nvSpPr>
          <p:cNvPr id="32" name="side-summary">
            <a:extLst xmlns:a="http://schemas.openxmlformats.org/drawingml/2006/main">
              <a:ext uri="{FF2B5EF4-FFF2-40B4-BE49-F238E27FC236}">
                <a16:creationId xmlns:a16="http://schemas.microsoft.com/office/drawing/2014/main" id="{5C6DD676-49FC-4E22-A6EC-BE798D2A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side-summary-accent">
            <a:extLst xmlns:a="http://schemas.openxmlformats.org/drawingml/2006/main">
              <a:ext uri="{FF2B5EF4-FFF2-40B4-BE49-F238E27FC236}">
                <a16:creationId xmlns:a16="http://schemas.microsoft.com/office/drawing/2014/main" id="{E32D05DB-F17F-4F3B-922C-AFA61F99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34" name="side-summary-title">
            <a:extLst xmlns:a="http://schemas.openxmlformats.org/drawingml/2006/main">
              <a:ext uri="{FF2B5EF4-FFF2-40B4-BE49-F238E27FC236}">
                <a16:creationId xmlns:a16="http://schemas.microsoft.com/office/drawing/2014/main" id="{23356DE7-1956-4849-AF50-5925A0A7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解决什么？</a:t>
            </a:r>
          </a:p>
        </p:txBody>
      </p:sp>
      <p:sp>
        <p:nvSpPr>
          <p:cNvPr id="35" name="side-summary-detail">
            <a:extLst xmlns:a="http://schemas.openxmlformats.org/drawingml/2006/main">
              <a:ext uri="{FF2B5EF4-FFF2-40B4-BE49-F238E27FC236}">
                <a16:creationId xmlns:a16="http://schemas.microsoft.com/office/drawing/2014/main" id="{48B160B0-F7B9-44E1-9022-4DF324F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更智能地获取知识，而不是持续积累知识。</a:t>
            </a:r>
          </a:p>
        </p:txBody>
      </p:sp>
      <p:sp>
        <p:nvSpPr>
          <p:cNvPr id="36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98570EAE-0C6D-4468-9D88-77A2B34E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7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5ABC6452-3F8F-410F-8622-2F7567CB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8" name="bottom-note">
            <a:extLst xmlns:a="http://schemas.openxmlformats.org/drawingml/2006/main">
              <a:ext uri="{FF2B5EF4-FFF2-40B4-BE49-F238E27FC236}">
                <a16:creationId xmlns:a16="http://schemas.microsoft.com/office/drawing/2014/main" id="{41F9AB12-8BF2-4BDC-B26B-62FDA223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Agentic RAG 把检索能力封装为工具，由 Agent 根据任务需要动态调用。它提升了获取知识的智能程度，但仍然没有改变“查询时临时组织知识”的基本模式。</a:t>
            </a:r>
          </a:p>
        </p:txBody>
      </p:sp>
    </p:spTree>
    <p:extLst>
      <p:ext uri="{BB962C8B-B14F-4D97-AF65-F5344CB8AC3E}">
        <p14:creationId xmlns:p14="http://schemas.microsoft.com/office/powerpoint/2010/main" val="818094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2EFEB40-5B9D-40C6-8F34-5795639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05 / RAG 的天花板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EF028285-1C56-4032-BFC7-9C8757E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AD57205F-0398-4B18-AE81-4BA2645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1FE589-0B6B-4A9F-8A31-D27F7E17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RAG 优化了访问能力，但缺少知识积累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1D2B544-16C9-47C3-A864-BD69E1F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检索更准、关联更强、策略更聪明，但知识仍在查询时临时组织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671107-6D49-4F31-B9EE-D2EABBD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05 / 17</a:t>
            </a:r>
          </a:p>
        </p:txBody>
      </p:sp>
      <p:sp>
        <p:nvSpPr>
          <p:cNvPr id="7" name="rag-opt">
            <a:extLst xmlns:a="http://schemas.openxmlformats.org/drawingml/2006/main">
              <a:ext uri="{FF2B5EF4-FFF2-40B4-BE49-F238E27FC236}">
                <a16:creationId xmlns:a16="http://schemas.microsoft.com/office/drawing/2014/main" id="{8532A3A8-709A-4331-AB93-CADA5D8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ag-opt-accent">
            <a:extLst xmlns:a="http://schemas.openxmlformats.org/drawingml/2006/main">
              <a:ext uri="{FF2B5EF4-FFF2-40B4-BE49-F238E27FC236}">
                <a16:creationId xmlns:a16="http://schemas.microsoft.com/office/drawing/2014/main" id="{0FAD22FE-88F4-4D78-9CBD-5B022F26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rag-opt-title">
            <a:extLst xmlns:a="http://schemas.openxmlformats.org/drawingml/2006/main">
              <a:ext uri="{FF2B5EF4-FFF2-40B4-BE49-F238E27FC236}">
                <a16:creationId xmlns:a16="http://schemas.microsoft.com/office/drawing/2014/main" id="{D3107556-E565-46FA-B8A7-611FB05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传统 RAG</a:t>
            </a:r>
          </a:p>
        </p:txBody>
      </p:sp>
      <p:sp>
        <p:nvSpPr>
          <p:cNvPr id="10" name="rag-opt-detail">
            <a:extLst xmlns:a="http://schemas.openxmlformats.org/drawingml/2006/main">
              <a:ext uri="{FF2B5EF4-FFF2-40B4-BE49-F238E27FC236}">
                <a16:creationId xmlns:a16="http://schemas.microsoft.com/office/drawing/2014/main" id="{0824979A-CDC9-4D68-94DE-74B8C95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优化检索质量</a:t>
            </a:r>
          </a:p>
        </p:txBody>
      </p:sp>
      <p:sp>
        <p:nvSpPr>
          <p:cNvPr id="11" name="graph-opt">
            <a:extLst xmlns:a="http://schemas.openxmlformats.org/drawingml/2006/main">
              <a:ext uri="{FF2B5EF4-FFF2-40B4-BE49-F238E27FC236}">
                <a16:creationId xmlns:a16="http://schemas.microsoft.com/office/drawing/2014/main" id="{C47B241E-1607-412B-BE57-1B0F722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graph-opt-accent">
            <a:extLst xmlns:a="http://schemas.openxmlformats.org/drawingml/2006/main">
              <a:ext uri="{FF2B5EF4-FFF2-40B4-BE49-F238E27FC236}">
                <a16:creationId xmlns:a16="http://schemas.microsoft.com/office/drawing/2014/main" id="{086CAED6-4814-4233-BC27-076BCBE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graph-opt-title">
            <a:extLst xmlns:a="http://schemas.openxmlformats.org/drawingml/2006/main">
              <a:ext uri="{FF2B5EF4-FFF2-40B4-BE49-F238E27FC236}">
                <a16:creationId xmlns:a16="http://schemas.microsoft.com/office/drawing/2014/main" id="{4BB5D12A-7595-4C60-945F-7CA1E54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GraphRAG</a:t>
            </a:r>
          </a:p>
        </p:txBody>
      </p:sp>
      <p:sp>
        <p:nvSpPr>
          <p:cNvPr id="14" name="graph-opt-detail">
            <a:extLst xmlns:a="http://schemas.openxmlformats.org/drawingml/2006/main">
              <a:ext uri="{FF2B5EF4-FFF2-40B4-BE49-F238E27FC236}">
                <a16:creationId xmlns:a16="http://schemas.microsoft.com/office/drawing/2014/main" id="{5A903CD1-90FB-43A0-9D9E-6DAA9A0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增强知识关联</a:t>
            </a:r>
          </a:p>
        </p:txBody>
      </p:sp>
      <p:sp>
        <p:nvSpPr>
          <p:cNvPr id="15" name="agentic-opt">
            <a:extLst xmlns:a="http://schemas.openxmlformats.org/drawingml/2006/main">
              <a:ext uri="{FF2B5EF4-FFF2-40B4-BE49-F238E27FC236}">
                <a16:creationId xmlns:a16="http://schemas.microsoft.com/office/drawing/2014/main" id="{FEA1BC79-51C2-4913-811E-D0A4677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agentic-opt-accent">
            <a:extLst xmlns:a="http://schemas.openxmlformats.org/drawingml/2006/main">
              <a:ext uri="{FF2B5EF4-FFF2-40B4-BE49-F238E27FC236}">
                <a16:creationId xmlns:a16="http://schemas.microsoft.com/office/drawing/2014/main" id="{1714B8D3-BED6-4160-95F7-9F98CCB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agentic-opt-title">
            <a:extLst xmlns:a="http://schemas.openxmlformats.org/drawingml/2006/main">
              <a:ext uri="{FF2B5EF4-FFF2-40B4-BE49-F238E27FC236}">
                <a16:creationId xmlns:a16="http://schemas.microsoft.com/office/drawing/2014/main" id="{67C4213A-090F-417F-815E-40B5469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193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Agentic RAG</a:t>
            </a:r>
          </a:p>
        </p:txBody>
      </p:sp>
      <p:sp>
        <p:nvSpPr>
          <p:cNvPr id="18" name="agentic-opt-detail">
            <a:extLst xmlns:a="http://schemas.openxmlformats.org/drawingml/2006/main">
              <a:ext uri="{FF2B5EF4-FFF2-40B4-BE49-F238E27FC236}">
                <a16:creationId xmlns:a16="http://schemas.microsoft.com/office/drawing/2014/main" id="{5BE0F8C0-D7D7-4E84-8157-85A6915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241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改进检索策略</a:t>
            </a:r>
          </a:p>
        </p:txBody>
      </p:sp>
      <p:cxnSp>
        <p:nvCxnSpPr>
          <p:cNvPr id="8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28900" y="2800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76800" y="2800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temporary-use">
            <a:extLst xmlns:a="http://schemas.openxmlformats.org/drawingml/2006/main">
              <a:ext uri="{FF2B5EF4-FFF2-40B4-BE49-F238E27FC236}">
                <a16:creationId xmlns:a16="http://schemas.microsoft.com/office/drawing/2014/main" id="{337962B2-5168-4D04-AC03-237F840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temporary-use-accent">
            <a:extLst xmlns:a="http://schemas.openxmlformats.org/drawingml/2006/main">
              <a:ext uri="{FF2B5EF4-FFF2-40B4-BE49-F238E27FC236}">
                <a16:creationId xmlns:a16="http://schemas.microsoft.com/office/drawing/2014/main" id="{6AFC5BCC-E391-4696-A8BD-E58BB34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5D45"/>
            </a:solidFill>
            <a:prstDash val="solid"/>
          </a:ln>
        </p:spPr>
      </p:sp>
      <p:sp>
        <p:nvSpPr>
          <p:cNvPr id="23" name="temporary-use-title">
            <a:extLst xmlns:a="http://schemas.openxmlformats.org/drawingml/2006/main">
              <a:ext uri="{FF2B5EF4-FFF2-40B4-BE49-F238E27FC236}">
                <a16:creationId xmlns:a16="http://schemas.microsoft.com/office/drawing/2014/main" id="{8A20AA6E-7A6B-43EF-9D41-1FCA719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529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共同问题</a:t>
            </a:r>
          </a:p>
        </p:txBody>
      </p:sp>
      <p:sp>
        <p:nvSpPr>
          <p:cNvPr id="24" name="temporary-use-detail">
            <a:extLst xmlns:a="http://schemas.openxmlformats.org/drawingml/2006/main">
              <a:ext uri="{FF2B5EF4-FFF2-40B4-BE49-F238E27FC236}">
                <a16:creationId xmlns:a16="http://schemas.microsoft.com/office/drawing/2014/main" id="{B5604D31-EA61-4742-93C2-B89B6CB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直到用户提问时，知识才被临时检索和组织。</a:t>
            </a:r>
          </a:p>
        </p:txBody>
      </p:sp>
      <p:cxnSp>
        <p:nvCxnSpPr>
          <p:cNvPr id="90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4972050" y="3333750"/>
            <a:ext cx="12477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5D45"/>
            </a:solidFill>
            <a:prstDash val="dash"/>
            <a:tailEnd type="arrow" w="sm" len="sm"/>
          </a:ln>
        </p:spPr>
      </p:cxnSp>
      <p:sp>
        <p:nvSpPr>
          <p:cNvPr id="26" name="karpathy-pain-box">
            <a:extLst xmlns:a="http://schemas.openxmlformats.org/drawingml/2006/main">
              <a:ext uri="{FF2B5EF4-FFF2-40B4-BE49-F238E27FC236}">
                <a16:creationId xmlns:a16="http://schemas.microsoft.com/office/drawing/2014/main" id="{345B2244-831E-47F7-BEC6-A9260F8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238500" cy="28765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7" name="pain-accent">
            <a:extLst xmlns:a="http://schemas.openxmlformats.org/drawingml/2006/main">
              <a:ext uri="{FF2B5EF4-FFF2-40B4-BE49-F238E27FC236}">
                <a16:creationId xmlns:a16="http://schemas.microsoft.com/office/drawing/2014/main" id="{B2AB3634-163D-4E97-8DA1-2342AC0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8" name="pain-title">
            <a:extLst xmlns:a="http://schemas.openxmlformats.org/drawingml/2006/main">
              <a:ext uri="{FF2B5EF4-FFF2-40B4-BE49-F238E27FC236}">
                <a16:creationId xmlns:a16="http://schemas.microsoft.com/office/drawing/2014/main" id="{5F6FF562-4B21-4DA0-953B-84D271D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6"/>
                </a:solidFill>
              </a:defRPr>
            </a:pPr>
            <a:r>
              <a:rPr sz="1500" b="1">
                <a:solidFill>
                  <a:srgbClr val="101816"/>
                </a:solidFill>
              </a:rPr>
              <a:t>Karpathy 提到的痛点</a:t>
            </a:r>
          </a:p>
        </p:txBody>
      </p:sp>
      <p:sp>
        <p:nvSpPr>
          <p:cNvPr id="29" name="pain-dot-1">
            <a:extLst xmlns:a="http://schemas.openxmlformats.org/drawingml/2006/main">
              <a:ext uri="{FF2B5EF4-FFF2-40B4-BE49-F238E27FC236}">
                <a16:creationId xmlns:a16="http://schemas.microsoft.com/office/drawing/2014/main" id="{6F44C08D-DC70-4181-858A-E7AB93B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in-1-title">
            <a:extLst xmlns:a="http://schemas.openxmlformats.org/drawingml/2006/main">
              <a:ext uri="{FF2B5EF4-FFF2-40B4-BE49-F238E27FC236}">
                <a16:creationId xmlns:a16="http://schemas.microsoft.com/office/drawing/2014/main" id="{B3EA7C33-BB26-4309-9C0F-995EE2EB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没有知识积累</a:t>
            </a:r>
          </a:p>
        </p:txBody>
      </p:sp>
      <p:sp>
        <p:nvSpPr>
          <p:cNvPr id="31" name="pain-1-detail">
            <a:extLst xmlns:a="http://schemas.openxmlformats.org/drawingml/2006/main">
              <a:ext uri="{FF2B5EF4-FFF2-40B4-BE49-F238E27FC236}">
                <a16:creationId xmlns:a16="http://schemas.microsoft.com/office/drawing/2014/main" id="{9B0D7B89-BAF3-446C-89BF-B0F5A74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每次查询都重新发现知识</a:t>
            </a:r>
          </a:p>
        </p:txBody>
      </p:sp>
      <p:sp>
        <p:nvSpPr>
          <p:cNvPr id="32" name="pain-dot-2">
            <a:extLst xmlns:a="http://schemas.openxmlformats.org/drawingml/2006/main">
              <a:ext uri="{FF2B5EF4-FFF2-40B4-BE49-F238E27FC236}">
                <a16:creationId xmlns:a16="http://schemas.microsoft.com/office/drawing/2014/main" id="{EEF98ACA-4970-4A9B-B0CD-2D08A177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in-2-title">
            <a:extLst xmlns:a="http://schemas.openxmlformats.org/drawingml/2006/main">
              <a:ext uri="{FF2B5EF4-FFF2-40B4-BE49-F238E27FC236}">
                <a16:creationId xmlns:a16="http://schemas.microsoft.com/office/drawing/2014/main" id="{8598AF0B-79B0-48A4-8871-081290A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跨文档推理弱</a:t>
            </a:r>
          </a:p>
        </p:txBody>
      </p:sp>
      <p:sp>
        <p:nvSpPr>
          <p:cNvPr id="34" name="pain-2-detail">
            <a:extLst xmlns:a="http://schemas.openxmlformats.org/drawingml/2006/main">
              <a:ext uri="{FF2B5EF4-FFF2-40B4-BE49-F238E27FC236}">
                <a16:creationId xmlns:a16="http://schemas.microsoft.com/office/drawing/2014/main" id="{55749A13-FD7E-42EA-BA8A-4CE026B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片段之间难以自然综合</a:t>
            </a:r>
          </a:p>
        </p:txBody>
      </p:sp>
      <p:sp>
        <p:nvSpPr>
          <p:cNvPr id="35" name="pain-dot-3">
            <a:extLst xmlns:a="http://schemas.openxmlformats.org/drawingml/2006/main">
              <a:ext uri="{FF2B5EF4-FFF2-40B4-BE49-F238E27FC236}">
                <a16:creationId xmlns:a16="http://schemas.microsoft.com/office/drawing/2014/main" id="{CD070437-F324-4637-8504-5115579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in-3-title">
            <a:extLst xmlns:a="http://schemas.openxmlformats.org/drawingml/2006/main">
              <a:ext uri="{FF2B5EF4-FFF2-40B4-BE49-F238E27FC236}">
                <a16:creationId xmlns:a16="http://schemas.microsoft.com/office/drawing/2014/main" id="{BD952EAB-1CDB-44CC-AF5F-03E35771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工程链路过重</a:t>
            </a:r>
          </a:p>
        </p:txBody>
      </p:sp>
      <p:sp>
        <p:nvSpPr>
          <p:cNvPr id="37" name="pain-3-detail">
            <a:extLst xmlns:a="http://schemas.openxmlformats.org/drawingml/2006/main">
              <a:ext uri="{FF2B5EF4-FFF2-40B4-BE49-F238E27FC236}">
                <a16:creationId xmlns:a16="http://schemas.microsoft.com/office/drawing/2014/main" id="{4B92B574-7C1B-46DF-9C9E-B88863D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D4A45"/>
                </a:solidFill>
              </a:defRPr>
            </a:pPr>
            <a:r>
              <a:rPr sz="1013" b="0">
                <a:solidFill>
                  <a:srgbClr val="3D4A45"/>
                </a:solidFill>
              </a:rPr>
              <a:t>索引、检索、编排都更复杂</a:t>
            </a:r>
          </a:p>
        </p:txBody>
      </p:sp>
      <p:sp>
        <p:nvSpPr>
          <p:cNvPr id="38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DADFE8B5-A949-424B-B70C-966A48F0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9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01AE9E16-ACB3-45E0-88FE-5288101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0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83A4B97-D4FF-4DBC-A2B5-79FF1417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现有 RAG 技术主要提升的是知识访问能力，而不是完整的知识积累能力。LLM Wiki 关注的正是下一步：让大模型成为知识体系的持续构建者和维护者。</a:t>
            </a:r>
          </a:p>
        </p:txBody>
      </p:sp>
    </p:spTree>
    <p:extLst>
      <p:ext uri="{BB962C8B-B14F-4D97-AF65-F5344CB8AC3E}">
        <p14:creationId xmlns:p14="http://schemas.microsoft.com/office/powerpoint/2010/main" val="536318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D8530C-0BEE-48F6-91C3-2B3F9C4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06 / Obsidian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0D18EE9-B6F3-43FE-BD97-83B3057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D7F26858-E541-42F9-8C85-3B21ED2D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3DA061-8240-4393-B058-63490A3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Obsidian：人和 LLM 共同使用的知识 IDE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2DB7692-177E-4DD8-AB26-AA652969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LLM Wiki 的核心是 Agent + Markdown 文件目录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ED8C50-5EB6-4CA8-94F6-6588B88C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06 / 17</a:t>
            </a:r>
          </a:p>
        </p:txBody>
      </p:sp>
      <p:sp>
        <p:nvSpPr>
          <p:cNvPr id="7" name="plain-folder-tab">
            <a:extLst xmlns:a="http://schemas.openxmlformats.org/drawingml/2006/main">
              <a:ext uri="{FF2B5EF4-FFF2-40B4-BE49-F238E27FC236}">
                <a16:creationId xmlns:a16="http://schemas.microsoft.com/office/drawing/2014/main" id="{5D584DC8-1924-4925-AE2A-EACD676D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86025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8" name="plain-folder">
            <a:extLst xmlns:a="http://schemas.openxmlformats.org/drawingml/2006/main">
              <a:ext uri="{FF2B5EF4-FFF2-40B4-BE49-F238E27FC236}">
                <a16:creationId xmlns:a16="http://schemas.microsoft.com/office/drawing/2014/main" id="{512EF17B-4610-46BC-96D7-B1086605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61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普通文件夹</a:t>
            </a:r>
          </a:p>
        </p:txBody>
      </p:sp>
      <p:sp>
        <p:nvSpPr>
          <p:cNvPr id="9" name="folder-desc">
            <a:extLst xmlns:a="http://schemas.openxmlformats.org/drawingml/2006/main">
              <a:ext uri="{FF2B5EF4-FFF2-40B4-BE49-F238E27FC236}">
                <a16:creationId xmlns:a16="http://schemas.microsoft.com/office/drawing/2014/main" id="{5AD90A41-2D16-4742-8F8B-B625BFB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适合 Agent 读写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不适合人长期浏览和审阅</a:t>
            </a:r>
          </a:p>
        </p:txBody>
      </p:sp>
      <p:sp>
        <p:nvSpPr>
          <p:cNvPr id="10" name="obsidian-card">
            <a:extLst xmlns:a="http://schemas.openxmlformats.org/drawingml/2006/main">
              <a:ext uri="{FF2B5EF4-FFF2-40B4-BE49-F238E27FC236}">
                <a16:creationId xmlns:a16="http://schemas.microsoft.com/office/drawing/2014/main" id="{628AF9E3-34DF-4DB1-BC16-42F4EA3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obsidian-card-accent">
            <a:extLst xmlns:a="http://schemas.openxmlformats.org/drawingml/2006/main">
              <a:ext uri="{FF2B5EF4-FFF2-40B4-BE49-F238E27FC236}">
                <a16:creationId xmlns:a16="http://schemas.microsoft.com/office/drawing/2014/main" id="{22C25AC7-C3BE-4EC5-8267-23FF2E6A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2" name="obsidian-card-title">
            <a:extLst xmlns:a="http://schemas.openxmlformats.org/drawingml/2006/main">
              <a:ext uri="{FF2B5EF4-FFF2-40B4-BE49-F238E27FC236}">
                <a16:creationId xmlns:a16="http://schemas.microsoft.com/office/drawing/2014/main" id="{E664DBE5-A2EC-483B-9C43-90F3A172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Obsidian</a:t>
            </a:r>
          </a:p>
        </p:txBody>
      </p:sp>
      <p:sp>
        <p:nvSpPr>
          <p:cNvPr id="13" name="obsidian-card-detail">
            <a:extLst xmlns:a="http://schemas.openxmlformats.org/drawingml/2006/main">
              <a:ext uri="{FF2B5EF4-FFF2-40B4-BE49-F238E27FC236}">
                <a16:creationId xmlns:a16="http://schemas.microsoft.com/office/drawing/2014/main" id="{EC9FEA00-1629-484D-9D61-75CA2B0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86075"/>
            <a:ext cx="2076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本地 Markdown、双向链接、反向链接、图谱视图、CLI</a:t>
            </a:r>
          </a:p>
        </p:txBody>
      </p:sp>
      <p:cxnSp>
        <p:nvCxnSpPr>
          <p:cNvPr id="7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28875" y="3114675"/>
            <a:ext cx="23336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15" name="ide-quote">
            <a:extLst xmlns:a="http://schemas.openxmlformats.org/drawingml/2006/main">
              <a:ext uri="{FF2B5EF4-FFF2-40B4-BE49-F238E27FC236}">
                <a16:creationId xmlns:a16="http://schemas.microsoft.com/office/drawing/2014/main" id="{9CA81D31-8675-4721-95AF-D6A46F27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Obsidian 是 IDE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LLM 是程序员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Wiki 是代码库</a:t>
            </a:r>
          </a:p>
        </p:txBody>
      </p:sp>
      <p:sp>
        <p:nvSpPr>
          <p:cNvPr id="16" name="adv-browse">
            <a:extLst xmlns:a="http://schemas.openxmlformats.org/drawingml/2006/main">
              <a:ext uri="{FF2B5EF4-FFF2-40B4-BE49-F238E27FC236}">
                <a16:creationId xmlns:a16="http://schemas.microsoft.com/office/drawing/2014/main" id="{E3CB7582-A594-4794-A149-E729DBB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adv-browse-accent">
            <a:extLst xmlns:a="http://schemas.openxmlformats.org/drawingml/2006/main">
              <a:ext uri="{FF2B5EF4-FFF2-40B4-BE49-F238E27FC236}">
                <a16:creationId xmlns:a16="http://schemas.microsoft.com/office/drawing/2014/main" id="{826260B5-7214-4967-B2E4-FC8A4A6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adv-browse-title">
            <a:extLst xmlns:a="http://schemas.openxmlformats.org/drawingml/2006/main">
              <a:ext uri="{FF2B5EF4-FFF2-40B4-BE49-F238E27FC236}">
                <a16:creationId xmlns:a16="http://schemas.microsoft.com/office/drawing/2014/main" id="{6C944BA8-7F5C-483B-94BC-F8D254B8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更好浏览</a:t>
            </a:r>
          </a:p>
        </p:txBody>
      </p:sp>
      <p:sp>
        <p:nvSpPr>
          <p:cNvPr id="19" name="adv-browse-detail">
            <a:extLst xmlns:a="http://schemas.openxmlformats.org/drawingml/2006/main">
              <a:ext uri="{FF2B5EF4-FFF2-40B4-BE49-F238E27FC236}">
                <a16:creationId xmlns:a16="http://schemas.microsoft.com/office/drawing/2014/main" id="{2BBEC9AB-FA0B-41D9-8DDC-AC77CD0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[[双向链接]] 可以直接点击跳转</a:t>
            </a:r>
          </a:p>
        </p:txBody>
      </p:sp>
      <p:sp>
        <p:nvSpPr>
          <p:cNvPr id="20" name="adv-review">
            <a:extLst xmlns:a="http://schemas.openxmlformats.org/drawingml/2006/main">
              <a:ext uri="{FF2B5EF4-FFF2-40B4-BE49-F238E27FC236}">
                <a16:creationId xmlns:a16="http://schemas.microsoft.com/office/drawing/2014/main" id="{DFDA7574-014D-4D1E-8CF4-F6F60833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adv-review-accent">
            <a:extLst xmlns:a="http://schemas.openxmlformats.org/drawingml/2006/main">
              <a:ext uri="{FF2B5EF4-FFF2-40B4-BE49-F238E27FC236}">
                <a16:creationId xmlns:a16="http://schemas.microsoft.com/office/drawing/2014/main" id="{C82479D3-5D77-40CD-90D3-2C87EB2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2" name="adv-review-title">
            <a:extLst xmlns:a="http://schemas.openxmlformats.org/drawingml/2006/main">
              <a:ext uri="{FF2B5EF4-FFF2-40B4-BE49-F238E27FC236}">
                <a16:creationId xmlns:a16="http://schemas.microsoft.com/office/drawing/2014/main" id="{31E63E01-C337-4C69-90EE-B39E654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4802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更好审阅</a:t>
            </a:r>
          </a:p>
        </p:txBody>
      </p:sp>
      <p:sp>
        <p:nvSpPr>
          <p:cNvPr id="23" name="adv-review-detail">
            <a:extLst xmlns:a="http://schemas.openxmlformats.org/drawingml/2006/main">
              <a:ext uri="{FF2B5EF4-FFF2-40B4-BE49-F238E27FC236}">
                <a16:creationId xmlns:a16="http://schemas.microsoft.com/office/drawing/2014/main" id="{93CD119B-72D1-465C-8AB1-F6E862F8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52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反向链接、关系图谱、孤立页面都能看见</a:t>
            </a:r>
          </a:p>
        </p:txBody>
      </p:sp>
      <p:sp>
        <p:nvSpPr>
          <p:cNvPr id="24" name="adv-local">
            <a:extLst xmlns:a="http://schemas.openxmlformats.org/drawingml/2006/main">
              <a:ext uri="{FF2B5EF4-FFF2-40B4-BE49-F238E27FC236}">
                <a16:creationId xmlns:a16="http://schemas.microsoft.com/office/drawing/2014/main" id="{7A1F4828-44FE-4C70-A3F3-6554059C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adv-local-accent">
            <a:extLst xmlns:a="http://schemas.openxmlformats.org/drawingml/2006/main">
              <a:ext uri="{FF2B5EF4-FFF2-40B4-BE49-F238E27FC236}">
                <a16:creationId xmlns:a16="http://schemas.microsoft.com/office/drawing/2014/main" id="{CEAB931D-E06F-4EE0-8574-57FB888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6" name="adv-local-title">
            <a:extLst xmlns:a="http://schemas.openxmlformats.org/drawingml/2006/main">
              <a:ext uri="{FF2B5EF4-FFF2-40B4-BE49-F238E27FC236}">
                <a16:creationId xmlns:a16="http://schemas.microsoft.com/office/drawing/2014/main" id="{0F023C7A-F416-4931-811F-AEC5C3C3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不锁数据</a:t>
            </a:r>
          </a:p>
        </p:txBody>
      </p:sp>
      <p:sp>
        <p:nvSpPr>
          <p:cNvPr id="27" name="adv-local-detail">
            <a:extLst xmlns:a="http://schemas.openxmlformats.org/drawingml/2006/main">
              <a:ext uri="{FF2B5EF4-FFF2-40B4-BE49-F238E27FC236}">
                <a16:creationId xmlns:a16="http://schemas.microsoft.com/office/drawing/2014/main" id="{7A0EAC26-40EF-45C3-8041-FD2F8F77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底层仍是 Markdown，Agent 能改，Git 能管</a:t>
            </a:r>
          </a:p>
        </p:txBody>
      </p:sp>
      <p:cxnSp>
        <p:nvCxnSpPr>
          <p:cNvPr id="9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43750" y="2409825"/>
            <a:ext cx="1333500" cy="70961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10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143750" y="3119438"/>
            <a:ext cx="1333500" cy="385763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1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143750" y="3119438"/>
            <a:ext cx="1333500" cy="148113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solid"/>
            <a:tailEnd type="arrow" w="med" len="med"/>
          </a:ln>
        </p:spPr>
      </p:cxnSp>
      <p:sp>
        <p:nvSpPr>
          <p:cNvPr id="31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A28D517F-E099-4131-8A20-68D25C37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2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C8DC5C4F-4231-4318-A87C-47A4DF1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AABB8C57-6641-4901-B6EE-20FCFE9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普通文件夹更像存储层，而 Obsidian 让 Markdown 知识库同时适合人浏览、审阅和协作。它不锁数据，也能通过 CLI 让 Agent 更规范地操作仓库。</a:t>
            </a:r>
          </a:p>
        </p:txBody>
      </p:sp>
    </p:spTree>
    <p:extLst>
      <p:ext uri="{BB962C8B-B14F-4D97-AF65-F5344CB8AC3E}">
        <p14:creationId xmlns:p14="http://schemas.microsoft.com/office/powerpoint/2010/main" val="1843755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58E670C-7273-4FD7-B056-356F1668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07 / 架构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A8FF780-74A5-4E10-BFF7-720313F5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18D44264-EA41-499F-BC18-4A4AF7F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D063B9-53E3-452C-B68A-45EACD47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LLM Wiki 的三层架构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998DEEC-5657-45A4-ABCA-6D998E8D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raw / wiki / schema：事实来源、知识产物与维护规则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E52C0C-C8FA-4566-BAF1-12FB70AB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07 / 17</a:t>
            </a:r>
          </a:p>
        </p:txBody>
      </p:sp>
      <p:sp>
        <p:nvSpPr>
          <p:cNvPr id="7" name="raw-layer-tab">
            <a:extLst xmlns:a="http://schemas.openxmlformats.org/drawingml/2006/main">
              <a:ext uri="{FF2B5EF4-FFF2-40B4-BE49-F238E27FC236}">
                <a16:creationId xmlns:a16="http://schemas.microsoft.com/office/drawing/2014/main" id="{92B89A83-8A7B-41E7-8D01-010C41E2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38400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8" name="raw-layer">
            <a:extLst xmlns:a="http://schemas.openxmlformats.org/drawingml/2006/main">
              <a:ext uri="{FF2B5EF4-FFF2-40B4-BE49-F238E27FC236}">
                <a16:creationId xmlns:a16="http://schemas.microsoft.com/office/drawing/2014/main" id="{64E2FEDB-261B-404D-8959-75D79A1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9" name="raw-desc">
            <a:extLst xmlns:a="http://schemas.openxmlformats.org/drawingml/2006/main">
              <a:ext uri="{FF2B5EF4-FFF2-40B4-BE49-F238E27FC236}">
                <a16:creationId xmlns:a16="http://schemas.microsoft.com/office/drawing/2014/main" id="{04B16193-1098-410D-A56E-2EB2CF9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原始资料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文章 / 论文 / 图片 / 视频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不可变，LLM 只读</a:t>
            </a:r>
          </a:p>
        </p:txBody>
      </p:sp>
      <p:sp>
        <p:nvSpPr>
          <p:cNvPr id="10" name="wiki-layer-tab">
            <a:extLst xmlns:a="http://schemas.openxmlformats.org/drawingml/2006/main">
              <a:ext uri="{FF2B5EF4-FFF2-40B4-BE49-F238E27FC236}">
                <a16:creationId xmlns:a16="http://schemas.microsoft.com/office/drawing/2014/main" id="{A6F584AA-CE22-462D-A21C-6992DEE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247900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1" name="wiki-layer">
            <a:extLst xmlns:a="http://schemas.openxmlformats.org/drawingml/2006/main">
              <a:ext uri="{FF2B5EF4-FFF2-40B4-BE49-F238E27FC236}">
                <a16:creationId xmlns:a16="http://schemas.microsoft.com/office/drawing/2014/main" id="{A9C0AD57-B812-4423-80D9-90FB8A6E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wiki/</a:t>
            </a:r>
          </a:p>
        </p:txBody>
      </p:sp>
      <p:sp>
        <p:nvSpPr>
          <p:cNvPr id="12" name="wiki-desc">
            <a:extLst xmlns:a="http://schemas.openxmlformats.org/drawingml/2006/main">
              <a:ext uri="{FF2B5EF4-FFF2-40B4-BE49-F238E27FC236}">
                <a16:creationId xmlns:a16="http://schemas.microsoft.com/office/drawing/2014/main" id="{1595E751-5D65-4656-A5C7-BEBA122F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LLM 生成的 Markdown 页面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summaries / entities / concepts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comparisons / syntheses ...</a:t>
            </a:r>
          </a:p>
        </p:txBody>
      </p:sp>
      <p:sp>
        <p:nvSpPr>
          <p:cNvPr id="13" name="schema-layer">
            <a:extLst xmlns:a="http://schemas.openxmlformats.org/drawingml/2006/main">
              <a:ext uri="{FF2B5EF4-FFF2-40B4-BE49-F238E27FC236}">
                <a16:creationId xmlns:a16="http://schemas.microsoft.com/office/drawing/2014/main" id="{F1CD4312-E954-4E76-B80A-6BDAD7D4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schema-layer-accent">
            <a:extLst xmlns:a="http://schemas.openxmlformats.org/drawingml/2006/main">
              <a:ext uri="{FF2B5EF4-FFF2-40B4-BE49-F238E27FC236}">
                <a16:creationId xmlns:a16="http://schemas.microsoft.com/office/drawing/2014/main" id="{5C64C0D8-FDEF-44D5-8625-B16E5B18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5" name="schema-layer-title">
            <a:extLst xmlns:a="http://schemas.openxmlformats.org/drawingml/2006/main">
              <a:ext uri="{FF2B5EF4-FFF2-40B4-BE49-F238E27FC236}">
                <a16:creationId xmlns:a16="http://schemas.microsoft.com/office/drawing/2014/main" id="{7E121B0E-1CA9-4208-A4D1-277F6BD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schema</a:t>
            </a:r>
          </a:p>
        </p:txBody>
      </p:sp>
      <p:sp>
        <p:nvSpPr>
          <p:cNvPr id="16" name="schema-layer-detail">
            <a:extLst xmlns:a="http://schemas.openxmlformats.org/drawingml/2006/main">
              <a:ext uri="{FF2B5EF4-FFF2-40B4-BE49-F238E27FC236}">
                <a16:creationId xmlns:a16="http://schemas.microsoft.com/office/drawing/2014/main" id="{CB8EBC6B-EF7E-4F08-9147-6F13A0CB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3370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AGENTS.md / CLAUDE.md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告诉 LLM 如何维护 Wiki</a:t>
            </a:r>
          </a:p>
        </p:txBody>
      </p:sp>
      <p:sp>
        <p:nvSpPr>
          <p:cNvPr id="17" name="schema-desc">
            <a:extLst xmlns:a="http://schemas.openxmlformats.org/drawingml/2006/main">
              <a:ext uri="{FF2B5EF4-FFF2-40B4-BE49-F238E27FC236}">
                <a16:creationId xmlns:a16="http://schemas.microsoft.com/office/drawing/2014/main" id="{AA8A8B1D-56F6-4EF5-92BB-B5A23E0D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关键配置文件：让 LLM 成为有纪律的维护者，而不是普通聊天机器人。</a:t>
            </a:r>
          </a:p>
        </p:txBody>
      </p: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619375" y="3000375"/>
            <a:ext cx="22860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05625" y="3000375"/>
            <a:ext cx="1952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5905500" y="3619500"/>
            <a:ext cx="404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21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E81B9B0C-BB7A-4F49-84E0-CEE743C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06F969B8-6F6A-41CB-81E0-7B1BDA4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8FF15A6-A3DD-4C24-BC1B-99F5AD9A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不是把所有资料混在一起，而是分成三层：raw 保留事实来源，wiki 承载结构化知识，schema 规定维护方式和工作流。</a:t>
            </a:r>
          </a:p>
        </p:txBody>
      </p:sp>
    </p:spTree>
    <p:extLst>
      <p:ext uri="{BB962C8B-B14F-4D97-AF65-F5344CB8AC3E}">
        <p14:creationId xmlns:p14="http://schemas.microsoft.com/office/powerpoint/2010/main" val="856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6BB5F08-D2B5-4A43-880D-304E1335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08 / 核心操作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2840351B-3D2D-4906-B0B7-F02A923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D8060E37-D106-423A-9474-187B2C7A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AE6687-EA9D-4A54-B75D-27DF415F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LLM Wiki 的核心操作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2FF84C1-8BBB-4CA8-B9ED-51E048D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Ingest、Query、Lint：让知识库持续生长并保持健康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F2CC83-E38A-413D-9A9C-D5F923B4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08 / 17</a:t>
            </a:r>
          </a:p>
        </p:txBody>
      </p:sp>
      <p:sp>
        <p:nvSpPr>
          <p:cNvPr id="7" name="ingest-card">
            <a:extLst xmlns:a="http://schemas.openxmlformats.org/drawingml/2006/main">
              <a:ext uri="{FF2B5EF4-FFF2-40B4-BE49-F238E27FC236}">
                <a16:creationId xmlns:a16="http://schemas.microsoft.com/office/drawing/2014/main" id="{5C72D7E2-1F25-4D7A-869A-BCB0198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ingest-card-accent">
            <a:extLst xmlns:a="http://schemas.openxmlformats.org/drawingml/2006/main">
              <a:ext uri="{FF2B5EF4-FFF2-40B4-BE49-F238E27FC236}">
                <a16:creationId xmlns:a16="http://schemas.microsoft.com/office/drawing/2014/main" id="{E998D082-FF52-41EF-A3AB-FB041A5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ingest-card-title">
            <a:extLst xmlns:a="http://schemas.openxmlformats.org/drawingml/2006/main">
              <a:ext uri="{FF2B5EF4-FFF2-40B4-BE49-F238E27FC236}">
                <a16:creationId xmlns:a16="http://schemas.microsoft.com/office/drawing/2014/main" id="{B1CA4020-AC1E-4C5C-984A-DB25F74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Ingest</a:t>
            </a:r>
          </a:p>
        </p:txBody>
      </p:sp>
      <p:sp>
        <p:nvSpPr>
          <p:cNvPr id="10" name="ingest-card-detail">
            <a:extLst xmlns:a="http://schemas.openxmlformats.org/drawingml/2006/main">
              <a:ext uri="{FF2B5EF4-FFF2-40B4-BE49-F238E27FC236}">
                <a16:creationId xmlns:a16="http://schemas.microsoft.com/office/drawing/2014/main" id="{CA338C59-8641-4117-92B3-746826C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摄取新素材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阅读、摘要、更新页面与索引</a:t>
            </a:r>
          </a:p>
        </p:txBody>
      </p:sp>
      <p:sp>
        <p:nvSpPr>
          <p:cNvPr id="11" name="query-card">
            <a:extLst xmlns:a="http://schemas.openxmlformats.org/drawingml/2006/main">
              <a:ext uri="{FF2B5EF4-FFF2-40B4-BE49-F238E27FC236}">
                <a16:creationId xmlns:a16="http://schemas.microsoft.com/office/drawing/2014/main" id="{AA20A3C1-0AA9-475B-9C2B-AC73E722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query-card-accent">
            <a:extLst xmlns:a="http://schemas.openxmlformats.org/drawingml/2006/main">
              <a:ext uri="{FF2B5EF4-FFF2-40B4-BE49-F238E27FC236}">
                <a16:creationId xmlns:a16="http://schemas.microsoft.com/office/drawing/2014/main" id="{2FF474E4-F826-408F-AE90-167FE115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query-card-title">
            <a:extLst xmlns:a="http://schemas.openxmlformats.org/drawingml/2006/main">
              <a:ext uri="{FF2B5EF4-FFF2-40B4-BE49-F238E27FC236}">
                <a16:creationId xmlns:a16="http://schemas.microsoft.com/office/drawing/2014/main" id="{38583BBC-78D2-4E45-A828-F45A986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Query</a:t>
            </a:r>
          </a:p>
        </p:txBody>
      </p:sp>
      <p:sp>
        <p:nvSpPr>
          <p:cNvPr id="14" name="query-card-detail">
            <a:extLst xmlns:a="http://schemas.openxmlformats.org/drawingml/2006/main">
              <a:ext uri="{FF2B5EF4-FFF2-40B4-BE49-F238E27FC236}">
                <a16:creationId xmlns:a16="http://schemas.microsoft.com/office/drawing/2014/main" id="{68A251F8-7CD9-424E-9ABA-6A772E50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基于 Wiki 回答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好的答案可归档回 Wiki</a:t>
            </a:r>
          </a:p>
        </p:txBody>
      </p:sp>
      <p:sp>
        <p:nvSpPr>
          <p:cNvPr id="15" name="lint-card">
            <a:extLst xmlns:a="http://schemas.openxmlformats.org/drawingml/2006/main">
              <a:ext uri="{FF2B5EF4-FFF2-40B4-BE49-F238E27FC236}">
                <a16:creationId xmlns:a16="http://schemas.microsoft.com/office/drawing/2014/main" id="{828D904D-3579-47C5-95B0-3EDBE07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lint-card-accent">
            <a:extLst xmlns:a="http://schemas.openxmlformats.org/drawingml/2006/main">
              <a:ext uri="{FF2B5EF4-FFF2-40B4-BE49-F238E27FC236}">
                <a16:creationId xmlns:a16="http://schemas.microsoft.com/office/drawing/2014/main" id="{3B212152-EC04-4DA2-AB5E-1C87696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lint-card-title">
            <a:extLst xmlns:a="http://schemas.openxmlformats.org/drawingml/2006/main">
              <a:ext uri="{FF2B5EF4-FFF2-40B4-BE49-F238E27FC236}">
                <a16:creationId xmlns:a16="http://schemas.microsoft.com/office/drawing/2014/main" id="{E6217A68-655B-42ED-AD55-19A62FB6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Lint</a:t>
            </a:r>
          </a:p>
        </p:txBody>
      </p:sp>
      <p:sp>
        <p:nvSpPr>
          <p:cNvPr id="18" name="lint-card-detail">
            <a:extLst xmlns:a="http://schemas.openxmlformats.org/drawingml/2006/main">
              <a:ext uri="{FF2B5EF4-FFF2-40B4-BE49-F238E27FC236}">
                <a16:creationId xmlns:a16="http://schemas.microsoft.com/office/drawing/2014/main" id="{FC6AB848-261E-43F6-A9EC-1BC6908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076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检查知识库健康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矛盾、陈旧、孤立与缺链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3000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43750" y="3000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5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143125" y="3714750"/>
            <a:ext cx="76200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22" name="loop-label">
            <a:extLst xmlns:a="http://schemas.openxmlformats.org/drawingml/2006/main">
              <a:ext uri="{FF2B5EF4-FFF2-40B4-BE49-F238E27FC236}">
                <a16:creationId xmlns:a16="http://schemas.microsoft.com/office/drawing/2014/main" id="{0C3021B7-D6BB-4DEB-8F67-2F3018F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摄入 → 提问 → 归档 → 校验 → 再生长</a:t>
            </a:r>
          </a:p>
        </p:txBody>
      </p:sp>
      <p:sp>
        <p:nvSpPr>
          <p:cNvPr id="23" name="insight-card">
            <a:extLst xmlns:a="http://schemas.openxmlformats.org/drawingml/2006/main">
              <a:ext uri="{FF2B5EF4-FFF2-40B4-BE49-F238E27FC236}">
                <a16:creationId xmlns:a16="http://schemas.microsoft.com/office/drawing/2014/main" id="{F3D1C56F-D7DE-4FD0-9B13-57AF11A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insight-card-accent">
            <a:extLst xmlns:a="http://schemas.openxmlformats.org/drawingml/2006/main">
              <a:ext uri="{FF2B5EF4-FFF2-40B4-BE49-F238E27FC236}">
                <a16:creationId xmlns:a16="http://schemas.microsoft.com/office/drawing/2014/main" id="{8F3FAC7A-3839-428F-88D6-D9A98C44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insight-card-title">
            <a:extLst xmlns:a="http://schemas.openxmlformats.org/drawingml/2006/main">
              <a:ext uri="{FF2B5EF4-FFF2-40B4-BE49-F238E27FC236}">
                <a16:creationId xmlns:a16="http://schemas.microsoft.com/office/drawing/2014/main" id="{A6B689A6-2CB4-4552-A72A-86F792E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14900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关键洞察</a:t>
            </a:r>
          </a:p>
        </p:txBody>
      </p:sp>
      <p:sp>
        <p:nvSpPr>
          <p:cNvPr id="26" name="insight-card-detail">
            <a:extLst xmlns:a="http://schemas.openxmlformats.org/drawingml/2006/main">
              <a:ext uri="{FF2B5EF4-FFF2-40B4-BE49-F238E27FC236}">
                <a16:creationId xmlns:a16="http://schemas.microsoft.com/office/drawing/2014/main" id="{3830996B-5935-4311-83DF-66AA79AF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19700"/>
            <a:ext cx="5029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好的 Query 答案不应该消失在聊天记录中，而应该像素材一样沉淀回 Wiki。</a:t>
            </a:r>
          </a:p>
        </p:txBody>
      </p:sp>
      <p:sp>
        <p:nvSpPr>
          <p:cNvPr id="27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7C06EB24-7BD5-4673-B2D7-96E3B02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8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F943633B-7689-4927-A3F8-20D7308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9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7938B82-1C77-48A2-A83A-A5706E9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的日常维护可以概括为三件事：摄入新素材、基于 Wiki 回答问题、定期检查知识库健康。重要的是，查询本身也能反过来成为知识积累的一部分。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1483946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75EA23C-ADD6-402E-973B-B1B0641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09 / index 与 log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529EE1F-1771-436B-B7C8-62C218C7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C13F3CDF-DB85-4922-98D6-F321793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36BF0F-242E-484D-A673-CCDFFAC1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index.md 与 log.md：导航和时间线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21944ED-CDE6-4EFF-896C-F8169881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一个按内容组织，一个按时间记录，帮助人和 LLM 理解 Wiki 的增长</a:t>
            </a:r>
          </a:p>
        </p:txBody>
      </p:sp>
      <p:sp>
        <p:nvSpPr>
          <p:cNvPr id="6" name="index-card">
            <a:extLst xmlns:a="http://schemas.openxmlformats.org/drawingml/2006/main">
              <a:ext uri="{FF2B5EF4-FFF2-40B4-BE49-F238E27FC236}">
                <a16:creationId xmlns:a16="http://schemas.microsoft.com/office/drawing/2014/main" id="{3520A730-46D5-41A5-A3EA-2D27560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index-card-accent">
            <a:extLst xmlns:a="http://schemas.openxmlformats.org/drawingml/2006/main">
              <a:ext uri="{FF2B5EF4-FFF2-40B4-BE49-F238E27FC236}">
                <a16:creationId xmlns:a16="http://schemas.microsoft.com/office/drawing/2014/main" id="{B6ED19C9-C533-475F-A5EF-79E41C0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index-card-title">
            <a:extLst xmlns:a="http://schemas.openxmlformats.org/drawingml/2006/main">
              <a:ext uri="{FF2B5EF4-FFF2-40B4-BE49-F238E27FC236}">
                <a16:creationId xmlns:a16="http://schemas.microsoft.com/office/drawing/2014/main" id="{C9CFB338-B2AE-4B52-97E0-41B7223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index.md</a:t>
            </a:r>
          </a:p>
        </p:txBody>
      </p:sp>
      <p:sp>
        <p:nvSpPr>
          <p:cNvPr id="9" name="index-label">
            <a:extLst xmlns:a="http://schemas.openxmlformats.org/drawingml/2006/main">
              <a:ext uri="{FF2B5EF4-FFF2-40B4-BE49-F238E27FC236}">
                <a16:creationId xmlns:a16="http://schemas.microsoft.com/office/drawing/2014/main" id="{7D465414-4DD5-4ACD-855B-690DC319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内容地图</a:t>
            </a:r>
          </a:p>
        </p:txBody>
      </p:sp>
      <p:sp>
        <p:nvSpPr>
          <p:cNvPr id="10" name="index-body">
            <a:extLst xmlns:a="http://schemas.openxmlformats.org/drawingml/2006/main">
              <a:ext uri="{FF2B5EF4-FFF2-40B4-BE49-F238E27FC236}">
                <a16:creationId xmlns:a16="http://schemas.microsoft.com/office/drawing/2014/main" id="{1945335E-D4B9-4843-B559-C8555C20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按类别列出 Wiki 页面：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entities / concepts / summaries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每个页面包含：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链接、一句话摘要、日期或来源数量</a:t>
            </a:r>
          </a:p>
        </p:txBody>
      </p:sp>
      <p:sp>
        <p:nvSpPr>
          <p:cNvPr id="11" name="index-flow">
            <a:extLst xmlns:a="http://schemas.openxmlformats.org/drawingml/2006/main">
              <a:ext uri="{FF2B5EF4-FFF2-40B4-BE49-F238E27FC236}">
                <a16:creationId xmlns:a16="http://schemas.microsoft.com/office/drawing/2014/main" id="{0585C851-027A-40CA-9DDF-0AE596F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Query 时：先读 index → 找相关页 → 深入阅读</a:t>
            </a:r>
          </a:p>
        </p:txBody>
      </p:sp>
      <p:sp>
        <p:nvSpPr>
          <p:cNvPr id="12" name="index-line-1">
            <a:extLst xmlns:a="http://schemas.openxmlformats.org/drawingml/2006/main">
              <a:ext uri="{FF2B5EF4-FFF2-40B4-BE49-F238E27FC236}">
                <a16:creationId xmlns:a16="http://schemas.microsoft.com/office/drawing/2014/main" id="{267545FA-EF68-4303-A754-009C129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FC6B4"/>
            </a:solidFill>
            <a:prstDash val="solid"/>
          </a:ln>
        </p:spPr>
      </p:sp>
      <p:sp>
        <p:nvSpPr>
          <p:cNvPr id="13" name="index-line-2">
            <a:extLst xmlns:a="http://schemas.openxmlformats.org/drawingml/2006/main">
              <a:ext uri="{FF2B5EF4-FFF2-40B4-BE49-F238E27FC236}">
                <a16:creationId xmlns:a16="http://schemas.microsoft.com/office/drawing/2014/main" id="{F1DAF594-9463-4602-A1E4-CDAC196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CFC6B4"/>
            </a:solidFill>
            <a:prstDash val="solid"/>
          </a:ln>
        </p:spPr>
      </p:sp>
      <p:sp>
        <p:nvSpPr>
          <p:cNvPr id="14" name="log-card">
            <a:extLst xmlns:a="http://schemas.openxmlformats.org/drawingml/2006/main">
              <a:ext uri="{FF2B5EF4-FFF2-40B4-BE49-F238E27FC236}">
                <a16:creationId xmlns:a16="http://schemas.microsoft.com/office/drawing/2014/main" id="{F3FF9CAB-5F34-401B-AAC1-2EF53E20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log-card-accent">
            <a:extLst xmlns:a="http://schemas.openxmlformats.org/drawingml/2006/main">
              <a:ext uri="{FF2B5EF4-FFF2-40B4-BE49-F238E27FC236}">
                <a16:creationId xmlns:a16="http://schemas.microsoft.com/office/drawing/2014/main" id="{02E715BB-605E-493C-8762-92A9569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6" name="log-card-title">
            <a:extLst xmlns:a="http://schemas.openxmlformats.org/drawingml/2006/main">
              <a:ext uri="{FF2B5EF4-FFF2-40B4-BE49-F238E27FC236}">
                <a16:creationId xmlns:a16="http://schemas.microsoft.com/office/drawing/2014/main" id="{429F7641-1353-44EB-9470-0C4F9350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383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log.md</a:t>
            </a:r>
          </a:p>
        </p:txBody>
      </p:sp>
      <p:sp>
        <p:nvSpPr>
          <p:cNvPr id="17" name="log-label">
            <a:extLst xmlns:a="http://schemas.openxmlformats.org/drawingml/2006/main">
              <a:ext uri="{FF2B5EF4-FFF2-40B4-BE49-F238E27FC236}">
                <a16:creationId xmlns:a16="http://schemas.microsoft.com/office/drawing/2014/main" id="{3897DC45-F38C-4D4A-BF0D-503DA76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演进时间线</a:t>
            </a:r>
          </a:p>
        </p:txBody>
      </p:sp>
      <p:sp>
        <p:nvSpPr>
          <p:cNvPr id="18" name="log-body">
            <a:extLst xmlns:a="http://schemas.openxmlformats.org/drawingml/2006/main">
              <a:ext uri="{FF2B5EF4-FFF2-40B4-BE49-F238E27FC236}">
                <a16:creationId xmlns:a16="http://schemas.microsoft.com/office/drawing/2014/main" id="{F931B817-B885-44AC-A5E9-69F8CF1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按时间顺序，仅追加记录：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Ingest / Query / Lint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记录发生了什么、何时发生，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以及最近做过哪些维护。</a:t>
            </a:r>
          </a:p>
        </p:txBody>
      </p:sp>
      <p:sp>
        <p:nvSpPr>
          <p:cNvPr id="19" name="log-example">
            <a:extLst xmlns:a="http://schemas.openxmlformats.org/drawingml/2006/main">
              <a:ext uri="{FF2B5EF4-FFF2-40B4-BE49-F238E27FC236}">
                <a16:creationId xmlns:a16="http://schemas.microsoft.com/office/drawing/2014/main" id="{25690AD7-233A-4A26-909B-1E8957F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## [2026-04-02] ingest | 文章标题</a:t>
            </a:r>
          </a:p>
        </p:txBody>
      </p:sp>
      <p:sp>
        <p:nvSpPr>
          <p:cNvPr id="20" name="log-tip">
            <a:extLst xmlns:a="http://schemas.openxmlformats.org/drawingml/2006/main">
              <a:ext uri="{FF2B5EF4-FFF2-40B4-BE49-F238E27FC236}">
                <a16:creationId xmlns:a16="http://schemas.microsoft.com/office/drawing/2014/main" id="{65580651-4FA6-45A3-9187-7E7301A8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8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可用 grep / tail 快速查看最近记录</a:t>
            </a:r>
          </a:p>
        </p:txBody>
      </p:sp>
      <p:sp>
        <p:nvSpPr>
          <p:cNvPr id="21" name="bridge-box">
            <a:extLst xmlns:a="http://schemas.openxmlformats.org/drawingml/2006/main">
              <a:ext uri="{FF2B5EF4-FFF2-40B4-BE49-F238E27FC236}">
                <a16:creationId xmlns:a16="http://schemas.microsoft.com/office/drawing/2014/main" id="{1982AF45-B39F-41D2-9557-A974E4D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0375"/>
            <a:ext cx="1676400" cy="876300"/>
          </a:xfrm>
          <a:prstGeom xmlns:a="http://schemas.openxmlformats.org/drawingml/2006/main" prst="roundRect">
            <a:avLst>
              <a:gd name="adj" fmla="val 1413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帮助 LLM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定位与回忆</a:t>
            </a:r>
          </a:p>
        </p:txBody>
      </p:sp>
      <p:cxnSp>
        <p:nvCxnSpPr>
          <p:cNvPr id="72" name=""/>
          <p:cNvCxnSpPr>
            <a:stCxn xmlns:a="http://schemas.openxmlformats.org/drawingml/2006/main" id="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953000" y="3438525"/>
            <a:ext cx="3048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2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34200" y="3438525"/>
            <a:ext cx="3048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766E"/>
            </a:solidFill>
            <a:prstDash val="solid"/>
            <a:tailEnd type="arrow" w="sm" len="sm"/>
          </a:ln>
        </p:spPr>
      </p:cxnSp>
      <p:sp>
        <p:nvSpPr>
          <p:cNvPr id="24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15590A7C-2B97-4816-A2BB-3AB0C2CE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9C99299B-5188-46A4-B0FE-21C9233E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6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F74E68D-D8C0-4A6C-875B-2854E156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index.md 让 Wiki 具备内容入口，log.md 让 Wiki 保留演进历史。前者帮助 LLM 找到该读什么，后者帮助 LLM 理解最近发生了什么。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6F4F82-F238-4C4A-81C6-7DA67FCE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1330013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5B4DB64-A4ED-4811-8C35-D1CD2C2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10 / Web Clipper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3EE6737F-255C-468D-B855-337D8956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1D75D62E-4D6B-4F70-B6A0-8954BFB8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576332-7D99-45CD-A643-9629297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16"/>
                </a:solidFill>
              </a:defRPr>
            </a:pPr>
            <a:r>
              <a:rPr sz="2775" b="1">
                <a:solidFill>
                  <a:srgbClr val="101816"/>
                </a:solidFill>
              </a:rPr>
              <a:t>Obsidian Web Clipper：把网页变成 raw 素材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D9DD93D-21C8-4373-8494-90A2599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从外部网页到本地 Markdown，让 LLM Wiki 有稳定的素材入口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20EF73-6B35-44B8-9EB3-A3E6B466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10 / 17</a:t>
            </a:r>
          </a:p>
        </p:txBody>
      </p:sp>
      <p:sp>
        <p:nvSpPr>
          <p:cNvPr id="7" name="browser-card">
            <a:extLst xmlns:a="http://schemas.openxmlformats.org/drawingml/2006/main">
              <a:ext uri="{FF2B5EF4-FFF2-40B4-BE49-F238E27FC236}">
                <a16:creationId xmlns:a16="http://schemas.microsoft.com/office/drawing/2014/main" id="{1BC97686-0420-4D7D-91E5-0B71694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browser-card-top">
            <a:extLst xmlns:a="http://schemas.openxmlformats.org/drawingml/2006/main">
              <a:ext uri="{FF2B5EF4-FFF2-40B4-BE49-F238E27FC236}">
                <a16:creationId xmlns:a16="http://schemas.microsoft.com/office/drawing/2014/main" id="{14105C4B-F78C-450B-BF9E-854C499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0C2"/>
            </a:solidFill>
            <a:prstDash val="solid"/>
          </a:ln>
        </p:spPr>
      </p:sp>
      <p:sp>
        <p:nvSpPr>
          <p:cNvPr id="9" name="browser-card-dot-0">
            <a:extLst xmlns:a="http://schemas.openxmlformats.org/drawingml/2006/main">
              <a:ext uri="{FF2B5EF4-FFF2-40B4-BE49-F238E27FC236}">
                <a16:creationId xmlns:a16="http://schemas.microsoft.com/office/drawing/2014/main" id="{AA07E619-BAF1-4778-9D99-CC9D7724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owser-card-dot-1">
            <a:extLst xmlns:a="http://schemas.openxmlformats.org/drawingml/2006/main">
              <a:ext uri="{FF2B5EF4-FFF2-40B4-BE49-F238E27FC236}">
                <a16:creationId xmlns:a16="http://schemas.microsoft.com/office/drawing/2014/main" id="{D58620A7-C4EE-44C0-B5C0-31D783C1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owser-card-dot-2">
            <a:extLst xmlns:a="http://schemas.openxmlformats.org/drawingml/2006/main">
              <a:ext uri="{FF2B5EF4-FFF2-40B4-BE49-F238E27FC236}">
                <a16:creationId xmlns:a16="http://schemas.microsoft.com/office/drawing/2014/main" id="{AD321D03-BD1A-4804-9EF7-C499936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F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owser-card-title">
            <a:extLst xmlns:a="http://schemas.openxmlformats.org/drawingml/2006/main">
              <a:ext uri="{FF2B5EF4-FFF2-40B4-BE49-F238E27FC236}">
                <a16:creationId xmlns:a16="http://schemas.microsoft.com/office/drawing/2014/main" id="{585AAF01-5BF3-4E25-8DD8-59E09A89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网页文章</a:t>
            </a:r>
          </a:p>
        </p:txBody>
      </p:sp>
      <p:sp>
        <p:nvSpPr>
          <p:cNvPr id="13" name="browser-card-line-1">
            <a:extLst xmlns:a="http://schemas.openxmlformats.org/drawingml/2006/main">
              <a:ext uri="{FF2B5EF4-FFF2-40B4-BE49-F238E27FC236}">
                <a16:creationId xmlns:a16="http://schemas.microsoft.com/office/drawing/2014/main" id="{55E8E87F-85E8-4EFE-8538-D3069DA5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4"/>
            </a:solidFill>
            <a:prstDash val="solid"/>
          </a:ln>
        </p:spPr>
      </p:sp>
      <p:sp>
        <p:nvSpPr>
          <p:cNvPr id="14" name="browser-card-line-2">
            <a:extLst xmlns:a="http://schemas.openxmlformats.org/drawingml/2006/main">
              <a:ext uri="{FF2B5EF4-FFF2-40B4-BE49-F238E27FC236}">
                <a16:creationId xmlns:a16="http://schemas.microsoft.com/office/drawing/2014/main" id="{6E4842E6-CBBF-4064-A432-2AA47F6E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2"/>
            </a:solidFill>
            <a:prstDash val="solid"/>
          </a:ln>
        </p:spPr>
      </p:sp>
      <p:sp>
        <p:nvSpPr>
          <p:cNvPr id="15" name="browser-card-line-3">
            <a:extLst xmlns:a="http://schemas.openxmlformats.org/drawingml/2006/main">
              <a:ext uri="{FF2B5EF4-FFF2-40B4-BE49-F238E27FC236}">
                <a16:creationId xmlns:a16="http://schemas.microsoft.com/office/drawing/2014/main" id="{4915883A-7550-4620-8A1C-4F80939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0C2"/>
            </a:solidFill>
            <a:prstDash val="solid"/>
          </a:ln>
        </p:spPr>
      </p:sp>
      <p:sp>
        <p:nvSpPr>
          <p:cNvPr id="16" name="clipper-card">
            <a:extLst xmlns:a="http://schemas.openxmlformats.org/drawingml/2006/main">
              <a:ext uri="{FF2B5EF4-FFF2-40B4-BE49-F238E27FC236}">
                <a16:creationId xmlns:a16="http://schemas.microsoft.com/office/drawing/2014/main" id="{FFE37A5C-200A-4FBA-81D6-A46F9FE9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clipper-card-accent">
            <a:extLst xmlns:a="http://schemas.openxmlformats.org/drawingml/2006/main">
              <a:ext uri="{FF2B5EF4-FFF2-40B4-BE49-F238E27FC236}">
                <a16:creationId xmlns:a16="http://schemas.microsoft.com/office/drawing/2014/main" id="{2A514AD2-4FA9-49D3-BD5F-77ECDA41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clipper-card-title">
            <a:extLst xmlns:a="http://schemas.openxmlformats.org/drawingml/2006/main">
              <a:ext uri="{FF2B5EF4-FFF2-40B4-BE49-F238E27FC236}">
                <a16:creationId xmlns:a16="http://schemas.microsoft.com/office/drawing/2014/main" id="{9EA941D1-76F4-481C-B22C-82B0A4F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765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Web Clipper</a:t>
            </a:r>
          </a:p>
        </p:txBody>
      </p:sp>
      <p:sp>
        <p:nvSpPr>
          <p:cNvPr id="19" name="clipper-card-detail">
            <a:extLst xmlns:a="http://schemas.openxmlformats.org/drawingml/2006/main">
              <a:ext uri="{FF2B5EF4-FFF2-40B4-BE49-F238E27FC236}">
                <a16:creationId xmlns:a16="http://schemas.microsoft.com/office/drawing/2014/main" id="{1A38C4A2-FBEF-49D8-B57E-38B4CA0A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81325"/>
            <a:ext cx="150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正文 / 元数据 / 高亮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阅读器模式清理干扰</a:t>
            </a:r>
          </a:p>
        </p:txBody>
      </p:sp>
      <p:sp>
        <p:nvSpPr>
          <p:cNvPr id="20" name="markdown-file">
            <a:extLst xmlns:a="http://schemas.openxmlformats.org/drawingml/2006/main">
              <a:ext uri="{FF2B5EF4-FFF2-40B4-BE49-F238E27FC236}">
                <a16:creationId xmlns:a16="http://schemas.microsoft.com/office/drawing/2014/main" id="{75134F67-BE27-41FA-8170-6B77B556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1809750" cy="2095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markdown-file-label">
            <a:extLst xmlns:a="http://schemas.openxmlformats.org/drawingml/2006/main">
              <a:ext uri="{FF2B5EF4-FFF2-40B4-BE49-F238E27FC236}">
                <a16:creationId xmlns:a16="http://schemas.microsoft.com/office/drawing/2014/main" id="{55327B62-67A9-4179-AE3A-23699B9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.md</a:t>
            </a:r>
          </a:p>
        </p:txBody>
      </p:sp>
      <p:sp>
        <p:nvSpPr>
          <p:cNvPr id="22" name="markdown-file-body">
            <a:extLst xmlns:a="http://schemas.openxmlformats.org/drawingml/2006/main">
              <a:ext uri="{FF2B5EF4-FFF2-40B4-BE49-F238E27FC236}">
                <a16:creationId xmlns:a16="http://schemas.microsoft.com/office/drawing/2014/main" id="{E7879D0D-54CA-4B3A-AE21-B0E4E12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1466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title: {{title}}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url: {{url}}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author: {{author}}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{{content}}</a:t>
            </a:r>
          </a:p>
        </p:txBody>
      </p:sp>
      <p:sp>
        <p:nvSpPr>
          <p:cNvPr id="23" name="raw-card">
            <a:extLst xmlns:a="http://schemas.openxmlformats.org/drawingml/2006/main">
              <a:ext uri="{FF2B5EF4-FFF2-40B4-BE49-F238E27FC236}">
                <a16:creationId xmlns:a16="http://schemas.microsoft.com/office/drawing/2014/main" id="{074F2B13-6815-4D50-9723-98A9C46F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raw-card-accent">
            <a:extLst xmlns:a="http://schemas.openxmlformats.org/drawingml/2006/main">
              <a:ext uri="{FF2B5EF4-FFF2-40B4-BE49-F238E27FC236}">
                <a16:creationId xmlns:a16="http://schemas.microsoft.com/office/drawing/2014/main" id="{205AB862-AF96-42F9-962B-9025056C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5" name="raw-card-title">
            <a:extLst xmlns:a="http://schemas.openxmlformats.org/drawingml/2006/main">
              <a:ext uri="{FF2B5EF4-FFF2-40B4-BE49-F238E27FC236}">
                <a16:creationId xmlns:a16="http://schemas.microsoft.com/office/drawing/2014/main" id="{7BD405E2-5129-46D0-9FC1-48914AC3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26" name="raw-card-detail">
            <a:extLst xmlns:a="http://schemas.openxmlformats.org/drawingml/2006/main">
              <a:ext uri="{FF2B5EF4-FFF2-40B4-BE49-F238E27FC236}">
                <a16:creationId xmlns:a16="http://schemas.microsoft.com/office/drawing/2014/main" id="{43D9A1FD-E3CE-4F89-AEA1-AA0F77C9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1945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网页内容以 Markdown 形式保存到本地知识库</a:t>
            </a:r>
          </a:p>
        </p:txBody>
      </p:sp>
      <p:cxnSp>
        <p:nvCxnSpPr>
          <p:cNvPr id="100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48000" y="32385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05500" y="3238500"/>
            <a:ext cx="11430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58250" y="3333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30" name="feature-0">
            <a:extLst xmlns:a="http://schemas.openxmlformats.org/drawingml/2006/main">
              <a:ext uri="{FF2B5EF4-FFF2-40B4-BE49-F238E27FC236}">
                <a16:creationId xmlns:a16="http://schemas.microsoft.com/office/drawing/2014/main" id="{EC1EC263-36DE-45BA-A3B6-E288B2C7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feature-0-accent">
            <a:extLst xmlns:a="http://schemas.openxmlformats.org/drawingml/2006/main">
              <a:ext uri="{FF2B5EF4-FFF2-40B4-BE49-F238E27FC236}">
                <a16:creationId xmlns:a16="http://schemas.microsoft.com/office/drawing/2014/main" id="{B8179003-F04B-4D9E-A8FE-703EC125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2" name="feature-0-title">
            <a:extLst xmlns:a="http://schemas.openxmlformats.org/drawingml/2006/main">
              <a:ext uri="{FF2B5EF4-FFF2-40B4-BE49-F238E27FC236}">
                <a16:creationId xmlns:a16="http://schemas.microsoft.com/office/drawing/2014/main" id="{3609D545-2DD6-470B-A9D8-CF6D234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一键剪藏</a:t>
            </a:r>
          </a:p>
        </p:txBody>
      </p:sp>
      <p:sp>
        <p:nvSpPr>
          <p:cNvPr id="33" name="feature-0-detail">
            <a:extLst xmlns:a="http://schemas.openxmlformats.org/drawingml/2006/main">
              <a:ext uri="{FF2B5EF4-FFF2-40B4-BE49-F238E27FC236}">
                <a16:creationId xmlns:a16="http://schemas.microsoft.com/office/drawing/2014/main" id="{3EE344B7-3759-4A4F-BB9E-4304361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正文和标题、作者、发布日期等元数据</a:t>
            </a:r>
          </a:p>
        </p:txBody>
      </p:sp>
      <p:sp>
        <p:nvSpPr>
          <p:cNvPr id="34" name="feature-1">
            <a:extLst xmlns:a="http://schemas.openxmlformats.org/drawingml/2006/main">
              <a:ext uri="{FF2B5EF4-FFF2-40B4-BE49-F238E27FC236}">
                <a16:creationId xmlns:a16="http://schemas.microsoft.com/office/drawing/2014/main" id="{E6CF76E7-790E-4C09-A53A-2E709D5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" name="feature-1-accent">
            <a:extLst xmlns:a="http://schemas.openxmlformats.org/drawingml/2006/main">
              <a:ext uri="{FF2B5EF4-FFF2-40B4-BE49-F238E27FC236}">
                <a16:creationId xmlns:a16="http://schemas.microsoft.com/office/drawing/2014/main" id="{4D9BF4DF-B565-430E-8A99-52087D4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36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35615A7-7E4B-4BA0-84F6-8805EF4A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高亮保存</a:t>
            </a:r>
          </a:p>
        </p:txBody>
      </p:sp>
      <p:sp>
        <p:nvSpPr>
          <p:cNvPr id="37" name="feature-1-detail">
            <a:extLst xmlns:a="http://schemas.openxmlformats.org/drawingml/2006/main">
              <a:ext uri="{FF2B5EF4-FFF2-40B4-BE49-F238E27FC236}">
                <a16:creationId xmlns:a16="http://schemas.microsoft.com/office/drawing/2014/main" id="{BEF1068E-B36A-4511-84DB-AC7AFB7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保留关键段落或选中的页面元素</a:t>
            </a:r>
          </a:p>
        </p:txBody>
      </p:sp>
      <p:sp>
        <p:nvSpPr>
          <p:cNvPr id="38" name="feature-2">
            <a:extLst xmlns:a="http://schemas.openxmlformats.org/drawingml/2006/main">
              <a:ext uri="{FF2B5EF4-FFF2-40B4-BE49-F238E27FC236}">
                <a16:creationId xmlns:a16="http://schemas.microsoft.com/office/drawing/2014/main" id="{B09D4348-73DE-4882-AA29-57A56A8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9625"/>
            <a:ext cx="257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feature-2-accent">
            <a:extLst xmlns:a="http://schemas.openxmlformats.org/drawingml/2006/main">
              <a:ext uri="{FF2B5EF4-FFF2-40B4-BE49-F238E27FC236}">
                <a16:creationId xmlns:a16="http://schemas.microsoft.com/office/drawing/2014/main" id="{13EA3E50-EE30-447B-AEA0-3FA5E99E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96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40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C0470710-AD56-47CF-B3E7-423383A2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7720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16"/>
                </a:solidFill>
              </a:defRPr>
            </a:pPr>
            <a:r>
              <a:rPr sz="1275" b="1">
                <a:solidFill>
                  <a:srgbClr val="101816"/>
                </a:solidFill>
              </a:rPr>
              <a:t>隐私可控</a:t>
            </a:r>
          </a:p>
        </p:txBody>
      </p:sp>
      <p:sp>
        <p:nvSpPr>
          <p:cNvPr id="41" name="feature-2-detail">
            <a:extLst xmlns:a="http://schemas.openxmlformats.org/drawingml/2006/main">
              <a:ext uri="{FF2B5EF4-FFF2-40B4-BE49-F238E27FC236}">
                <a16:creationId xmlns:a16="http://schemas.microsoft.com/office/drawing/2014/main" id="{49056515-2767-4407-886B-2ACAC60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076825"/>
            <a:ext cx="2266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内容进入本地 Vault，不依赖平台数据锁定</a:t>
            </a:r>
          </a:p>
        </p:txBody>
      </p:sp>
      <p:sp>
        <p:nvSpPr>
          <p:cNvPr id="4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64C2FC5B-C3A7-459F-9198-76F5FA4D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100FB3CC-BE3F-4D48-A88F-44975C3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4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0017FA9-BFE7-4D17-A775-11420FF6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Web Clipper 在 LLM Wiki 中更像原材料采集器：它把网页、元数据、高亮和选择内容整理成 Markdown，并放入 raw 层等待后续 Ingest。</a:t>
            </a:r>
          </a:p>
        </p:txBody>
      </p:sp>
    </p:spTree>
    <p:extLst>
      <p:ext uri="{BB962C8B-B14F-4D97-AF65-F5344CB8AC3E}">
        <p14:creationId xmlns:p14="http://schemas.microsoft.com/office/powerpoint/2010/main" val="7471999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764144F-F35E-492E-B474-BFA08DF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11 / 模板与变量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73D7017-7872-4A19-A575-11EDE9EC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0BE5D562-7127-4507-A06A-4D09BB6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564134-D879-42E8-B07B-DC34B17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模板与变量：让剪藏内容更规范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CF8783D-A9B0-4E32-9C45-F5E019F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同一类网页用同一种格式保存，后续 Ingest 更稳定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B66D85-0DC7-425C-999B-8EEE7B3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11 / 17</a:t>
            </a:r>
          </a:p>
        </p:txBody>
      </p:sp>
      <p:sp>
        <p:nvSpPr>
          <p:cNvPr id="7" name="template-card">
            <a:extLst xmlns:a="http://schemas.openxmlformats.org/drawingml/2006/main">
              <a:ext uri="{FF2B5EF4-FFF2-40B4-BE49-F238E27FC236}">
                <a16:creationId xmlns:a16="http://schemas.microsoft.com/office/drawing/2014/main" id="{9888B7C8-1F86-4A01-A09B-EF09165B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template-card-accent">
            <a:extLst xmlns:a="http://schemas.openxmlformats.org/drawingml/2006/main">
              <a:ext uri="{FF2B5EF4-FFF2-40B4-BE49-F238E27FC236}">
                <a16:creationId xmlns:a16="http://schemas.microsoft.com/office/drawing/2014/main" id="{1E7F91CD-1FAD-47E2-A73C-4960ED1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9" name="template-card-title">
            <a:extLst xmlns:a="http://schemas.openxmlformats.org/drawingml/2006/main">
              <a:ext uri="{FF2B5EF4-FFF2-40B4-BE49-F238E27FC236}">
                <a16:creationId xmlns:a16="http://schemas.microsoft.com/office/drawing/2014/main" id="{B0446D17-575E-4C00-9097-12088A27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模板</a:t>
            </a:r>
          </a:p>
        </p:txBody>
      </p:sp>
      <p:sp>
        <p:nvSpPr>
          <p:cNvPr id="10" name="template-card-detail">
            <a:extLst xmlns:a="http://schemas.openxmlformats.org/drawingml/2006/main">
              <a:ext uri="{FF2B5EF4-FFF2-40B4-BE49-F238E27FC236}">
                <a16:creationId xmlns:a16="http://schemas.microsoft.com/office/drawing/2014/main" id="{6A2B8A92-48DF-418E-BBB5-94A9561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5049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决定剪藏内容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以什么格式保存</a:t>
            </a:r>
          </a:p>
        </p:txBody>
      </p:sp>
      <p:sp>
        <p:nvSpPr>
          <p:cNvPr id="11" name="vars-card">
            <a:extLst xmlns:a="http://schemas.openxmlformats.org/drawingml/2006/main">
              <a:ext uri="{FF2B5EF4-FFF2-40B4-BE49-F238E27FC236}">
                <a16:creationId xmlns:a16="http://schemas.microsoft.com/office/drawing/2014/main" id="{6F460C17-326A-4D2F-B8EC-4278D89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vars-card-accent">
            <a:extLst xmlns:a="http://schemas.openxmlformats.org/drawingml/2006/main">
              <a:ext uri="{FF2B5EF4-FFF2-40B4-BE49-F238E27FC236}">
                <a16:creationId xmlns:a16="http://schemas.microsoft.com/office/drawing/2014/main" id="{EF085E02-11BA-4CA4-AA98-C79A02B4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3" name="vars-card-title">
            <a:extLst xmlns:a="http://schemas.openxmlformats.org/drawingml/2006/main">
              <a:ext uri="{FF2B5EF4-FFF2-40B4-BE49-F238E27FC236}">
                <a16:creationId xmlns:a16="http://schemas.microsoft.com/office/drawing/2014/main" id="{FB48FBB4-325D-43D4-8331-74F99E3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431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变量</a:t>
            </a:r>
          </a:p>
        </p:txBody>
      </p:sp>
      <p:sp>
        <p:nvSpPr>
          <p:cNvPr id="14" name="vars-card-detail">
            <a:extLst xmlns:a="http://schemas.openxmlformats.org/drawingml/2006/main">
              <a:ext uri="{FF2B5EF4-FFF2-40B4-BE49-F238E27FC236}">
                <a16:creationId xmlns:a16="http://schemas.microsoft.com/office/drawing/2014/main" id="{B60F5117-8231-43AA-B029-F0D10D1D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5049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{{title}}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{{url}}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{{author}}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{{content}}</a:t>
            </a:r>
          </a:p>
        </p:txBody>
      </p:sp>
      <p:sp>
        <p:nvSpPr>
          <p:cNvPr id="15" name="filters-card">
            <a:extLst xmlns:a="http://schemas.openxmlformats.org/drawingml/2006/main">
              <a:ext uri="{FF2B5EF4-FFF2-40B4-BE49-F238E27FC236}">
                <a16:creationId xmlns:a16="http://schemas.microsoft.com/office/drawing/2014/main" id="{C35AB238-5AA3-43BA-80C8-F29C2A1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filters-card-accent">
            <a:extLst xmlns:a="http://schemas.openxmlformats.org/drawingml/2006/main">
              <a:ext uri="{FF2B5EF4-FFF2-40B4-BE49-F238E27FC236}">
                <a16:creationId xmlns:a16="http://schemas.microsoft.com/office/drawing/2014/main" id="{2DF76EBF-FD58-440B-A91D-7D6898F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filters-card-title">
            <a:extLst xmlns:a="http://schemas.openxmlformats.org/drawingml/2006/main">
              <a:ext uri="{FF2B5EF4-FFF2-40B4-BE49-F238E27FC236}">
                <a16:creationId xmlns:a16="http://schemas.microsoft.com/office/drawing/2014/main" id="{E3094D7A-3648-4D2C-B2EC-9EA9C68E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33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筛选器</a:t>
            </a:r>
          </a:p>
        </p:txBody>
      </p:sp>
      <p:sp>
        <p:nvSpPr>
          <p:cNvPr id="18" name="filters-card-detail">
            <a:extLst xmlns:a="http://schemas.openxmlformats.org/drawingml/2006/main">
              <a:ext uri="{FF2B5EF4-FFF2-40B4-BE49-F238E27FC236}">
                <a16:creationId xmlns:a16="http://schemas.microsoft.com/office/drawing/2014/main" id="{5BBD5842-CFCE-4091-A4CD-D6A34A0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38450"/>
            <a:ext cx="1695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date / join / replace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对变量结果做处理</a:t>
            </a:r>
          </a:p>
        </p:txBody>
      </p:sp>
      <p:sp>
        <p:nvSpPr>
          <p:cNvPr id="19" name="output-md">
            <a:extLst xmlns:a="http://schemas.openxmlformats.org/drawingml/2006/main">
              <a:ext uri="{FF2B5EF4-FFF2-40B4-BE49-F238E27FC236}">
                <a16:creationId xmlns:a16="http://schemas.microsoft.com/office/drawing/2014/main" id="{BC973618-F31D-46F8-865D-1D5F9CAE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952625" cy="223837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output-md-label">
            <a:extLst xmlns:a="http://schemas.openxmlformats.org/drawingml/2006/main">
              <a:ext uri="{FF2B5EF4-FFF2-40B4-BE49-F238E27FC236}">
                <a16:creationId xmlns:a16="http://schemas.microsoft.com/office/drawing/2014/main" id="{5D2B1B87-96FB-4034-8B5D-45AEEE3A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193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.md</a:t>
            </a:r>
          </a:p>
        </p:txBody>
      </p:sp>
      <p:sp>
        <p:nvSpPr>
          <p:cNvPr id="21" name="output-md-body">
            <a:extLst xmlns:a="http://schemas.openxmlformats.org/drawingml/2006/main">
              <a:ext uri="{FF2B5EF4-FFF2-40B4-BE49-F238E27FC236}">
                <a16:creationId xmlns:a16="http://schemas.microsoft.com/office/drawing/2014/main" id="{2DF8B553-1210-43D5-BF38-8B23D39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00325"/>
            <a:ext cx="16097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title: {{title}}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url: {{url}}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author: {{author}}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{{content}}</a:t>
            </a:r>
          </a:p>
        </p:txBody>
      </p: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19375" y="3071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38750" y="307181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48625" y="3071813"/>
            <a:ext cx="10477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5" name="variable-types-box">
            <a:extLst xmlns:a="http://schemas.openxmlformats.org/drawingml/2006/main">
              <a:ext uri="{FF2B5EF4-FFF2-40B4-BE49-F238E27FC236}">
                <a16:creationId xmlns:a16="http://schemas.microsoft.com/office/drawing/2014/main" id="{F4A5B3E3-8456-454B-8B5A-463FB6C4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657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6" name="variable-types-accent">
            <a:extLst xmlns:a="http://schemas.openxmlformats.org/drawingml/2006/main">
              <a:ext uri="{FF2B5EF4-FFF2-40B4-BE49-F238E27FC236}">
                <a16:creationId xmlns:a16="http://schemas.microsoft.com/office/drawing/2014/main" id="{59B82C26-A6DA-4B23-84BF-5DF4DDF1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7" name="variable-types-title">
            <a:extLst xmlns:a="http://schemas.openxmlformats.org/drawingml/2006/main">
              <a:ext uri="{FF2B5EF4-FFF2-40B4-BE49-F238E27FC236}">
                <a16:creationId xmlns:a16="http://schemas.microsoft.com/office/drawing/2014/main" id="{D8018FF6-1B77-47FB-B4DF-3A8AE4F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变量来源</a:t>
            </a:r>
          </a:p>
        </p:txBody>
      </p:sp>
      <p:sp>
        <p:nvSpPr>
          <p:cNvPr id="28" name="variable-types-body">
            <a:extLst xmlns:a="http://schemas.openxmlformats.org/drawingml/2006/main">
              <a:ext uri="{FF2B5EF4-FFF2-40B4-BE49-F238E27FC236}">
                <a16:creationId xmlns:a16="http://schemas.microsoft.com/office/drawing/2014/main" id="{96C6E714-D325-494D-8F3E-B94D181E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预设变量 · Meta 变量 · Schema.org 变量 · 选择器变量 · 提示变量</a:t>
            </a:r>
          </a:p>
        </p:txBody>
      </p:sp>
      <p:sp>
        <p:nvSpPr>
          <p:cNvPr id="29" name="variable-types-note">
            <a:extLst xmlns:a="http://schemas.openxmlformats.org/drawingml/2006/main">
              <a:ext uri="{FF2B5EF4-FFF2-40B4-BE49-F238E27FC236}">
                <a16:creationId xmlns:a16="http://schemas.microsoft.com/office/drawing/2014/main" id="{E5F4FB9E-AE7D-4796-B236-75F281AC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不同网站提供的数据不一样，模板要根据页面变量选择合适来源。</a:t>
            </a:r>
          </a:p>
        </p:txBody>
      </p:sp>
      <p:sp>
        <p:nvSpPr>
          <p:cNvPr id="30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115C93B3-52BF-4E83-B771-4598EAC7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8CF0E4FC-9AC6-4E15-A670-DA007E9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2" name="bottom-note">
            <a:extLst xmlns:a="http://schemas.openxmlformats.org/drawingml/2006/main">
              <a:ext uri="{FF2B5EF4-FFF2-40B4-BE49-F238E27FC236}">
                <a16:creationId xmlns:a16="http://schemas.microsoft.com/office/drawing/2014/main" id="{E013CCCB-8807-43AA-B78D-8B7799B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模板不是固定文本，而是一套可复用的保存规则。通过变量提取标题、链接、作者、正文和结构化数据，Web Clipper 能让 raw 素材更稳定、更适合 LLM 后续处理。</a:t>
            </a:r>
          </a:p>
        </p:txBody>
      </p:sp>
    </p:spTree>
    <p:extLst>
      <p:ext uri="{BB962C8B-B14F-4D97-AF65-F5344CB8AC3E}">
        <p14:creationId xmlns:p14="http://schemas.microsoft.com/office/powerpoint/2010/main" val="1902348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E575D08-3592-46DF-92C8-5901A36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12 / Web Clipper 解释器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0D095618-7AD7-4677-995A-87C5894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7E343BE9-49DB-4AEB-B809-DA0D1AE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0E5A9A-DCD2-4CFB-98A9-452ED59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解释器：剪藏前先让模型处理网页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708C8E4-C385-45E4-B6CD-EAEB1B7D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普通变量负责提取，提示变量负责总结、翻译、提取和改写</a:t>
            </a:r>
          </a:p>
        </p:txBody>
      </p:sp>
      <p:sp>
        <p:nvSpPr>
          <p:cNvPr id="6" name="normal-flow">
            <a:extLst xmlns:a="http://schemas.openxmlformats.org/drawingml/2006/main">
              <a:ext uri="{FF2B5EF4-FFF2-40B4-BE49-F238E27FC236}">
                <a16:creationId xmlns:a16="http://schemas.microsoft.com/office/drawing/2014/main" id="{F287F08C-6188-4270-AE03-CC4EF82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normal-flow-accent">
            <a:extLst xmlns:a="http://schemas.openxmlformats.org/drawingml/2006/main">
              <a:ext uri="{FF2B5EF4-FFF2-40B4-BE49-F238E27FC236}">
                <a16:creationId xmlns:a16="http://schemas.microsoft.com/office/drawing/2014/main" id="{3802418D-3CB3-4A99-8E26-845A8DD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normal-flow-title">
            <a:extLst xmlns:a="http://schemas.openxmlformats.org/drawingml/2006/main">
              <a:ext uri="{FF2B5EF4-FFF2-40B4-BE49-F238E27FC236}">
                <a16:creationId xmlns:a16="http://schemas.microsoft.com/office/drawing/2014/main" id="{9195E1DA-4F48-4A60-BC87-3A3522F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普通模板变量</a:t>
            </a:r>
          </a:p>
        </p:txBody>
      </p:sp>
      <p:sp>
        <p:nvSpPr>
          <p:cNvPr id="9" name="normal-flow-detail">
            <a:extLst xmlns:a="http://schemas.openxmlformats.org/drawingml/2006/main">
              <a:ext uri="{FF2B5EF4-FFF2-40B4-BE49-F238E27FC236}">
                <a16:creationId xmlns:a16="http://schemas.microsoft.com/office/drawing/2014/main" id="{58B96470-1511-4317-AFE9-134197BA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36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读取网页中的现成数据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{{title}} / {{url}} / {{content}}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不调用 AI，只做提取和排版</a:t>
            </a:r>
          </a:p>
        </p:txBody>
      </p:sp>
      <p:sp>
        <p:nvSpPr>
          <p:cNvPr id="10" name="interpreter-flow">
            <a:extLst xmlns:a="http://schemas.openxmlformats.org/drawingml/2006/main">
              <a:ext uri="{FF2B5EF4-FFF2-40B4-BE49-F238E27FC236}">
                <a16:creationId xmlns:a16="http://schemas.microsoft.com/office/drawing/2014/main" id="{FC006E88-9A65-4712-987B-838069E0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interpreter-flow-accent">
            <a:extLst xmlns:a="http://schemas.openxmlformats.org/drawingml/2006/main">
              <a:ext uri="{FF2B5EF4-FFF2-40B4-BE49-F238E27FC236}">
                <a16:creationId xmlns:a16="http://schemas.microsoft.com/office/drawing/2014/main" id="{9C57A180-8402-4EFE-AE94-A8C1EA0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2" name="interpreter-flow-title">
            <a:extLst xmlns:a="http://schemas.openxmlformats.org/drawingml/2006/main">
              <a:ext uri="{FF2B5EF4-FFF2-40B4-BE49-F238E27FC236}">
                <a16:creationId xmlns:a16="http://schemas.microsoft.com/office/drawing/2014/main" id="{BB383A3C-0B0B-4FF1-81A7-93B0254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解释器提示变量</a:t>
            </a:r>
          </a:p>
        </p:txBody>
      </p:sp>
      <p:sp>
        <p:nvSpPr>
          <p:cNvPr id="13" name="interpreter-flow-detail">
            <a:extLst xmlns:a="http://schemas.openxmlformats.org/drawingml/2006/main">
              <a:ext uri="{FF2B5EF4-FFF2-40B4-BE49-F238E27FC236}">
                <a16:creationId xmlns:a16="http://schemas.microsoft.com/office/drawing/2014/main" id="{244B3DBF-48D7-401C-A2D7-16A7A1E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2743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把网页内容和提示词发送给模型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{{"用三句话总结这篇文章"}}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返回摘要、翻译或提取结果</a:t>
            </a:r>
          </a:p>
        </p:txBody>
      </p:sp>
      <p:sp>
        <p:nvSpPr>
          <p:cNvPr id="14" name="note-output">
            <a:extLst xmlns:a="http://schemas.openxmlformats.org/drawingml/2006/main">
              <a:ext uri="{FF2B5EF4-FFF2-40B4-BE49-F238E27FC236}">
                <a16:creationId xmlns:a16="http://schemas.microsoft.com/office/drawing/2014/main" id="{8BB465CC-797F-4C99-91EA-CDD1E7D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note-output-accent">
            <a:extLst xmlns:a="http://schemas.openxmlformats.org/drawingml/2006/main">
              <a:ext uri="{FF2B5EF4-FFF2-40B4-BE49-F238E27FC236}">
                <a16:creationId xmlns:a16="http://schemas.microsoft.com/office/drawing/2014/main" id="{266E822C-B7F2-463C-A2CA-58B7E126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note-output-title">
            <a:extLst xmlns:a="http://schemas.openxmlformats.org/drawingml/2006/main">
              <a:ext uri="{FF2B5EF4-FFF2-40B4-BE49-F238E27FC236}">
                <a16:creationId xmlns:a16="http://schemas.microsoft.com/office/drawing/2014/main" id="{B7FC9F0B-FD82-4569-88A0-2684CE5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384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写入笔记</a:t>
            </a:r>
          </a:p>
        </p:txBody>
      </p:sp>
      <p:sp>
        <p:nvSpPr>
          <p:cNvPr id="17" name="note-output-detail">
            <a:extLst xmlns:a="http://schemas.openxmlformats.org/drawingml/2006/main">
              <a:ext uri="{FF2B5EF4-FFF2-40B4-BE49-F238E27FC236}">
                <a16:creationId xmlns:a16="http://schemas.microsoft.com/office/drawing/2014/main" id="{9438748B-4627-4B17-AA59-5B653D21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885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# AI 摘要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{{"用简体中文总结核心内容"}}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# 原始正文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{{content}}</a:t>
            </a:r>
          </a:p>
        </p:txBody>
      </p:sp>
      <p:cxnSp>
        <p:nvCxnSpPr>
          <p:cNvPr id="6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24250" y="32861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dash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10500" y="32861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process-box">
            <a:extLst xmlns:a="http://schemas.openxmlformats.org/drawingml/2006/main">
              <a:ext uri="{FF2B5EF4-FFF2-40B4-BE49-F238E27FC236}">
                <a16:creationId xmlns:a16="http://schemas.microsoft.com/office/drawing/2014/main" id="{1FA1EC4E-B5CA-489F-A843-20F62F0D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80010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0478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1" name="process-text">
            <a:extLst xmlns:a="http://schemas.openxmlformats.org/drawingml/2006/main">
              <a:ext uri="{FF2B5EF4-FFF2-40B4-BE49-F238E27FC236}">
                <a16:creationId xmlns:a16="http://schemas.microsoft.com/office/drawing/2014/main" id="{6AB8AB1B-A4EE-4795-BC26-25C30E5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读取网页 → 发送网页内容和提示词 → 模型返回处理结果 → 填入模板 → 保存到 Obsidian</a:t>
            </a:r>
          </a:p>
        </p:txBody>
      </p:sp>
      <p:sp>
        <p:nvSpPr>
          <p:cNvPr id="2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C3A2BAF3-C6B1-4FBD-BFA6-1709190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604CA5D8-F745-463F-B922-40C851C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4A9C301-6BE8-429E-9183-51B8AE3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解释器让 Web Clipper 不只是复制网页，而是在剪藏前完成一次轻量 AI 处理。适合摘要、翻译和结构化提取，但会增加速度、Token 和 API 成本。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15613C-E630-4696-9FD6-8D0C414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727080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AB271DD-02F6-4733-8B28-37EBC110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13 / 每日工作流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179316B0-8847-40E2-BE74-A4BEB1B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60A4E7B4-D67A-478A-8377-9D326C1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298FF5-9F72-436A-BF28-E46A6BB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每日工作流：让知识持续进入 Wiki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02588C9-4DED-47EE-B3F1-F33D4299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剪藏、编译、提问、归档、校验：把一次阅读变成长期资产</a:t>
            </a:r>
          </a:p>
        </p:txBody>
      </p:sp>
      <p:sp>
        <p:nvSpPr>
          <p:cNvPr id="6" name="step-clip">
            <a:extLst xmlns:a="http://schemas.openxmlformats.org/drawingml/2006/main">
              <a:ext uri="{FF2B5EF4-FFF2-40B4-BE49-F238E27FC236}">
                <a16:creationId xmlns:a16="http://schemas.microsoft.com/office/drawing/2014/main" id="{5F0B9091-F1E0-4E8A-904F-4F5697A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step-clip-accent">
            <a:extLst xmlns:a="http://schemas.openxmlformats.org/drawingml/2006/main">
              <a:ext uri="{FF2B5EF4-FFF2-40B4-BE49-F238E27FC236}">
                <a16:creationId xmlns:a16="http://schemas.microsoft.com/office/drawing/2014/main" id="{7125E336-6F62-4A76-B4E5-4CA3466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step-clip-title">
            <a:extLst xmlns:a="http://schemas.openxmlformats.org/drawingml/2006/main">
              <a:ext uri="{FF2B5EF4-FFF2-40B4-BE49-F238E27FC236}">
                <a16:creationId xmlns:a16="http://schemas.microsoft.com/office/drawing/2014/main" id="{E4735E59-A56A-4844-BA0F-F3E6EC2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1 网页剪藏</a:t>
            </a:r>
          </a:p>
        </p:txBody>
      </p:sp>
      <p:sp>
        <p:nvSpPr>
          <p:cNvPr id="9" name="step-clip-detail">
            <a:extLst xmlns:a="http://schemas.openxmlformats.org/drawingml/2006/main">
              <a:ext uri="{FF2B5EF4-FFF2-40B4-BE49-F238E27FC236}">
                <a16:creationId xmlns:a16="http://schemas.microsoft.com/office/drawing/2014/main" id="{8F1300EA-C1A9-4B94-A14F-6B0CBBB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用 Web Clipper 保存网页、元数据和高亮到 raw/</a:t>
            </a:r>
          </a:p>
        </p:txBody>
      </p:sp>
      <p:sp>
        <p:nvSpPr>
          <p:cNvPr id="10" name="step-compile">
            <a:extLst xmlns:a="http://schemas.openxmlformats.org/drawingml/2006/main">
              <a:ext uri="{FF2B5EF4-FFF2-40B4-BE49-F238E27FC236}">
                <a16:creationId xmlns:a16="http://schemas.microsoft.com/office/drawing/2014/main" id="{F88EB39A-61CF-4C5C-8DED-4D86851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step-compile-accent">
            <a:extLst xmlns:a="http://schemas.openxmlformats.org/drawingml/2006/main">
              <a:ext uri="{FF2B5EF4-FFF2-40B4-BE49-F238E27FC236}">
                <a16:creationId xmlns:a16="http://schemas.microsoft.com/office/drawing/2014/main" id="{1E9ADE8A-1F2A-4839-8264-ED780A2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2" name="step-compile-title">
            <a:extLst xmlns:a="http://schemas.openxmlformats.org/drawingml/2006/main">
              <a:ext uri="{FF2B5EF4-FFF2-40B4-BE49-F238E27FC236}">
                <a16:creationId xmlns:a16="http://schemas.microsoft.com/office/drawing/2014/main" id="{DC0F3D25-1E1F-4999-883E-6C0F91BC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2 执行编译</a:t>
            </a:r>
          </a:p>
        </p:txBody>
      </p:sp>
      <p:sp>
        <p:nvSpPr>
          <p:cNvPr id="13" name="step-compile-detail">
            <a:extLst xmlns:a="http://schemas.openxmlformats.org/drawingml/2006/main">
              <a:ext uri="{FF2B5EF4-FFF2-40B4-BE49-F238E27FC236}">
                <a16:creationId xmlns:a16="http://schemas.microsoft.com/office/drawing/2014/main" id="{1742FD73-4133-47F4-AF3C-BF3AF299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让 LLM Ingest：摘要、更新索引、补充概念和实体</a:t>
            </a:r>
          </a:p>
        </p:txBody>
      </p:sp>
      <p:sp>
        <p:nvSpPr>
          <p:cNvPr id="14" name="step-ask">
            <a:extLst xmlns:a="http://schemas.openxmlformats.org/drawingml/2006/main">
              <a:ext uri="{FF2B5EF4-FFF2-40B4-BE49-F238E27FC236}">
                <a16:creationId xmlns:a16="http://schemas.microsoft.com/office/drawing/2014/main" id="{C864886F-3612-45BF-A2EA-9BCD238F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step-ask-accent">
            <a:extLst xmlns:a="http://schemas.openxmlformats.org/drawingml/2006/main">
              <a:ext uri="{FF2B5EF4-FFF2-40B4-BE49-F238E27FC236}">
                <a16:creationId xmlns:a16="http://schemas.microsoft.com/office/drawing/2014/main" id="{41D3FF2E-D3A4-43BE-B2E2-5D83A48B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step-ask-title">
            <a:extLst xmlns:a="http://schemas.openxmlformats.org/drawingml/2006/main">
              <a:ext uri="{FF2B5EF4-FFF2-40B4-BE49-F238E27FC236}">
                <a16:creationId xmlns:a16="http://schemas.microsoft.com/office/drawing/2014/main" id="{181CCA05-8FF0-449B-A5F5-7E52F8EE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3 直接提问</a:t>
            </a:r>
          </a:p>
        </p:txBody>
      </p:sp>
      <p:sp>
        <p:nvSpPr>
          <p:cNvPr id="17" name="step-ask-detail">
            <a:extLst xmlns:a="http://schemas.openxmlformats.org/drawingml/2006/main">
              <a:ext uri="{FF2B5EF4-FFF2-40B4-BE49-F238E27FC236}">
                <a16:creationId xmlns:a16="http://schemas.microsoft.com/office/drawing/2014/main" id="{A101BD31-57B8-42C9-8648-AE1363E9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从 Wiki 中检索相关页面，获得带引用的综合回答</a:t>
            </a:r>
          </a:p>
        </p:txBody>
      </p:sp>
      <p:sp>
        <p:nvSpPr>
          <p:cNvPr id="18" name="step-archive">
            <a:extLst xmlns:a="http://schemas.openxmlformats.org/drawingml/2006/main">
              <a:ext uri="{FF2B5EF4-FFF2-40B4-BE49-F238E27FC236}">
                <a16:creationId xmlns:a16="http://schemas.microsoft.com/office/drawing/2014/main" id="{1AAFC033-46F5-4458-8782-306EC98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step-archive-accent">
            <a:extLst xmlns:a="http://schemas.openxmlformats.org/drawingml/2006/main">
              <a:ext uri="{FF2B5EF4-FFF2-40B4-BE49-F238E27FC236}">
                <a16:creationId xmlns:a16="http://schemas.microsoft.com/office/drawing/2014/main" id="{237AEE02-4264-48A4-813E-F3EA374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0" name="step-archive-title">
            <a:extLst xmlns:a="http://schemas.openxmlformats.org/drawingml/2006/main">
              <a:ext uri="{FF2B5EF4-FFF2-40B4-BE49-F238E27FC236}">
                <a16:creationId xmlns:a16="http://schemas.microsoft.com/office/drawing/2014/main" id="{2A2C084E-876F-4559-96EA-6F66E78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907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16"/>
                </a:solidFill>
              </a:defRPr>
            </a:pPr>
            <a:r>
              <a:rPr sz="1425" b="1">
                <a:solidFill>
                  <a:srgbClr val="101816"/>
                </a:solidFill>
              </a:rPr>
              <a:t>4 归档答案</a:t>
            </a:r>
          </a:p>
        </p:txBody>
      </p:sp>
      <p:sp>
        <p:nvSpPr>
          <p:cNvPr id="21" name="step-archive-detail">
            <a:extLst xmlns:a="http://schemas.openxmlformats.org/drawingml/2006/main">
              <a:ext uri="{FF2B5EF4-FFF2-40B4-BE49-F238E27FC236}">
                <a16:creationId xmlns:a16="http://schemas.microsoft.com/office/drawing/2014/main" id="{9E26822C-4AA6-4815-88DC-7E56630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95575"/>
            <a:ext cx="1695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D4A45"/>
                </a:solidFill>
              </a:defRPr>
            </a:pPr>
            <a:r>
              <a:rPr sz="1050" b="0">
                <a:solidFill>
                  <a:srgbClr val="3D4A45"/>
                </a:solidFill>
              </a:rPr>
              <a:t>高质量回答可以生成新的 Wiki 页面，继续复利</a:t>
            </a:r>
          </a:p>
        </p:txBody>
      </p:sp>
      <p:sp>
        <p:nvSpPr>
          <p:cNvPr id="22" name="step-lint">
            <a:extLst xmlns:a="http://schemas.openxmlformats.org/drawingml/2006/main">
              <a:ext uri="{FF2B5EF4-FFF2-40B4-BE49-F238E27FC236}">
                <a16:creationId xmlns:a16="http://schemas.microsoft.com/office/drawing/2014/main" id="{7C0FB673-071A-4322-ADC1-3B08CCD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42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step-lint-accent">
            <a:extLst xmlns:a="http://schemas.openxmlformats.org/drawingml/2006/main">
              <a:ext uri="{FF2B5EF4-FFF2-40B4-BE49-F238E27FC236}">
                <a16:creationId xmlns:a16="http://schemas.microsoft.com/office/drawing/2014/main" id="{843BF229-F2AA-4AAF-BDF1-51793FD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4" name="step-lint-title">
            <a:extLst xmlns:a="http://schemas.openxmlformats.org/drawingml/2006/main">
              <a:ext uri="{FF2B5EF4-FFF2-40B4-BE49-F238E27FC236}">
                <a16:creationId xmlns:a16="http://schemas.microsoft.com/office/drawing/2014/main" id="{F837FC3A-E34F-436A-B191-C0D1083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907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5 定期 Lint</a:t>
            </a:r>
          </a:p>
        </p:txBody>
      </p:sp>
      <p:sp>
        <p:nvSpPr>
          <p:cNvPr id="25" name="step-lint-detail">
            <a:extLst xmlns:a="http://schemas.openxmlformats.org/drawingml/2006/main">
              <a:ext uri="{FF2B5EF4-FFF2-40B4-BE49-F238E27FC236}">
                <a16:creationId xmlns:a16="http://schemas.microsoft.com/office/drawing/2014/main" id="{8282887D-663E-4D4D-BAC9-A31109A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95575"/>
            <a:ext cx="1123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D4A45"/>
                </a:solidFill>
              </a:defRPr>
            </a:pPr>
            <a:r>
              <a:rPr sz="975" b="0">
                <a:solidFill>
                  <a:srgbClr val="3D4A45"/>
                </a:solidFill>
              </a:rPr>
              <a:t>检查死链、矛盾、孤立页面和陈旧内容，自建修复</a:t>
            </a:r>
          </a:p>
        </p:txBody>
      </p:sp>
      <p:cxnSp>
        <p:nvCxnSpPr>
          <p:cNvPr id="9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9530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29500" y="2833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906000" y="2833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2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571625" y="3429000"/>
            <a:ext cx="942975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31" name="loop-label">
            <a:extLst xmlns:a="http://schemas.openxmlformats.org/drawingml/2006/main">
              <a:ext uri="{FF2B5EF4-FFF2-40B4-BE49-F238E27FC236}">
                <a16:creationId xmlns:a16="http://schemas.microsoft.com/office/drawing/2014/main" id="{C3700E91-0E64-46E4-B8CE-A511B53B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不是一次性处理，而是一个持续循环</a:t>
            </a:r>
          </a:p>
        </p:txBody>
      </p:sp>
      <p:sp>
        <p:nvSpPr>
          <p:cNvPr id="32" name="daily-rhythm-box">
            <a:extLst xmlns:a="http://schemas.openxmlformats.org/drawingml/2006/main">
              <a:ext uri="{FF2B5EF4-FFF2-40B4-BE49-F238E27FC236}">
                <a16:creationId xmlns:a16="http://schemas.microsoft.com/office/drawing/2014/main" id="{EE3FEEC5-5266-4B1A-B498-2F504E7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95800"/>
            <a:ext cx="7239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3" name="daily-rhythm-title">
            <a:extLst xmlns:a="http://schemas.openxmlformats.org/drawingml/2006/main">
              <a:ext uri="{FF2B5EF4-FFF2-40B4-BE49-F238E27FC236}">
                <a16:creationId xmlns:a16="http://schemas.microsoft.com/office/drawing/2014/main" id="{07E9F46A-EDE7-4C37-A2E0-1C26BBF5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6"/>
                </a:solidFill>
              </a:defRPr>
            </a:pPr>
            <a:r>
              <a:rPr sz="1350" b="1">
                <a:solidFill>
                  <a:srgbClr val="101816"/>
                </a:solidFill>
              </a:rPr>
              <a:t>日常节奏</a:t>
            </a:r>
          </a:p>
        </p:txBody>
      </p:sp>
      <p:sp>
        <p:nvSpPr>
          <p:cNvPr id="34" name="daily-rhythm-body">
            <a:extLst xmlns:a="http://schemas.openxmlformats.org/drawingml/2006/main">
              <a:ext uri="{FF2B5EF4-FFF2-40B4-BE49-F238E27FC236}">
                <a16:creationId xmlns:a16="http://schemas.microsoft.com/office/drawing/2014/main" id="{A8AF559E-D7EC-4D99-A85F-41933D55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05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看到好资料就剪藏；有时间就编译；遇到问题就从 Wiki 问；有价值的回答再沉淀回 Wiki。</a:t>
            </a:r>
          </a:p>
        </p:txBody>
      </p:sp>
      <p:sp>
        <p:nvSpPr>
          <p:cNvPr id="35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E1528BD9-DC39-451F-8B4E-82DF6389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72D1FF68-B371-4AED-A0C8-C171159C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7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B429208-79EF-4610-8B3A-4E176E4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实践上，LLM Wiki 可以变成一个很轻的日常循环：资料先进入 raw，再被 LLM 编译进 wiki；后续提问和校验又反过来推动知识库继续生长。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843104-1756-4429-8097-C140B2A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7341978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00189E2-93DC-4EBA-AAFF-CFDBAA55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14 / 趋势展望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FA90FE07-FF80-4D7F-8EA3-CA52286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EDC6B762-37DF-4468-9C54-04701AD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7E1B9E-5912-41E4-8C65-74E0051A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从检索拼凑，到知识编译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EE4CC0F-F9B3-4643-94C2-4051C36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把 LLM 的理解能力前置，让知识在摄入时开始沉淀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8AF2E6-56CA-4D9B-AF9F-430A2A0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14 / 17</a:t>
            </a:r>
          </a:p>
        </p:txBody>
      </p:sp>
      <p:sp>
        <p:nvSpPr>
          <p:cNvPr id="7" name="retrieve-card">
            <a:extLst xmlns:a="http://schemas.openxmlformats.org/drawingml/2006/main">
              <a:ext uri="{FF2B5EF4-FFF2-40B4-BE49-F238E27FC236}">
                <a16:creationId xmlns:a16="http://schemas.microsoft.com/office/drawing/2014/main" id="{7A69F335-A7A9-4C92-85E6-2299D14D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etrieve-card-accent">
            <a:extLst xmlns:a="http://schemas.openxmlformats.org/drawingml/2006/main">
              <a:ext uri="{FF2B5EF4-FFF2-40B4-BE49-F238E27FC236}">
                <a16:creationId xmlns:a16="http://schemas.microsoft.com/office/drawing/2014/main" id="{354DDF02-8C69-45F2-BA0A-CDC650C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retrieve-card-title">
            <a:extLst xmlns:a="http://schemas.openxmlformats.org/drawingml/2006/main">
              <a:ext uri="{FF2B5EF4-FFF2-40B4-BE49-F238E27FC236}">
                <a16:creationId xmlns:a16="http://schemas.microsoft.com/office/drawing/2014/main" id="{EB0A9C40-919F-4673-BEEC-97902E2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检索 - 拼凑</a:t>
            </a:r>
          </a:p>
        </p:txBody>
      </p:sp>
      <p:sp>
        <p:nvSpPr>
          <p:cNvPr id="10" name="retrieve-card-detail">
            <a:extLst xmlns:a="http://schemas.openxmlformats.org/drawingml/2006/main">
              <a:ext uri="{FF2B5EF4-FFF2-40B4-BE49-F238E27FC236}">
                <a16:creationId xmlns:a16="http://schemas.microsoft.com/office/drawing/2014/main" id="{79BBD72E-FB8E-4FDF-B8E7-9C03911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33675"/>
            <a:ext cx="2647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快速找到 100 篇论文里的相关片段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但很难自动形成连贯框架</a:t>
            </a:r>
          </a:p>
        </p:txBody>
      </p:sp>
      <p:sp>
        <p:nvSpPr>
          <p:cNvPr id="11" name="shift-card">
            <a:extLst xmlns:a="http://schemas.openxmlformats.org/drawingml/2006/main">
              <a:ext uri="{FF2B5EF4-FFF2-40B4-BE49-F238E27FC236}">
                <a16:creationId xmlns:a16="http://schemas.microsoft.com/office/drawing/2014/main" id="{464A680D-EDC0-475F-A96D-4D5F3B6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hift-card-accent">
            <a:extLst xmlns:a="http://schemas.openxmlformats.org/drawingml/2006/main">
              <a:ext uri="{FF2B5EF4-FFF2-40B4-BE49-F238E27FC236}">
                <a16:creationId xmlns:a16="http://schemas.microsoft.com/office/drawing/2014/main" id="{7FDCD8F0-6483-4EC9-99F6-4555408A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shift-card-title">
            <a:extLst xmlns:a="http://schemas.openxmlformats.org/drawingml/2006/main">
              <a:ext uri="{FF2B5EF4-FFF2-40B4-BE49-F238E27FC236}">
                <a16:creationId xmlns:a16="http://schemas.microsoft.com/office/drawing/2014/main" id="{8C43491C-904B-4269-A58E-6AE158D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理解成本前置</a:t>
            </a:r>
          </a:p>
        </p:txBody>
      </p:sp>
      <p:sp>
        <p:nvSpPr>
          <p:cNvPr id="14" name="shift-card-detail">
            <a:extLst xmlns:a="http://schemas.openxmlformats.org/drawingml/2006/main">
              <a:ext uri="{FF2B5EF4-FFF2-40B4-BE49-F238E27FC236}">
                <a16:creationId xmlns:a16="http://schemas.microsoft.com/office/drawing/2014/main" id="{6A392869-D5B1-42D7-B3D6-AC2B55DA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2417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从“每次查询时重新理解”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转移到“内容摄入时先编译”</a:t>
            </a:r>
          </a:p>
        </p:txBody>
      </p:sp>
      <p:sp>
        <p:nvSpPr>
          <p:cNvPr id="15" name="compile-card">
            <a:extLst xmlns:a="http://schemas.openxmlformats.org/drawingml/2006/main">
              <a:ext uri="{FF2B5EF4-FFF2-40B4-BE49-F238E27FC236}">
                <a16:creationId xmlns:a16="http://schemas.microsoft.com/office/drawing/2014/main" id="{8816E289-6778-425A-83C4-DE31BF50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ile-card-accent">
            <a:extLst xmlns:a="http://schemas.openxmlformats.org/drawingml/2006/main">
              <a:ext uri="{FF2B5EF4-FFF2-40B4-BE49-F238E27FC236}">
                <a16:creationId xmlns:a16="http://schemas.microsoft.com/office/drawing/2014/main" id="{9ABCD915-15E1-406C-A653-E060ABB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compile-card-title">
            <a:extLst xmlns:a="http://schemas.openxmlformats.org/drawingml/2006/main">
              <a:ext uri="{FF2B5EF4-FFF2-40B4-BE49-F238E27FC236}">
                <a16:creationId xmlns:a16="http://schemas.microsoft.com/office/drawing/2014/main" id="{3B5B3872-102D-4B37-AA63-B3FC1F4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907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知识复利</a:t>
            </a:r>
          </a:p>
        </p:txBody>
      </p:sp>
      <p:sp>
        <p:nvSpPr>
          <p:cNvPr id="18" name="compile-card-detail">
            <a:extLst xmlns:a="http://schemas.openxmlformats.org/drawingml/2006/main">
              <a:ext uri="{FF2B5EF4-FFF2-40B4-BE49-F238E27FC236}">
                <a16:creationId xmlns:a16="http://schemas.microsoft.com/office/drawing/2014/main" id="{ECACA2A2-14D9-41F9-B4F5-9F9AC8D9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33675"/>
            <a:ext cx="2647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每多摄入一份材料，知识不是塞进数据库，而是编织进一张增长的网</a:t>
            </a:r>
          </a:p>
        </p:txBody>
      </p:sp>
      <p:cxnSp>
        <p:nvCxnSpPr>
          <p:cNvPr id="8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57625" y="3333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29500" y="3333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n-1">
            <a:extLst xmlns:a="http://schemas.openxmlformats.org/drawingml/2006/main">
              <a:ext uri="{FF2B5EF4-FFF2-40B4-BE49-F238E27FC236}">
                <a16:creationId xmlns:a16="http://schemas.microsoft.com/office/drawing/2014/main" id="{1A24F7FD-B5CB-43EC-B0FA-F9508EB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n-2">
            <a:extLst xmlns:a="http://schemas.openxmlformats.org/drawingml/2006/main">
              <a:ext uri="{FF2B5EF4-FFF2-40B4-BE49-F238E27FC236}">
                <a16:creationId xmlns:a16="http://schemas.microsoft.com/office/drawing/2014/main" id="{C295B14C-1A0B-42B2-9CA9-E1DABA2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n-3">
            <a:extLst xmlns:a="http://schemas.openxmlformats.org/drawingml/2006/main">
              <a:ext uri="{FF2B5EF4-FFF2-40B4-BE49-F238E27FC236}">
                <a16:creationId xmlns:a16="http://schemas.microsoft.com/office/drawing/2014/main" id="{532F7E6E-6760-44D8-8293-8C30D01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n-4">
            <a:extLst xmlns:a="http://schemas.openxmlformats.org/drawingml/2006/main">
              <a:ext uri="{FF2B5EF4-FFF2-40B4-BE49-F238E27FC236}">
                <a16:creationId xmlns:a16="http://schemas.microsoft.com/office/drawing/2014/main" id="{09647936-32FA-4B92-ADF5-259D52A8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24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88" name=""/>
          <p:cNvCxnSpPr>
            <a:stCxn xmlns:a="http://schemas.openxmlformats.org/drawingml/2006/main" id="21" idx="7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9372798" y="3914775"/>
            <a:ext cx="390327" cy="13315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89" name=""/>
          <p:cNvCxnSpPr>
            <a:stCxn xmlns:a="http://schemas.openxmlformats.org/drawingml/2006/main" id="22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104589" y="4056214"/>
            <a:ext cx="325088" cy="869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0" name=""/>
          <p:cNvCxnSpPr>
            <a:stCxn xmlns:a="http://schemas.openxmlformats.org/drawingml/2006/main" id="22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963150" y="4114800"/>
            <a:ext cx="104775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1" name=""/>
          <p:cNvCxnSpPr>
            <a:stCxn xmlns:a="http://schemas.openxmlformats.org/drawingml/2006/main" id="21" idx="5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72798" y="4276923"/>
            <a:ext cx="567158" cy="30045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92" name=""/>
          <p:cNvCxnSpPr>
            <a:stCxn xmlns:a="http://schemas.openxmlformats.org/drawingml/2006/main" id="23" idx="3"/>
            <a:endCxn xmlns:a="http://schemas.openxmlformats.org/drawingml/2006/main" id="24" idx="7"/>
          </p:cNvCxnSpPr>
          <p:nvPr/>
        </p:nvCxnSpPr>
        <p:spPr>
          <a:xfrm xmlns:a="http://schemas.openxmlformats.org/drawingml/2006/main" flipH="1">
            <a:off x="10195894" y="4372173"/>
            <a:ext cx="233783" cy="20520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sp>
        <p:nvSpPr>
          <p:cNvPr id="30" name="quote-box">
            <a:extLst xmlns:a="http://schemas.openxmlformats.org/drawingml/2006/main">
              <a:ext uri="{FF2B5EF4-FFF2-40B4-BE49-F238E27FC236}">
                <a16:creationId xmlns:a16="http://schemas.microsoft.com/office/drawing/2014/main" id="{F62CAE3B-9BB4-4E24-B3D4-861DB6F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quote-text">
            <a:extLst xmlns:a="http://schemas.openxmlformats.org/drawingml/2006/main">
              <a:ext uri="{FF2B5EF4-FFF2-40B4-BE49-F238E27FC236}">
                <a16:creationId xmlns:a16="http://schemas.microsoft.com/office/drawing/2014/main" id="{DBED66AE-7F5E-45E3-8FBE-3902A78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815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快速翻书和深度理解之间，始终隔着一道鸿沟。</a:t>
            </a:r>
          </a:p>
        </p:txBody>
      </p:sp>
      <p:sp>
        <p:nvSpPr>
          <p:cNvPr id="3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6003AFD1-E58E-4B5D-ABFE-8D9A916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EA79748F-112B-4AE0-AC21-58DDB60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23C72F45-DEE5-41D1-A8B3-91B084EF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代表的是一种“编译”思路：不是等到提问时再临时拼接资料，而是在素材进入时就完成理解、关联和结构化沉淀。</a:t>
            </a:r>
          </a:p>
        </p:txBody>
      </p:sp>
    </p:spTree>
    <p:extLst>
      <p:ext uri="{BB962C8B-B14F-4D97-AF65-F5344CB8AC3E}">
        <p14:creationId xmlns:p14="http://schemas.microsoft.com/office/powerpoint/2010/main" val="21446766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3B3C6DA-9131-493E-8C2E-D258963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15 / 技术融合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27FE77EB-1401-40F8-9704-275E2EE4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F7F19681-A3F1-4750-AD3F-2F275B99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33DB6C-4C93-4E7A-B05B-7EF74D54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技术融合方向：不是替代，而是组合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23BC22A-184E-4399-A026-5CCC0AA0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RAG 提供广度，LLM Wiki 负责沉淀，多模态扩展知识边界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9035F1-A9A1-4EFC-90D5-7D0277F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15 / 17</a:t>
            </a:r>
          </a:p>
        </p:txBody>
      </p:sp>
      <p:sp>
        <p:nvSpPr>
          <p:cNvPr id="7" name="rag-layer">
            <a:extLst xmlns:a="http://schemas.openxmlformats.org/drawingml/2006/main">
              <a:ext uri="{FF2B5EF4-FFF2-40B4-BE49-F238E27FC236}">
                <a16:creationId xmlns:a16="http://schemas.microsoft.com/office/drawing/2014/main" id="{1B27AC46-93F1-4F97-8437-313C8455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ag-layer-accent">
            <a:extLst xmlns:a="http://schemas.openxmlformats.org/drawingml/2006/main">
              <a:ext uri="{FF2B5EF4-FFF2-40B4-BE49-F238E27FC236}">
                <a16:creationId xmlns:a16="http://schemas.microsoft.com/office/drawing/2014/main" id="{E8EA3E55-A24A-4E34-888B-00654D13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rag-layer-title">
            <a:extLst xmlns:a="http://schemas.openxmlformats.org/drawingml/2006/main">
              <a:ext uri="{FF2B5EF4-FFF2-40B4-BE49-F238E27FC236}">
                <a16:creationId xmlns:a16="http://schemas.microsoft.com/office/drawing/2014/main" id="{4D7E3A6A-B60A-43DA-A5E2-E3F40B7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86025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RAG</a:t>
            </a:r>
          </a:p>
        </p:txBody>
      </p:sp>
      <p:sp>
        <p:nvSpPr>
          <p:cNvPr id="10" name="rag-layer-detail">
            <a:extLst xmlns:a="http://schemas.openxmlformats.org/drawingml/2006/main">
              <a:ext uri="{FF2B5EF4-FFF2-40B4-BE49-F238E27FC236}">
                <a16:creationId xmlns:a16="http://schemas.microsoft.com/office/drawing/2014/main" id="{726B40A3-6CEA-440B-98E7-2EA368A3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28925"/>
            <a:ext cx="2124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面向海量材料的快速检索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适合广度与低延迟访问</a:t>
            </a:r>
          </a:p>
        </p:txBody>
      </p:sp>
      <p:sp>
        <p:nvSpPr>
          <p:cNvPr id="11" name="wiki-layer">
            <a:extLst xmlns:a="http://schemas.openxmlformats.org/drawingml/2006/main">
              <a:ext uri="{FF2B5EF4-FFF2-40B4-BE49-F238E27FC236}">
                <a16:creationId xmlns:a16="http://schemas.microsoft.com/office/drawing/2014/main" id="{F3877B95-3489-41A0-9194-0103D2FB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714625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wiki-layer-accent">
            <a:extLst xmlns:a="http://schemas.openxmlformats.org/drawingml/2006/main">
              <a:ext uri="{FF2B5EF4-FFF2-40B4-BE49-F238E27FC236}">
                <a16:creationId xmlns:a16="http://schemas.microsoft.com/office/drawing/2014/main" id="{C3334169-D858-4619-A41E-836DD69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wiki-layer-title">
            <a:extLst xmlns:a="http://schemas.openxmlformats.org/drawingml/2006/main">
              <a:ext uri="{FF2B5EF4-FFF2-40B4-BE49-F238E27FC236}">
                <a16:creationId xmlns:a16="http://schemas.microsoft.com/office/drawing/2014/main" id="{EEA8B6B6-76CE-4B26-BE76-FCD44B2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LLM Wiki</a:t>
            </a:r>
          </a:p>
        </p:txBody>
      </p:sp>
      <p:sp>
        <p:nvSpPr>
          <p:cNvPr id="14" name="wiki-layer-detail">
            <a:extLst xmlns:a="http://schemas.openxmlformats.org/drawingml/2006/main">
              <a:ext uri="{FF2B5EF4-FFF2-40B4-BE49-F238E27FC236}">
                <a16:creationId xmlns:a16="http://schemas.microsoft.com/office/drawing/2014/main" id="{01E5F170-F938-42E7-90C9-3CD9B30B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24098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把高价值材料编译成结构化知识网络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适合长期理解和复用</a:t>
            </a:r>
          </a:p>
        </p:txBody>
      </p:sp>
      <p:sp>
        <p:nvSpPr>
          <p:cNvPr id="15" name="agent-layer">
            <a:extLst xmlns:a="http://schemas.openxmlformats.org/drawingml/2006/main">
              <a:ext uri="{FF2B5EF4-FFF2-40B4-BE49-F238E27FC236}">
                <a16:creationId xmlns:a16="http://schemas.microsoft.com/office/drawing/2014/main" id="{0DCFEAA6-8A88-4AA2-A34C-8496313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agent-layer-accent">
            <a:extLst xmlns:a="http://schemas.openxmlformats.org/drawingml/2006/main">
              <a:ext uri="{FF2B5EF4-FFF2-40B4-BE49-F238E27FC236}">
                <a16:creationId xmlns:a16="http://schemas.microsoft.com/office/drawing/2014/main" id="{02448BA7-B42E-4171-B72A-2ECBAE5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agent-layer-title">
            <a:extLst xmlns:a="http://schemas.openxmlformats.org/drawingml/2006/main">
              <a:ext uri="{FF2B5EF4-FFF2-40B4-BE49-F238E27FC236}">
                <a16:creationId xmlns:a16="http://schemas.microsoft.com/office/drawing/2014/main" id="{C76EE6A0-EE12-43D3-BFFD-90761F9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86025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16"/>
                </a:solidFill>
              </a:defRPr>
            </a:pPr>
            <a:r>
              <a:rPr sz="1875" b="1">
                <a:solidFill>
                  <a:srgbClr val="101816"/>
                </a:solidFill>
              </a:rPr>
              <a:t>Agent</a:t>
            </a:r>
          </a:p>
        </p:txBody>
      </p:sp>
      <p:sp>
        <p:nvSpPr>
          <p:cNvPr id="18" name="agent-layer-detail">
            <a:extLst xmlns:a="http://schemas.openxmlformats.org/drawingml/2006/main">
              <a:ext uri="{FF2B5EF4-FFF2-40B4-BE49-F238E27FC236}">
                <a16:creationId xmlns:a16="http://schemas.microsoft.com/office/drawing/2014/main" id="{B6E7A0A2-A95A-4393-BD65-41D408E5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28925"/>
            <a:ext cx="2124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基于 Wiki 长期记忆执行任务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把知识用于行动和决策</a:t>
            </a:r>
          </a:p>
        </p:txBody>
      </p: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76625" y="30480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77125" y="30480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multimodal-box">
            <a:extLst xmlns:a="http://schemas.openxmlformats.org/drawingml/2006/main">
              <a:ext uri="{FF2B5EF4-FFF2-40B4-BE49-F238E27FC236}">
                <a16:creationId xmlns:a16="http://schemas.microsoft.com/office/drawing/2014/main" id="{23F9C55C-DB07-448A-8664-5B94F57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multimodal-accent">
            <a:extLst xmlns:a="http://schemas.openxmlformats.org/drawingml/2006/main">
              <a:ext uri="{FF2B5EF4-FFF2-40B4-BE49-F238E27FC236}">
                <a16:creationId xmlns:a16="http://schemas.microsoft.com/office/drawing/2014/main" id="{B9FB0023-F992-4370-A163-631A2BE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multimodal-title">
            <a:extLst xmlns:a="http://schemas.openxmlformats.org/drawingml/2006/main">
              <a:ext uri="{FF2B5EF4-FFF2-40B4-BE49-F238E27FC236}">
                <a16:creationId xmlns:a16="http://schemas.microsoft.com/office/drawing/2014/main" id="{8AB767A2-17B3-4F29-8F87-0247C63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6"/>
                </a:solidFill>
              </a:defRPr>
            </a:pPr>
            <a:r>
              <a:rPr sz="1500" b="1">
                <a:solidFill>
                  <a:srgbClr val="101816"/>
                </a:solidFill>
              </a:rPr>
              <a:t>多模态 LLM Wiki</a:t>
            </a:r>
          </a:p>
        </p:txBody>
      </p:sp>
      <p:sp>
        <p:nvSpPr>
          <p:cNvPr id="24" name="multimodal-body">
            <a:extLst xmlns:a="http://schemas.openxmlformats.org/drawingml/2006/main">
              <a:ext uri="{FF2B5EF4-FFF2-40B4-BE49-F238E27FC236}">
                <a16:creationId xmlns:a16="http://schemas.microsoft.com/office/drawing/2014/main" id="{270121A1-FB78-4E60-83E2-56E215C5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01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从纯文本走向图片、视频字幕、音频转写、会议记录等多模态知识的统一编译。</a:t>
            </a:r>
          </a:p>
        </p:txBody>
      </p:sp>
      <p:sp>
        <p:nvSpPr>
          <p:cNvPr id="25" name="modality-0">
            <a:extLst xmlns:a="http://schemas.openxmlformats.org/drawingml/2006/main">
              <a:ext uri="{FF2B5EF4-FFF2-40B4-BE49-F238E27FC236}">
                <a16:creationId xmlns:a16="http://schemas.microsoft.com/office/drawing/2014/main" id="{FEF1B37D-339E-4277-8914-638E0DE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文本</a:t>
            </a:r>
          </a:p>
        </p:txBody>
      </p:sp>
      <p:sp>
        <p:nvSpPr>
          <p:cNvPr id="26" name="modality-1">
            <a:extLst xmlns:a="http://schemas.openxmlformats.org/drawingml/2006/main">
              <a:ext uri="{FF2B5EF4-FFF2-40B4-BE49-F238E27FC236}">
                <a16:creationId xmlns:a16="http://schemas.microsoft.com/office/drawing/2014/main" id="{CA55C685-7990-48FD-B682-B1DEF865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图片</a:t>
            </a:r>
          </a:p>
        </p:txBody>
      </p:sp>
      <p:sp>
        <p:nvSpPr>
          <p:cNvPr id="27" name="modality-2">
            <a:extLst xmlns:a="http://schemas.openxmlformats.org/drawingml/2006/main">
              <a:ext uri="{FF2B5EF4-FFF2-40B4-BE49-F238E27FC236}">
                <a16:creationId xmlns:a16="http://schemas.microsoft.com/office/drawing/2014/main" id="{55DE2787-380E-4C29-ADC4-6339CE2E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视频</a:t>
            </a:r>
          </a:p>
        </p:txBody>
      </p:sp>
      <p:sp>
        <p:nvSpPr>
          <p:cNvPr id="28" name="modality-3">
            <a:extLst xmlns:a="http://schemas.openxmlformats.org/drawingml/2006/main">
              <a:ext uri="{FF2B5EF4-FFF2-40B4-BE49-F238E27FC236}">
                <a16:creationId xmlns:a16="http://schemas.microsoft.com/office/drawing/2014/main" id="{BF7347BD-6439-4A7D-9BBB-8600B772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53000"/>
            <a:ext cx="7239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77A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音频</a:t>
            </a:r>
          </a:p>
        </p:txBody>
      </p:sp>
      <p:sp>
        <p:nvSpPr>
          <p:cNvPr id="29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90A7DD58-52E2-4FAE-BEB3-6AA41156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0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D08DC481-BCB4-4BAC-A083-E28E0D5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1" name="bottom-note">
            <a:extLst xmlns:a="http://schemas.openxmlformats.org/drawingml/2006/main">
              <a:ext uri="{FF2B5EF4-FFF2-40B4-BE49-F238E27FC236}">
                <a16:creationId xmlns:a16="http://schemas.microsoft.com/office/drawing/2014/main" id="{730E420A-C6CA-4138-B6FA-8EC40490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并不是 RAG 的替代品。更现实的方向是组合：RAG 负责从海量资料中提供广度，LLM Wiki 负责把高价值内容沉淀成长期知识。</a:t>
            </a:r>
          </a:p>
        </p:txBody>
      </p:sp>
    </p:spTree>
    <p:extLst>
      <p:ext uri="{BB962C8B-B14F-4D97-AF65-F5344CB8AC3E}">
        <p14:creationId xmlns:p14="http://schemas.microsoft.com/office/powerpoint/2010/main" val="1407712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9A61D16-3512-404F-A322-1B6C873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16 / 总结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86FFE73C-C63F-420E-BA8F-0D9AC81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77BED940-C320-4E44-818F-0108F551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7EC757-F82C-4751-822C-C22677A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总结：从知识访问，到知识积累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62F7950-7ABD-48D0-BE5B-9DC6B65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LLM Wiki 的价值，不是替代检索，而是让知识持续沉淀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208EA2-8B2B-4D5C-9E80-CE3480B1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16 / 17</a:t>
            </a:r>
          </a:p>
        </p:txBody>
      </p:sp>
      <p:sp>
        <p:nvSpPr>
          <p:cNvPr id="7" name="summary-rag">
            <a:extLst xmlns:a="http://schemas.openxmlformats.org/drawingml/2006/main">
              <a:ext uri="{FF2B5EF4-FFF2-40B4-BE49-F238E27FC236}">
                <a16:creationId xmlns:a16="http://schemas.microsoft.com/office/drawing/2014/main" id="{8D04E336-309C-4CBA-96E6-89D6D183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summary-rag-accent">
            <a:extLst xmlns:a="http://schemas.openxmlformats.org/drawingml/2006/main">
              <a:ext uri="{FF2B5EF4-FFF2-40B4-BE49-F238E27FC236}">
                <a16:creationId xmlns:a16="http://schemas.microsoft.com/office/drawing/2014/main" id="{D9E0DBFD-A57E-445A-BA4C-08822F53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summary-rag-title">
            <a:extLst xmlns:a="http://schemas.openxmlformats.org/drawingml/2006/main">
              <a:ext uri="{FF2B5EF4-FFF2-40B4-BE49-F238E27FC236}">
                <a16:creationId xmlns:a16="http://schemas.microsoft.com/office/drawing/2014/main" id="{352BE538-376E-42A5-A8DF-85EB0E7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1. RAG 解决访问</a:t>
            </a:r>
          </a:p>
        </p:txBody>
      </p:sp>
      <p:sp>
        <p:nvSpPr>
          <p:cNvPr id="10" name="summary-rag-detail">
            <a:extLst xmlns:a="http://schemas.openxmlformats.org/drawingml/2006/main">
              <a:ext uri="{FF2B5EF4-FFF2-40B4-BE49-F238E27FC236}">
                <a16:creationId xmlns:a16="http://schemas.microsoft.com/office/drawing/2014/main" id="{B91E48FA-D493-43BA-9385-8A14749D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让模型在回答前拿到外部资料，适合快速检索最新信息和私有文档。</a:t>
            </a:r>
          </a:p>
        </p:txBody>
      </p:sp>
      <p:sp>
        <p:nvSpPr>
          <p:cNvPr id="11" name="summary-wiki">
            <a:extLst xmlns:a="http://schemas.openxmlformats.org/drawingml/2006/main">
              <a:ext uri="{FF2B5EF4-FFF2-40B4-BE49-F238E27FC236}">
                <a16:creationId xmlns:a16="http://schemas.microsoft.com/office/drawing/2014/main" id="{19ED494C-DC9E-4C59-A12E-5DE5924A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ummary-wiki-accent">
            <a:extLst xmlns:a="http://schemas.openxmlformats.org/drawingml/2006/main">
              <a:ext uri="{FF2B5EF4-FFF2-40B4-BE49-F238E27FC236}">
                <a16:creationId xmlns:a16="http://schemas.microsoft.com/office/drawing/2014/main" id="{AF422F77-4477-44AF-A967-26265E0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summary-wiki-title">
            <a:extLst xmlns:a="http://schemas.openxmlformats.org/drawingml/2006/main">
              <a:ext uri="{FF2B5EF4-FFF2-40B4-BE49-F238E27FC236}">
                <a16:creationId xmlns:a16="http://schemas.microsoft.com/office/drawing/2014/main" id="{00D19E8C-AA3E-4969-827E-61057206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2. LLM Wiki 解决积累</a:t>
            </a:r>
          </a:p>
        </p:txBody>
      </p:sp>
      <p:sp>
        <p:nvSpPr>
          <p:cNvPr id="14" name="summary-wiki-detail">
            <a:extLst xmlns:a="http://schemas.openxmlformats.org/drawingml/2006/main">
              <a:ext uri="{FF2B5EF4-FFF2-40B4-BE49-F238E27FC236}">
                <a16:creationId xmlns:a16="http://schemas.microsoft.com/office/drawing/2014/main" id="{23022143-C1EA-41CA-B774-A09F376B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把资料编译成结构化、相互链接、可演化的 Markdown Wiki。</a:t>
            </a:r>
          </a:p>
        </p:txBody>
      </p:sp>
      <p:sp>
        <p:nvSpPr>
          <p:cNvPr id="15" name="summary-obsidian">
            <a:extLst xmlns:a="http://schemas.openxmlformats.org/drawingml/2006/main">
              <a:ext uri="{FF2B5EF4-FFF2-40B4-BE49-F238E27FC236}">
                <a16:creationId xmlns:a16="http://schemas.microsoft.com/office/drawing/2014/main" id="{B0F42A27-82DC-4FC4-81CB-DDE9329C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summary-obsidian-accent">
            <a:extLst xmlns:a="http://schemas.openxmlformats.org/drawingml/2006/main">
              <a:ext uri="{FF2B5EF4-FFF2-40B4-BE49-F238E27FC236}">
                <a16:creationId xmlns:a16="http://schemas.microsoft.com/office/drawing/2014/main" id="{5B8C007E-7272-4BCA-89AC-B65E24E3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summary-obsidian-title">
            <a:extLst xmlns:a="http://schemas.openxmlformats.org/drawingml/2006/main">
              <a:ext uri="{FF2B5EF4-FFF2-40B4-BE49-F238E27FC236}">
                <a16:creationId xmlns:a16="http://schemas.microsoft.com/office/drawing/2014/main" id="{38D78FEE-65F1-40DD-93CC-1E519067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98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3. Obsidian 承载协作</a:t>
            </a:r>
          </a:p>
        </p:txBody>
      </p:sp>
      <p:sp>
        <p:nvSpPr>
          <p:cNvPr id="18" name="summary-obsidian-detail">
            <a:extLst xmlns:a="http://schemas.openxmlformats.org/drawingml/2006/main">
              <a:ext uri="{FF2B5EF4-FFF2-40B4-BE49-F238E27FC236}">
                <a16:creationId xmlns:a16="http://schemas.microsoft.com/office/drawing/2014/main" id="{B3C4D8AD-C764-4AC9-A067-2DDC9539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09875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人负责审阅和方向，LLM 负责维护、链接、更新和校验。</a:t>
            </a:r>
          </a:p>
        </p:txBody>
      </p:sp>
      <p:cxnSp>
        <p:nvCxnSpPr>
          <p:cNvPr id="6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62375" y="3095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24750" y="3095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summary-key-message">
            <a:extLst xmlns:a="http://schemas.openxmlformats.org/drawingml/2006/main">
              <a:ext uri="{FF2B5EF4-FFF2-40B4-BE49-F238E27FC236}">
                <a16:creationId xmlns:a16="http://schemas.microsoft.com/office/drawing/2014/main" id="{4BA0E24C-2F79-4763-B485-ECF0514D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8001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summary-key-accent">
            <a:extLst xmlns:a="http://schemas.openxmlformats.org/drawingml/2006/main">
              <a:ext uri="{FF2B5EF4-FFF2-40B4-BE49-F238E27FC236}">
                <a16:creationId xmlns:a16="http://schemas.microsoft.com/office/drawing/2014/main" id="{5F0B5F22-179E-448A-87BB-5437BB12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23" name="summary-key-text">
            <a:extLst xmlns:a="http://schemas.openxmlformats.org/drawingml/2006/main">
              <a:ext uri="{FF2B5EF4-FFF2-40B4-BE49-F238E27FC236}">
                <a16:creationId xmlns:a16="http://schemas.microsoft.com/office/drawing/2014/main" id="{B98E4D39-C1A5-4CD9-820B-AE0DDA1F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577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真正的目标：让资料变成可复用、可演进的知识。</a:t>
            </a:r>
          </a:p>
        </p:txBody>
      </p:sp>
      <p:sp>
        <p:nvSpPr>
          <p:cNvPr id="24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4714DBA0-DF31-4970-9A29-A6D2E4A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65EEA884-FA3D-47D1-AD2B-6DC82947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6" name="bottom-note">
            <a:extLst xmlns:a="http://schemas.openxmlformats.org/drawingml/2006/main">
              <a:ext uri="{FF2B5EF4-FFF2-40B4-BE49-F238E27FC236}">
                <a16:creationId xmlns:a16="http://schemas.microsoft.com/office/drawing/2014/main" id="{87AC7AE1-1B3D-4295-8E93-24921C5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这套分享可以归结为一句话：RAG 让我们更容易访问知识，而 LLM Wiki 让知识开始积累。Obsidian 则提供了一个人和 LLM 都能协作的本地知识工作台。</a:t>
            </a:r>
          </a:p>
        </p:txBody>
      </p:sp>
    </p:spTree>
    <p:extLst>
      <p:ext uri="{BB962C8B-B14F-4D97-AF65-F5344CB8AC3E}">
        <p14:creationId xmlns:p14="http://schemas.microsoft.com/office/powerpoint/2010/main" val="15433516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73CF97F-A963-4C32-A784-CCEC4DAC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17 / Q&amp;A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B656DF0-3784-4E2B-9D4B-9613C65F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9100"/>
            <a:ext cx="295275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BDD6945A-FF4C-4BED-9605-2873170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hanks-title">
            <a:extLst xmlns:a="http://schemas.openxmlformats.org/drawingml/2006/main">
              <a:ext uri="{FF2B5EF4-FFF2-40B4-BE49-F238E27FC236}">
                <a16:creationId xmlns:a16="http://schemas.microsoft.com/office/drawing/2014/main" id="{81550AFD-ADB1-48A7-A78D-A9D9DA7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101816"/>
                </a:solidFill>
              </a:defRPr>
            </a:pPr>
            <a:r>
              <a:rPr sz="5550" b="1">
                <a:solidFill>
                  <a:srgbClr val="101816"/>
                </a:solidFill>
              </a:rPr>
              <a:t>谢谢</a:t>
            </a:r>
          </a:p>
        </p:txBody>
      </p:sp>
      <p:sp>
        <p:nvSpPr>
          <p:cNvPr id="5" name="thanks-subtitle">
            <a:extLst xmlns:a="http://schemas.openxmlformats.org/drawingml/2006/main">
              <a:ext uri="{FF2B5EF4-FFF2-40B4-BE49-F238E27FC236}">
                <a16:creationId xmlns:a16="http://schemas.microsoft.com/office/drawing/2014/main" id="{DC39DC38-86A4-43E3-B6CC-03CEE77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4A45"/>
                </a:solidFill>
              </a:defRPr>
            </a:pPr>
            <a:r>
              <a:rPr sz="1875" b="1">
                <a:solidFill>
                  <a:srgbClr val="3D4A45"/>
                </a:solidFill>
              </a:rPr>
              <a:t>欢迎交流：如何把自己的资料编译成会生长的 Wiki</a:t>
            </a:r>
          </a:p>
        </p:txBody>
      </p:sp>
      <p:sp>
        <p:nvSpPr>
          <p:cNvPr id="6" name="thanks-raw">
            <a:extLst xmlns:a="http://schemas.openxmlformats.org/drawingml/2006/main">
              <a:ext uri="{FF2B5EF4-FFF2-40B4-BE49-F238E27FC236}">
                <a16:creationId xmlns:a16="http://schemas.microsoft.com/office/drawing/2014/main" id="{B6D2EE53-F1A8-4736-8BCA-1138FC3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428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thanks-raw-accent">
            <a:extLst xmlns:a="http://schemas.openxmlformats.org/drawingml/2006/main">
              <a:ext uri="{FF2B5EF4-FFF2-40B4-BE49-F238E27FC236}">
                <a16:creationId xmlns:a16="http://schemas.microsoft.com/office/drawing/2014/main" id="{6D78CF2D-E448-4EB2-99EE-45581D0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8" name="thanks-raw-title">
            <a:extLst xmlns:a="http://schemas.openxmlformats.org/drawingml/2006/main">
              <a:ext uri="{FF2B5EF4-FFF2-40B4-BE49-F238E27FC236}">
                <a16:creationId xmlns:a16="http://schemas.microsoft.com/office/drawing/2014/main" id="{45DE4235-5A2F-420D-93C8-A888B28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9" name="thanks-raw-detail">
            <a:extLst xmlns:a="http://schemas.openxmlformats.org/drawingml/2006/main">
              <a:ext uri="{FF2B5EF4-FFF2-40B4-BE49-F238E27FC236}">
                <a16:creationId xmlns:a16="http://schemas.microsoft.com/office/drawing/2014/main" id="{DCFDFD03-BD1C-4369-BD5A-C2EE1401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386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原始资料</a:t>
            </a:r>
          </a:p>
        </p:txBody>
      </p:sp>
      <p:sp>
        <p:nvSpPr>
          <p:cNvPr id="10" name="thanks-llm">
            <a:extLst xmlns:a="http://schemas.openxmlformats.org/drawingml/2006/main">
              <a:ext uri="{FF2B5EF4-FFF2-40B4-BE49-F238E27FC236}">
                <a16:creationId xmlns:a16="http://schemas.microsoft.com/office/drawing/2014/main" id="{8B3035E1-3B40-4F10-9C42-053E9D7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thanks-llm-accent">
            <a:extLst xmlns:a="http://schemas.openxmlformats.org/drawingml/2006/main">
              <a:ext uri="{FF2B5EF4-FFF2-40B4-BE49-F238E27FC236}">
                <a16:creationId xmlns:a16="http://schemas.microsoft.com/office/drawing/2014/main" id="{ED50B870-37C2-4731-8A4E-8B74F21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2" name="thanks-llm-title">
            <a:extLst xmlns:a="http://schemas.openxmlformats.org/drawingml/2006/main">
              <a:ext uri="{FF2B5EF4-FFF2-40B4-BE49-F238E27FC236}">
                <a16:creationId xmlns:a16="http://schemas.microsoft.com/office/drawing/2014/main" id="{1984F378-3D17-4A84-ABA7-D6B0B97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16"/>
                </a:solidFill>
              </a:defRPr>
            </a:pPr>
            <a:r>
              <a:rPr sz="1950" b="1">
                <a:solidFill>
                  <a:srgbClr val="101816"/>
                </a:solidFill>
              </a:rPr>
              <a:t>LLM</a:t>
            </a:r>
          </a:p>
        </p:txBody>
      </p:sp>
      <p:sp>
        <p:nvSpPr>
          <p:cNvPr id="13" name="thanks-llm-detail">
            <a:extLst xmlns:a="http://schemas.openxmlformats.org/drawingml/2006/main">
              <a:ext uri="{FF2B5EF4-FFF2-40B4-BE49-F238E27FC236}">
                <a16:creationId xmlns:a16="http://schemas.microsoft.com/office/drawing/2014/main" id="{26DC6D45-79F6-4134-800B-2661E73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理解与编译</a:t>
            </a:r>
          </a:p>
        </p:txBody>
      </p:sp>
      <p:sp>
        <p:nvSpPr>
          <p:cNvPr id="14" name="thanks-wiki">
            <a:extLst xmlns:a="http://schemas.openxmlformats.org/drawingml/2006/main">
              <a:ext uri="{FF2B5EF4-FFF2-40B4-BE49-F238E27FC236}">
                <a16:creationId xmlns:a16="http://schemas.microsoft.com/office/drawing/2014/main" id="{226B8CD1-319D-493C-B10F-FCEE74F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thanks-wiki-accent">
            <a:extLst xmlns:a="http://schemas.openxmlformats.org/drawingml/2006/main">
              <a:ext uri="{FF2B5EF4-FFF2-40B4-BE49-F238E27FC236}">
                <a16:creationId xmlns:a16="http://schemas.microsoft.com/office/drawing/2014/main" id="{7AE0D5D4-B64D-4D33-93DB-F509843D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thanks-wiki-title">
            <a:extLst xmlns:a="http://schemas.openxmlformats.org/drawingml/2006/main">
              <a:ext uri="{FF2B5EF4-FFF2-40B4-BE49-F238E27FC236}">
                <a16:creationId xmlns:a16="http://schemas.microsoft.com/office/drawing/2014/main" id="{2B4971E0-8094-4C9B-A66B-B7A71832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wiki/</a:t>
            </a:r>
          </a:p>
        </p:txBody>
      </p:sp>
      <p:sp>
        <p:nvSpPr>
          <p:cNvPr id="17" name="thanks-wiki-detail">
            <a:extLst xmlns:a="http://schemas.openxmlformats.org/drawingml/2006/main">
              <a:ext uri="{FF2B5EF4-FFF2-40B4-BE49-F238E27FC236}">
                <a16:creationId xmlns:a16="http://schemas.microsoft.com/office/drawing/2014/main" id="{B83ADDD5-85CA-4285-9059-76EBA58D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38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长期知识资产</a:t>
            </a:r>
          </a:p>
        </p:txBody>
      </p: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57500" y="4000500"/>
            <a:ext cx="15240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00750" y="4000500"/>
            <a:ext cx="15240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5388518A-18BE-4C21-AC02-3A3CEF1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保存只是开始，沉淀才会产生复利。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9803BE-E346-4A20-9AF6-8B09853A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810440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2026-06-22T18:47:30.1200000Z</dcterms:created>
  <dcterms:modified xsi:type="dcterms:W3CDTF">2026-06-22T18:47:30.1200000Z</dcterms:modified>
</coreProperties>
</file>