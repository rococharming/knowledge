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c1dac9bb4c49f6" /><Relationship Type="http://schemas.openxmlformats.org/officeDocument/2006/relationships/extended-properties" Target="/docProps/app.xml" Id="Rd2077b7dc7ec48ee" /><Relationship Type="http://schemas.openxmlformats.org/officeDocument/2006/relationships/officeDocument" Target="/ppt/presentation.xml" Id="R15becf6465a346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7a6dc1f99eb4280"/>
  </p:sldMasterIdLst>
  <p:notesMasterIdLst>
    <p:notesMasterId xmlns:r="http://schemas.openxmlformats.org/officeDocument/2006/relationships" r:id="R48e90ec1498d47dc"/>
  </p:notesMasterIdLst>
  <p:sldIdLst>
    <p:sldId xmlns:r="http://schemas.openxmlformats.org/officeDocument/2006/relationships" id="256" r:id="Rb05203c0965a4e4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d568ac7d704c27" /><Relationship Type="http://schemas.openxmlformats.org/officeDocument/2006/relationships/slideMaster" Target="/ppt/slideMasters/slideMaster1.xml" Id="R37a6dc1f99eb4280" /><Relationship Type="http://schemas.openxmlformats.org/officeDocument/2006/relationships/notesMaster" Target="/ppt/notesMasters/notesMaster1.xml" Id="R48e90ec1498d47dc" /><Relationship Type="http://schemas.openxmlformats.org/officeDocument/2006/relationships/presProps" Target="/ppt/presProps.xml" Id="Rba7bffb12b6b49c6" /><Relationship Type="http://schemas.openxmlformats.org/officeDocument/2006/relationships/tableStyles" Target="/ppt/tableStyles.xml" Id="R706c5a3f20724196" /><Relationship Type="http://schemas.openxmlformats.org/officeDocument/2006/relationships/slide" Target="/ppt/slides/slide1.xml" Id="Rb05203c0965a4e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7ab2f3ac3a4e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6f222a824a495d" /><Relationship Type="http://schemas.openxmlformats.org/officeDocument/2006/relationships/notesMaster" Target="/ppt/notesMasters/notesMaster1.xml" Id="Rcc3b0b2f057242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b29abda4fd4f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fb53ea4c1404952" /><Relationship Type="http://schemas.openxmlformats.org/officeDocument/2006/relationships/slideLayout" Target="/ppt/slideLayouts/slideLayout1.xml" Id="Rc98b25df85834c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8b25df85834c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c296b799945dc" /><Relationship Type="http://schemas.openxmlformats.org/officeDocument/2006/relationships/notesSlide" Target="/ppt/notesSlides/notesSlide1.xml" Id="R1f12009ed92943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4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">
            <a:extLst xmlns:a="http://schemas.openxmlformats.org/drawingml/2006/main">
              <a:ext uri="{FF2B5EF4-FFF2-40B4-BE49-F238E27FC236}">
                <a16:creationId xmlns:a16="http://schemas.microsoft.com/office/drawing/2014/main" id="{F55F8974-BBE4-4D30-AC0B-83F4B95D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333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04 / Agentic RAG</a:t>
            </a:r>
          </a:p>
        </p:txBody>
      </p:sp>
      <p:sp>
        <p:nvSpPr>
          <p:cNvPr id="2" name="teal-handline">
            <a:extLst xmlns:a="http://schemas.openxmlformats.org/drawingml/2006/main">
              <a:ext uri="{FF2B5EF4-FFF2-40B4-BE49-F238E27FC236}">
                <a16:creationId xmlns:a16="http://schemas.microsoft.com/office/drawing/2014/main" id="{3F64C2BE-75F0-4288-8552-9D5FCAB78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" y="342900"/>
            <a:ext cx="2952750" cy="-76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3" name="amber-handline">
            <a:extLst xmlns:a="http://schemas.openxmlformats.org/drawingml/2006/main">
              <a:ext uri="{FF2B5EF4-FFF2-40B4-BE49-F238E27FC236}">
                <a16:creationId xmlns:a16="http://schemas.microsoft.com/office/drawing/2014/main" id="{B9872EBF-BB6A-496A-A97F-A11D48C4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8625"/>
            <a:ext cx="4381500" cy="-666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860">
            <a:solidFill>
              <a:srgbClr val="D9902F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071A11C-AD42-4C99-B9D0-D6F2682B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01816"/>
                </a:solidFill>
              </a:defRPr>
            </a:pPr>
            <a:r>
              <a:rPr sz="2775" b="1">
                <a:solidFill>
                  <a:srgbClr val="101816"/>
                </a:solidFill>
              </a:rPr>
              <a:t>Agentic RAG：让 Agent 自主规划检索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3B7BCF59-6424-482F-B138-0FBE5EA0C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D4A45"/>
                </a:solidFill>
              </a:defRPr>
            </a:pPr>
            <a:r>
              <a:rPr sz="1725" b="1">
                <a:solidFill>
                  <a:srgbClr val="3D4A45"/>
                </a:solidFill>
              </a:rPr>
              <a:t>从固定流水线，转向动态决策过程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229A98-0184-4A42-B298-5DDF926E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2103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9902F"/>
                </a:solidFill>
              </a:defRPr>
            </a:pPr>
            <a:r>
              <a:rPr sz="1350" b="1">
                <a:solidFill>
                  <a:srgbClr val="D9902F"/>
                </a:solidFill>
              </a:rPr>
              <a:t>04 / 20</a:t>
            </a:r>
          </a:p>
        </p:txBody>
      </p:sp>
      <p:sp>
        <p:nvSpPr>
          <p:cNvPr id="7" name="task-card">
            <a:extLst xmlns:a="http://schemas.openxmlformats.org/drawingml/2006/main">
              <a:ext uri="{FF2B5EF4-FFF2-40B4-BE49-F238E27FC236}">
                <a16:creationId xmlns:a16="http://schemas.microsoft.com/office/drawing/2014/main" id="{68FF5B07-142D-4650-B13E-3D80AF69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14287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8" name="task-card-accent">
            <a:extLst xmlns:a="http://schemas.openxmlformats.org/drawingml/2006/main">
              <a:ext uri="{FF2B5EF4-FFF2-40B4-BE49-F238E27FC236}">
                <a16:creationId xmlns:a16="http://schemas.microsoft.com/office/drawing/2014/main" id="{352BA24A-558B-4E9C-9DA2-B6315D60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1462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9" name="task-card-title">
            <a:extLst xmlns:a="http://schemas.openxmlformats.org/drawingml/2006/main">
              <a:ext uri="{FF2B5EF4-FFF2-40B4-BE49-F238E27FC236}">
                <a16:creationId xmlns:a16="http://schemas.microsoft.com/office/drawing/2014/main" id="{62471A42-7DCE-4EAB-8834-126AE916F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67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复杂任务</a:t>
            </a:r>
          </a:p>
        </p:txBody>
      </p:sp>
      <p:sp>
        <p:nvSpPr>
          <p:cNvPr id="10" name="task-card-detail">
            <a:extLst xmlns:a="http://schemas.openxmlformats.org/drawingml/2006/main">
              <a:ext uri="{FF2B5EF4-FFF2-40B4-BE49-F238E27FC236}">
                <a16:creationId xmlns:a16="http://schemas.microsoft.com/office/drawing/2014/main" id="{36BD071B-29C5-496F-97B9-C9447948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71825"/>
            <a:ext cx="1123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问题开放，需要多种信息来源</a:t>
            </a:r>
          </a:p>
        </p:txBody>
      </p:sp>
      <p:sp>
        <p:nvSpPr>
          <p:cNvPr id="11" name="agent-core">
            <a:extLst xmlns:a="http://schemas.openxmlformats.org/drawingml/2006/main">
              <a:ext uri="{FF2B5EF4-FFF2-40B4-BE49-F238E27FC236}">
                <a16:creationId xmlns:a16="http://schemas.microsoft.com/office/drawing/2014/main" id="{DD2B93A4-B850-4E34-8EF6-C87F6A2B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476500"/>
            <a:ext cx="1524000" cy="1524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E5B3"/>
          </a:solidFill>
          <a:ln xmlns:a="http://schemas.openxmlformats.org/drawingml/2006/main" w="20955">
            <a:solidFill>
              <a:srgbClr val="0F766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01816"/>
                </a:solidFill>
              </a:defRPr>
            </a:pPr>
            <a:r>
              <a:rPr sz="2100" b="1">
                <a:solidFill>
                  <a:srgbClr val="101816"/>
                </a:solidFill>
              </a:rPr>
              <a:t>Agent</a:t>
            </a:r>
          </a:p>
          <a:p xmlns:a="http://schemas.openxmlformats.org/drawingml/2006/main">
            <a:pPr algn="ctr">
              <a:defRPr sz="2100" b="1">
                <a:solidFill>
                  <a:srgbClr val="101816"/>
                </a:solidFill>
              </a:defRPr>
            </a:pPr>
            <a:r>
              <a:rPr sz="2100" b="1">
                <a:solidFill>
                  <a:srgbClr val="101816"/>
                </a:solidFill>
              </a:rPr>
              <a:t>规划</a:t>
            </a:r>
          </a:p>
        </p:txBody>
      </p:sp>
      <p:sp>
        <p:nvSpPr>
          <p:cNvPr id="12" name="agent-sub">
            <a:extLst xmlns:a="http://schemas.openxmlformats.org/drawingml/2006/main">
              <a:ext uri="{FF2B5EF4-FFF2-40B4-BE49-F238E27FC236}">
                <a16:creationId xmlns:a16="http://schemas.microsoft.com/office/drawing/2014/main" id="{E72371CC-2605-4350-9CA0-30EC258B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1910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观察中间结果，调整下一步</a:t>
            </a:r>
          </a:p>
        </p:txBody>
      </p:sp>
      <p:cxnSp>
        <p:nvCxnSpPr>
          <p:cNvPr id="51" name=""/>
          <p:cNvCxnSpPr>
            <a:stCxn xmlns:a="http://schemas.openxmlformats.org/drawingml/2006/main" id="7" idx="3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2095500" y="3228975"/>
            <a:ext cx="1190625" cy="9525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sp>
        <p:nvSpPr>
          <p:cNvPr id="14" name="tool-vector">
            <a:extLst xmlns:a="http://schemas.openxmlformats.org/drawingml/2006/main">
              <a:ext uri="{FF2B5EF4-FFF2-40B4-BE49-F238E27FC236}">
                <a16:creationId xmlns:a16="http://schemas.microsoft.com/office/drawing/2014/main" id="{F62B8223-FC83-4FFB-9232-7DB8C6F6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向量检索</a:t>
            </a:r>
          </a:p>
        </p:txBody>
      </p:sp>
      <p:sp>
        <p:nvSpPr>
          <p:cNvPr id="15" name="tool-keyword">
            <a:extLst xmlns:a="http://schemas.openxmlformats.org/drawingml/2006/main">
              <a:ext uri="{FF2B5EF4-FFF2-40B4-BE49-F238E27FC236}">
                <a16:creationId xmlns:a16="http://schemas.microsoft.com/office/drawing/2014/main" id="{6FF5D32A-D551-4CAD-A3D8-346F8101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52625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关键词搜索</a:t>
            </a:r>
          </a:p>
        </p:txBody>
      </p:sp>
      <p:sp>
        <p:nvSpPr>
          <p:cNvPr id="16" name="tool-graph">
            <a:extLst xmlns:a="http://schemas.openxmlformats.org/drawingml/2006/main">
              <a:ext uri="{FF2B5EF4-FFF2-40B4-BE49-F238E27FC236}">
                <a16:creationId xmlns:a16="http://schemas.microsoft.com/office/drawing/2014/main" id="{9B2B681A-5DEC-4C32-8AE4-4FF105F3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28950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7E5B3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图查询</a:t>
            </a:r>
          </a:p>
        </p:txBody>
      </p:sp>
      <p:sp>
        <p:nvSpPr>
          <p:cNvPr id="17" name="tool-web">
            <a:extLst xmlns:a="http://schemas.openxmlformats.org/drawingml/2006/main">
              <a:ext uri="{FF2B5EF4-FFF2-40B4-BE49-F238E27FC236}">
                <a16:creationId xmlns:a16="http://schemas.microsoft.com/office/drawing/2014/main" id="{59221553-845A-4B9E-B051-5C9EB01C3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028950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网页搜索</a:t>
            </a:r>
          </a:p>
        </p:txBody>
      </p:sp>
      <p:sp>
        <p:nvSpPr>
          <p:cNvPr id="18" name="tool-db">
            <a:extLst xmlns:a="http://schemas.openxmlformats.org/drawingml/2006/main">
              <a:ext uri="{FF2B5EF4-FFF2-40B4-BE49-F238E27FC236}">
                <a16:creationId xmlns:a16="http://schemas.microsoft.com/office/drawing/2014/main" id="{467FBD51-F129-47A9-95B2-7E86F2F7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095750"/>
            <a:ext cx="11811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7F1ED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16"/>
                </a:solidFill>
              </a:defRPr>
            </a:pPr>
            <a:r>
              <a:rPr sz="1200" b="1">
                <a:solidFill>
                  <a:srgbClr val="101816"/>
                </a:solidFill>
              </a:rPr>
              <a:t>数据库查询</a:t>
            </a:r>
          </a:p>
        </p:txBody>
      </p:sp>
      <p:cxnSp>
        <p:nvCxnSpPr>
          <p:cNvPr id="57" name=""/>
          <p:cNvCxnSpPr>
            <a:stCxn xmlns:a="http://schemas.openxmlformats.org/drawingml/2006/main" id="11" idx="6"/>
            <a:endCxn xmlns:a="http://schemas.openxmlformats.org/drawingml/2006/main" id="14" idx="1"/>
          </p:cNvCxnSpPr>
          <p:nvPr/>
        </p:nvCxnSpPr>
        <p:spPr>
          <a:xfrm xmlns:a="http://schemas.openxmlformats.org/drawingml/2006/main" flipV="1">
            <a:off x="4810125" y="2295525"/>
            <a:ext cx="1381125" cy="9429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11" idx="6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4810125" y="2295525"/>
            <a:ext cx="3019425" cy="942975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dash"/>
            <a:tailEnd type="arrow" w="sm" len="sm"/>
          </a:ln>
        </p:spPr>
      </p:cxnSp>
      <p:cxnSp>
        <p:nvCxnSpPr>
          <p:cNvPr id="59" name=""/>
          <p:cNvCxnSpPr>
            <a:stCxn xmlns:a="http://schemas.openxmlformats.org/drawingml/2006/main" id="11" idx="6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4810125" y="3238500"/>
            <a:ext cx="1381125" cy="1333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  <a:tailEnd type="arrow" w="sm" len="sm"/>
          </a:ln>
        </p:spPr>
      </p:cxnSp>
      <p:cxnSp>
        <p:nvCxnSpPr>
          <p:cNvPr id="60" name=""/>
          <p:cNvCxnSpPr>
            <a:stCxn xmlns:a="http://schemas.openxmlformats.org/drawingml/2006/main" id="11" idx="6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4810125" y="3238500"/>
            <a:ext cx="3019425" cy="1333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dash"/>
            <a:tailEnd type="arrow" w="sm" len="sm"/>
          </a:ln>
        </p:spPr>
      </p:cxnSp>
      <p:cxnSp>
        <p:nvCxnSpPr>
          <p:cNvPr id="61" name=""/>
          <p:cNvCxnSpPr>
            <a:stCxn xmlns:a="http://schemas.openxmlformats.org/drawingml/2006/main" id="11" idx="6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4810125" y="3238500"/>
            <a:ext cx="2200275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77AFA6"/>
            </a:solidFill>
            <a:prstDash val="solid"/>
            <a:tailEnd type="arrow" w="sm" len="sm"/>
          </a:ln>
        </p:spPr>
      </p:cxnSp>
      <p:sp>
        <p:nvSpPr>
          <p:cNvPr id="24" name="answer-card">
            <a:extLst xmlns:a="http://schemas.openxmlformats.org/drawingml/2006/main">
              <a:ext uri="{FF2B5EF4-FFF2-40B4-BE49-F238E27FC236}">
                <a16:creationId xmlns:a16="http://schemas.microsoft.com/office/drawing/2014/main" id="{1133B92A-A56D-4527-BCAD-592E8BE0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95625"/>
            <a:ext cx="14287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25" name="answer-card-accent">
            <a:extLst xmlns:a="http://schemas.openxmlformats.org/drawingml/2006/main">
              <a:ext uri="{FF2B5EF4-FFF2-40B4-BE49-F238E27FC236}">
                <a16:creationId xmlns:a16="http://schemas.microsoft.com/office/drawing/2014/main" id="{08977599-1294-4657-9D7B-125ABE3D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95625"/>
            <a:ext cx="142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F766E"/>
            </a:solidFill>
            <a:prstDash val="solid"/>
          </a:ln>
        </p:spPr>
      </p:sp>
      <p:sp>
        <p:nvSpPr>
          <p:cNvPr id="26" name="answer-card-title">
            <a:extLst xmlns:a="http://schemas.openxmlformats.org/drawingml/2006/main">
              <a:ext uri="{FF2B5EF4-FFF2-40B4-BE49-F238E27FC236}">
                <a16:creationId xmlns:a16="http://schemas.microsoft.com/office/drawing/2014/main" id="{1B733A87-D1CB-455D-A01A-A8A8EF25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248025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生成答案</a:t>
            </a:r>
          </a:p>
        </p:txBody>
      </p:sp>
      <p:sp>
        <p:nvSpPr>
          <p:cNvPr id="27" name="answer-card-detail">
            <a:extLst xmlns:a="http://schemas.openxmlformats.org/drawingml/2006/main">
              <a:ext uri="{FF2B5EF4-FFF2-40B4-BE49-F238E27FC236}">
                <a16:creationId xmlns:a16="http://schemas.microsoft.com/office/drawing/2014/main" id="{B41BBDA3-D217-459C-BDFA-4C36AB8B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552825"/>
            <a:ext cx="1123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多轮检索后综合结果</a:t>
            </a:r>
          </a:p>
        </p:txBody>
      </p:sp>
      <p:cxnSp>
        <p:nvCxnSpPr>
          <p:cNvPr id="66" name=""/>
          <p:cNvCxnSpPr>
            <a:stCxn xmlns:a="http://schemas.openxmlformats.org/drawingml/2006/main" id="15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9010650" y="2295525"/>
            <a:ext cx="91440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67" name=""/>
          <p:cNvCxnSpPr>
            <a:stCxn xmlns:a="http://schemas.openxmlformats.org/drawingml/2006/main" id="17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9010650" y="3371850"/>
            <a:ext cx="914400" cy="161925"/>
          </a:xfrm>
          <a:prstGeom xmlns:a="http://schemas.openxmlformats.org/drawingml/2006/main" prst="straightConnector1">
            <a:avLst/>
          </a:prstGeom>
          <a:ln xmlns:a="http://schemas.openxmlformats.org/drawingml/2006/main" w="22860">
            <a:solidFill>
              <a:srgbClr val="0F766E"/>
            </a:solidFill>
            <a:prstDash val="solid"/>
            <a:tailEnd type="arrow" w="med" len="med"/>
          </a:ln>
        </p:spPr>
      </p:cxnSp>
      <p:cxnSp>
        <p:nvCxnSpPr>
          <p:cNvPr id="68" name=""/>
          <p:cNvCxnSpPr>
            <a:stCxn xmlns:a="http://schemas.openxmlformats.org/drawingml/2006/main" id="24" idx="2"/>
            <a:endCxn xmlns:a="http://schemas.openxmlformats.org/drawingml/2006/main" id="11" idx="4"/>
          </p:cNvCxnSpPr>
          <p:nvPr/>
        </p:nvCxnSpPr>
        <p:spPr>
          <a:xfrm xmlns:a="http://schemas.openxmlformats.org/drawingml/2006/main" flipH="1">
            <a:off x="4048125" y="3971925"/>
            <a:ext cx="6591300" cy="285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D9902F"/>
            </a:solidFill>
            <a:prstDash val="dash"/>
            <a:tailEnd type="arrow" w="sm" len="sm"/>
          </a:ln>
        </p:spPr>
      </p:cxnSp>
      <p:sp>
        <p:nvSpPr>
          <p:cNvPr id="31" name="feedback-label">
            <a:extLst xmlns:a="http://schemas.openxmlformats.org/drawingml/2006/main">
              <a:ext uri="{FF2B5EF4-FFF2-40B4-BE49-F238E27FC236}">
                <a16:creationId xmlns:a16="http://schemas.microsoft.com/office/drawing/2014/main" id="{30F3FE4D-CA08-4E99-8035-D25F44F0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64820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D9902F"/>
                </a:solidFill>
              </a:defRPr>
            </a:pPr>
            <a:r>
              <a:rPr sz="1125" b="1">
                <a:solidFill>
                  <a:srgbClr val="D9902F"/>
                </a:solidFill>
              </a:rPr>
              <a:t>根据中间结果</a:t>
            </a:r>
          </a:p>
          <a:p xmlns:a="http://schemas.openxmlformats.org/drawingml/2006/main">
            <a:pPr algn="ctr">
              <a:defRPr sz="1125" b="1">
                <a:solidFill>
                  <a:srgbClr val="D9902F"/>
                </a:solidFill>
              </a:defRPr>
            </a:pPr>
            <a:r>
              <a:rPr sz="1125" b="1">
                <a:solidFill>
                  <a:srgbClr val="D9902F"/>
                </a:solidFill>
              </a:rPr>
              <a:t>反复调整策略</a:t>
            </a:r>
          </a:p>
        </p:txBody>
      </p:sp>
      <p:sp>
        <p:nvSpPr>
          <p:cNvPr id="32" name="side-summary">
            <a:extLst xmlns:a="http://schemas.openxmlformats.org/drawingml/2006/main">
              <a:ext uri="{FF2B5EF4-FFF2-40B4-BE49-F238E27FC236}">
                <a16:creationId xmlns:a16="http://schemas.microsoft.com/office/drawing/2014/main" id="{5C6DD676-49FC-4E22-A6EC-BE798D2A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9750"/>
            <a:ext cx="200025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3" name="side-summary-accent">
            <a:extLst xmlns:a="http://schemas.openxmlformats.org/drawingml/2006/main">
              <a:ext uri="{FF2B5EF4-FFF2-40B4-BE49-F238E27FC236}">
                <a16:creationId xmlns:a16="http://schemas.microsoft.com/office/drawing/2014/main" id="{E32D05DB-F17F-4F3B-922C-AFA61F99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9750"/>
            <a:ext cx="200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902F"/>
            </a:solidFill>
            <a:prstDash val="solid"/>
          </a:ln>
        </p:spPr>
      </p:sp>
      <p:sp>
        <p:nvSpPr>
          <p:cNvPr id="34" name="side-summary-title">
            <a:extLst xmlns:a="http://schemas.openxmlformats.org/drawingml/2006/main">
              <a:ext uri="{FF2B5EF4-FFF2-40B4-BE49-F238E27FC236}">
                <a16:creationId xmlns:a16="http://schemas.microsoft.com/office/drawing/2014/main" id="{23356DE7-1956-4849-AF50-5925A0A7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6215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01816"/>
                </a:solidFill>
              </a:defRPr>
            </a:pPr>
            <a:r>
              <a:rPr sz="1350" b="1">
                <a:solidFill>
                  <a:srgbClr val="101816"/>
                </a:solidFill>
              </a:rPr>
              <a:t>解决什么？</a:t>
            </a:r>
          </a:p>
        </p:txBody>
      </p:sp>
      <p:sp>
        <p:nvSpPr>
          <p:cNvPr id="35" name="side-summary-detail">
            <a:extLst xmlns:a="http://schemas.openxmlformats.org/drawingml/2006/main">
              <a:ext uri="{FF2B5EF4-FFF2-40B4-BE49-F238E27FC236}">
                <a16:creationId xmlns:a16="http://schemas.microsoft.com/office/drawing/2014/main" id="{48B160B0-F7B9-44E1-9022-4DF324F7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669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D4A45"/>
                </a:solidFill>
              </a:defRPr>
            </a:pPr>
            <a:r>
              <a:rPr sz="1013" b="0">
                <a:solidFill>
                  <a:srgbClr val="3D4A45"/>
                </a:solidFill>
              </a:rPr>
              <a:t>更智能地获取知识，而不是持续积累知识。</a:t>
            </a:r>
          </a:p>
        </p:txBody>
      </p:sp>
      <p:sp>
        <p:nvSpPr>
          <p:cNvPr id="36" name="bottom-note-box">
            <a:extLst xmlns:a="http://schemas.openxmlformats.org/drawingml/2006/main">
              <a:ext uri="{FF2B5EF4-FFF2-40B4-BE49-F238E27FC236}">
                <a16:creationId xmlns:a16="http://schemas.microsoft.com/office/drawing/2014/main" id="{98570EAE-0C6D-4468-9D88-77A2B34EB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D9D0B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7" name="bottom-note-accent">
            <a:extLst xmlns:a="http://schemas.openxmlformats.org/drawingml/2006/main">
              <a:ext uri="{FF2B5EF4-FFF2-40B4-BE49-F238E27FC236}">
                <a16:creationId xmlns:a16="http://schemas.microsoft.com/office/drawing/2014/main" id="{5ABC6452-3F8F-410F-8622-2F7567CB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600700"/>
            <a:ext cx="885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765">
            <a:solidFill>
              <a:srgbClr val="0F766E"/>
            </a:solidFill>
            <a:prstDash val="solid"/>
          </a:ln>
        </p:spPr>
      </p:sp>
      <p:sp>
        <p:nvSpPr>
          <p:cNvPr id="38" name="bottom-note">
            <a:extLst xmlns:a="http://schemas.openxmlformats.org/drawingml/2006/main">
              <a:ext uri="{FF2B5EF4-FFF2-40B4-BE49-F238E27FC236}">
                <a16:creationId xmlns:a16="http://schemas.microsoft.com/office/drawing/2014/main" id="{41F9AB12-8BF2-4BDC-B26B-62FDA223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791200"/>
            <a:ext cx="847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3D4A45"/>
                </a:solidFill>
              </a:defRPr>
            </a:pPr>
            <a:r>
              <a:rPr sz="1200" b="0">
                <a:solidFill>
                  <a:srgbClr val="3D4A45"/>
                </a:solidFill>
              </a:rPr>
              <a:t>Agentic RAG 把检索能力封装为工具，由 Agent 根据任务需要动态调用。它提升了获取知识的智能程度，但仍然没有改变“查询时临时组织知识”的基本模式。</a:t>
            </a:r>
          </a:p>
        </p:txBody>
      </p:sp>
    </p:spTree>
    <p:extLst>
      <p:ext uri="{BB962C8B-B14F-4D97-AF65-F5344CB8AC3E}">
        <p14:creationId xmlns:p14="http://schemas.microsoft.com/office/powerpoint/2010/main" val="8180944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71450" dist="69343" dir="4443276">
              <a:srgbClr val="000000">
                <a:alpha val="13000"/>
              </a:srgbClr>
            </a:outerShdw>
          </a:effectLst>
        </a:effectStyle>
        <a:effectStyle>
          <a:effectLst>
            <a:outerShdw blurRad="114300" dist="39273" dir="4557825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2026-06-22T17:45:22.5800000Z</dcterms:created>
  <dcterms:modified xsi:type="dcterms:W3CDTF">2026-06-22T17:45:22.5810000Z</dcterms:modified>
</coreProperties>
</file>