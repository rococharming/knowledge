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7c0a9807b54e90" /><Relationship Type="http://schemas.openxmlformats.org/officeDocument/2006/relationships/extended-properties" Target="/docProps/app.xml" Id="R20aacfd841e8442a" /><Relationship Type="http://schemas.openxmlformats.org/officeDocument/2006/relationships/officeDocument" Target="/ppt/presentation.xml" Id="Rf940a09d4bbe49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54a430cd4d43ad"/>
  </p:sldMasterIdLst>
  <p:notesMasterIdLst>
    <p:notesMasterId xmlns:r="http://schemas.openxmlformats.org/officeDocument/2006/relationships" r:id="Rbd25beee2b7e4a21"/>
  </p:notesMasterIdLst>
  <p:sldIdLst>
    <p:sldId xmlns:r="http://schemas.openxmlformats.org/officeDocument/2006/relationships" id="256" r:id="R642330a5bfd44e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18539847de44b5" /><Relationship Type="http://schemas.openxmlformats.org/officeDocument/2006/relationships/slideMaster" Target="/ppt/slideMasters/slideMaster1.xml" Id="Rf654a430cd4d43ad" /><Relationship Type="http://schemas.openxmlformats.org/officeDocument/2006/relationships/notesMaster" Target="/ppt/notesMasters/notesMaster1.xml" Id="Rbd25beee2b7e4a21" /><Relationship Type="http://schemas.openxmlformats.org/officeDocument/2006/relationships/presProps" Target="/ppt/presProps.xml" Id="Rb196aaa4c87b4988" /><Relationship Type="http://schemas.openxmlformats.org/officeDocument/2006/relationships/tableStyles" Target="/ppt/tableStyles.xml" Id="R9b10ce763cc745bc" /><Relationship Type="http://schemas.openxmlformats.org/officeDocument/2006/relationships/slide" Target="/ppt/slides/slide1.xml" Id="R642330a5bfd44e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f23ec158e443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2562add8ba4752" /><Relationship Type="http://schemas.openxmlformats.org/officeDocument/2006/relationships/notesMaster" Target="/ppt/notesMasters/notesMaster1.xml" Id="Rfc6a20f2c0944e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7dc28e9b7a46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383bfc54f74feb" /><Relationship Type="http://schemas.openxmlformats.org/officeDocument/2006/relationships/slideLayout" Target="/ppt/slideLayouts/slideLayout1.xml" Id="R14d4faa0018b4f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d4faa0018b4f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209a7b5494ed7" /><Relationship Type="http://schemas.openxmlformats.org/officeDocument/2006/relationships/notesSlide" Target="/ppt/notesSlides/notesSlide1.xml" Id="R22454c8ff4b24f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5D8530C-0BEE-48F6-91C3-2B3F9C42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06 / Obsidian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80D18EE9-B6F3-43FE-BD97-83B3057A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D7F26858-E541-42F9-8C85-3B21ED2D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3DA061-8240-4393-B058-63490A30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16"/>
                </a:solidFill>
              </a:defRPr>
            </a:pPr>
            <a:r>
              <a:rPr sz="2775" b="1">
                <a:solidFill>
                  <a:srgbClr val="101816"/>
                </a:solidFill>
              </a:rPr>
              <a:t>Obsidian：人和 LLM 共同使用的知识 IDE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72DB7692-177E-4DD8-AB26-AA652969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LLM Wiki 的核心是 Agent + Markdown 文件目录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ED8C50-5EB6-4CA8-94F6-6588B88C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06 / 20</a:t>
            </a:r>
          </a:p>
        </p:txBody>
      </p:sp>
      <p:sp>
        <p:nvSpPr>
          <p:cNvPr id="7" name="plain-folder-tab">
            <a:extLst xmlns:a="http://schemas.openxmlformats.org/drawingml/2006/main">
              <a:ext uri="{FF2B5EF4-FFF2-40B4-BE49-F238E27FC236}">
                <a16:creationId xmlns:a16="http://schemas.microsoft.com/office/drawing/2014/main" id="{5D584DC8-1924-4925-AE2A-EACD676D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86025"/>
            <a:ext cx="742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8" name="plain-folder">
            <a:extLst xmlns:a="http://schemas.openxmlformats.org/drawingml/2006/main">
              <a:ext uri="{FF2B5EF4-FFF2-40B4-BE49-F238E27FC236}">
                <a16:creationId xmlns:a16="http://schemas.microsoft.com/office/drawing/2014/main" id="{512EF17B-4610-46BC-96D7-B1086605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619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普通文件夹</a:t>
            </a:r>
          </a:p>
        </p:txBody>
      </p:sp>
      <p:sp>
        <p:nvSpPr>
          <p:cNvPr id="9" name="folder-desc">
            <a:extLst xmlns:a="http://schemas.openxmlformats.org/drawingml/2006/main">
              <a:ext uri="{FF2B5EF4-FFF2-40B4-BE49-F238E27FC236}">
                <a16:creationId xmlns:a16="http://schemas.microsoft.com/office/drawing/2014/main" id="{5AD90A41-2D16-4742-8F8B-B625BFB4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适合 Agent 读写</a:t>
            </a:r>
          </a:p>
          <a:p xmlns:a="http://schemas.openxmlformats.org/drawingml/2006/main">
            <a:pPr algn="ctr"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不适合人长期浏览和审阅</a:t>
            </a:r>
          </a:p>
        </p:txBody>
      </p:sp>
      <p:sp>
        <p:nvSpPr>
          <p:cNvPr id="10" name="obsidian-card">
            <a:extLst xmlns:a="http://schemas.openxmlformats.org/drawingml/2006/main">
              <a:ext uri="{FF2B5EF4-FFF2-40B4-BE49-F238E27FC236}">
                <a16:creationId xmlns:a16="http://schemas.microsoft.com/office/drawing/2014/main" id="{628AF9E3-34DF-4DB1-BC16-42F4EA31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2381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obsidian-card-accent">
            <a:extLst xmlns:a="http://schemas.openxmlformats.org/drawingml/2006/main">
              <a:ext uri="{FF2B5EF4-FFF2-40B4-BE49-F238E27FC236}">
                <a16:creationId xmlns:a16="http://schemas.microsoft.com/office/drawing/2014/main" id="{22C25AC7-C3BE-4EC5-8267-23FF2E6A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2" name="obsidian-card-title">
            <a:extLst xmlns:a="http://schemas.openxmlformats.org/drawingml/2006/main">
              <a:ext uri="{FF2B5EF4-FFF2-40B4-BE49-F238E27FC236}">
                <a16:creationId xmlns:a16="http://schemas.microsoft.com/office/drawing/2014/main" id="{E664DBE5-A2EC-483B-9C43-90F3A172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81275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Obsidian</a:t>
            </a:r>
          </a:p>
        </p:txBody>
      </p:sp>
      <p:sp>
        <p:nvSpPr>
          <p:cNvPr id="13" name="obsidian-card-detail">
            <a:extLst xmlns:a="http://schemas.openxmlformats.org/drawingml/2006/main">
              <a:ext uri="{FF2B5EF4-FFF2-40B4-BE49-F238E27FC236}">
                <a16:creationId xmlns:a16="http://schemas.microsoft.com/office/drawing/2014/main" id="{EC9FEA00-1629-484D-9D61-75CA2B0E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86075"/>
            <a:ext cx="20764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本地 Markdown、双向链接、反向链接、图谱视图、CLI</a:t>
            </a:r>
          </a:p>
        </p:txBody>
      </p:sp>
      <p:cxnSp>
        <p:nvCxnSpPr>
          <p:cNvPr id="47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28875" y="3114675"/>
            <a:ext cx="2333625" cy="4763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15" name="ide-quote">
            <a:extLst xmlns:a="http://schemas.openxmlformats.org/drawingml/2006/main">
              <a:ext uri="{FF2B5EF4-FFF2-40B4-BE49-F238E27FC236}">
                <a16:creationId xmlns:a16="http://schemas.microsoft.com/office/drawing/2014/main" id="{9CA81D31-8675-4721-95AF-D6A46F27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Obsidian 是 IDE</a:t>
            </a:r>
          </a:p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LLM 是程序员</a:t>
            </a:r>
          </a:p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Wiki 是代码库</a:t>
            </a:r>
          </a:p>
        </p:txBody>
      </p:sp>
      <p:sp>
        <p:nvSpPr>
          <p:cNvPr id="16" name="adv-browse">
            <a:extLst xmlns:a="http://schemas.openxmlformats.org/drawingml/2006/main">
              <a:ext uri="{FF2B5EF4-FFF2-40B4-BE49-F238E27FC236}">
                <a16:creationId xmlns:a16="http://schemas.microsoft.com/office/drawing/2014/main" id="{E3CB7582-A594-4794-A149-E729DBBA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381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adv-browse-accent">
            <a:extLst xmlns:a="http://schemas.openxmlformats.org/drawingml/2006/main">
              <a:ext uri="{FF2B5EF4-FFF2-40B4-BE49-F238E27FC236}">
                <a16:creationId xmlns:a16="http://schemas.microsoft.com/office/drawing/2014/main" id="{826260B5-7214-4967-B2E4-FC8A4A6B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8" name="adv-browse-title">
            <a:extLst xmlns:a="http://schemas.openxmlformats.org/drawingml/2006/main">
              <a:ext uri="{FF2B5EF4-FFF2-40B4-BE49-F238E27FC236}">
                <a16:creationId xmlns:a16="http://schemas.microsoft.com/office/drawing/2014/main" id="{6C944BA8-7F5C-483B-94BC-F8D254B8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5265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更好浏览</a:t>
            </a:r>
          </a:p>
        </p:txBody>
      </p:sp>
      <p:sp>
        <p:nvSpPr>
          <p:cNvPr id="19" name="adv-browse-detail">
            <a:extLst xmlns:a="http://schemas.openxmlformats.org/drawingml/2006/main">
              <a:ext uri="{FF2B5EF4-FFF2-40B4-BE49-F238E27FC236}">
                <a16:creationId xmlns:a16="http://schemas.microsoft.com/office/drawing/2014/main" id="{2BBEC9AB-FA0B-41D9-8DDC-AC77CD01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[[双向链接]] 可以直接点击跳转</a:t>
            </a:r>
          </a:p>
        </p:txBody>
      </p:sp>
      <p:sp>
        <p:nvSpPr>
          <p:cNvPr id="20" name="adv-review">
            <a:extLst xmlns:a="http://schemas.openxmlformats.org/drawingml/2006/main">
              <a:ext uri="{FF2B5EF4-FFF2-40B4-BE49-F238E27FC236}">
                <a16:creationId xmlns:a16="http://schemas.microsoft.com/office/drawing/2014/main" id="{DFDA7574-014D-4D1E-8CF4-F6F60833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95625"/>
            <a:ext cx="2381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adv-review-accent">
            <a:extLst xmlns:a="http://schemas.openxmlformats.org/drawingml/2006/main">
              <a:ext uri="{FF2B5EF4-FFF2-40B4-BE49-F238E27FC236}">
                <a16:creationId xmlns:a16="http://schemas.microsoft.com/office/drawing/2014/main" id="{C82479D3-5D77-40CD-90D3-2C87EB2F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2" name="adv-review-title">
            <a:extLst xmlns:a="http://schemas.openxmlformats.org/drawingml/2006/main">
              <a:ext uri="{FF2B5EF4-FFF2-40B4-BE49-F238E27FC236}">
                <a16:creationId xmlns:a16="http://schemas.microsoft.com/office/drawing/2014/main" id="{31E63E01-C337-4C69-90EE-B39E654B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48025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更好审阅</a:t>
            </a:r>
          </a:p>
        </p:txBody>
      </p:sp>
      <p:sp>
        <p:nvSpPr>
          <p:cNvPr id="23" name="adv-review-detail">
            <a:extLst xmlns:a="http://schemas.openxmlformats.org/drawingml/2006/main">
              <a:ext uri="{FF2B5EF4-FFF2-40B4-BE49-F238E27FC236}">
                <a16:creationId xmlns:a16="http://schemas.microsoft.com/office/drawing/2014/main" id="{93CD119B-72D1-465C-8AB1-F6E862F8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528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反向链接、关系图谱、孤立页面都能看见</a:t>
            </a:r>
          </a:p>
        </p:txBody>
      </p:sp>
      <p:sp>
        <p:nvSpPr>
          <p:cNvPr id="24" name="adv-local">
            <a:extLst xmlns:a="http://schemas.openxmlformats.org/drawingml/2006/main">
              <a:ext uri="{FF2B5EF4-FFF2-40B4-BE49-F238E27FC236}">
                <a16:creationId xmlns:a16="http://schemas.microsoft.com/office/drawing/2014/main" id="{7A1F4828-44FE-4C70-A3F3-6554059C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381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adv-local-accent">
            <a:extLst xmlns:a="http://schemas.openxmlformats.org/drawingml/2006/main">
              <a:ext uri="{FF2B5EF4-FFF2-40B4-BE49-F238E27FC236}">
                <a16:creationId xmlns:a16="http://schemas.microsoft.com/office/drawing/2014/main" id="{CEAB931D-E06F-4EE0-8574-57FB8886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6" name="adv-local-title">
            <a:extLst xmlns:a="http://schemas.openxmlformats.org/drawingml/2006/main">
              <a:ext uri="{FF2B5EF4-FFF2-40B4-BE49-F238E27FC236}">
                <a16:creationId xmlns:a16="http://schemas.microsoft.com/office/drawing/2014/main" id="{0F023C7A-F416-4931-811F-AEC5C3C3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434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不锁数据</a:t>
            </a:r>
          </a:p>
        </p:txBody>
      </p:sp>
      <p:sp>
        <p:nvSpPr>
          <p:cNvPr id="27" name="adv-local-detail">
            <a:extLst xmlns:a="http://schemas.openxmlformats.org/drawingml/2006/main">
              <a:ext uri="{FF2B5EF4-FFF2-40B4-BE49-F238E27FC236}">
                <a16:creationId xmlns:a16="http://schemas.microsoft.com/office/drawing/2014/main" id="{7A0EAC26-40EF-45C3-8041-FD2F8F77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482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底层仍是 Markdown，Agent 能改，Git 能管</a:t>
            </a:r>
          </a:p>
        </p:txBody>
      </p:sp>
      <p:cxnSp>
        <p:nvCxnSpPr>
          <p:cNvPr id="61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7143750" y="2409825"/>
            <a:ext cx="1333500" cy="709613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7AFA6"/>
            </a:solidFill>
            <a:prstDash val="soli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10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143750" y="3119438"/>
            <a:ext cx="1333500" cy="385763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7AFA6"/>
            </a:solidFill>
            <a:prstDash val="soli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143750" y="3119438"/>
            <a:ext cx="1333500" cy="1481138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7AFA6"/>
            </a:solidFill>
            <a:prstDash val="solid"/>
            <a:tailEnd type="arrow" w="med" len="med"/>
          </a:ln>
        </p:spPr>
      </p:cxnSp>
      <p:sp>
        <p:nvSpPr>
          <p:cNvPr id="31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A28D517F-E099-4131-8A20-68D25C37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2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C8DC5C4F-4231-4318-A87C-47A4DF1E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33" name="bottom-note">
            <a:extLst xmlns:a="http://schemas.openxmlformats.org/drawingml/2006/main">
              <a:ext uri="{FF2B5EF4-FFF2-40B4-BE49-F238E27FC236}">
                <a16:creationId xmlns:a16="http://schemas.microsoft.com/office/drawing/2014/main" id="{AABB8C57-6641-4901-B6EE-20FCFE97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普通文件夹更像存储层，而 Obsidian 让 Markdown 知识库同时适合人浏览、审阅和协作。它不锁数据，也能通过 CLI 让 Agent 更规范地操作仓库。</a:t>
            </a:r>
          </a:p>
        </p:txBody>
      </p:sp>
    </p:spTree>
    <p:extLst>
      <p:ext uri="{BB962C8B-B14F-4D97-AF65-F5344CB8AC3E}">
        <p14:creationId xmlns:p14="http://schemas.microsoft.com/office/powerpoint/2010/main" val="18437556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2026-06-22T17:50:59.2460000Z</dcterms:created>
  <dcterms:modified xsi:type="dcterms:W3CDTF">2026-06-22T17:50:59.2460000Z</dcterms:modified>
</coreProperties>
</file>